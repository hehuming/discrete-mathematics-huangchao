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2"/>
  </p:handoutMasterIdLst>
  <p:sldIdLst>
    <p:sldId id="256" r:id="rId3"/>
    <p:sldId id="258" r:id="rId5"/>
    <p:sldId id="260" r:id="rId6"/>
    <p:sldId id="264" r:id="rId7"/>
    <p:sldId id="265" r:id="rId8"/>
    <p:sldId id="266" r:id="rId9"/>
    <p:sldId id="267" r:id="rId10"/>
    <p:sldId id="289" r:id="rId11"/>
    <p:sldId id="27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86" r:id="rId20"/>
    <p:sldId id="288" r:id="rId21"/>
    <p:sldId id="287" r:id="rId22"/>
    <p:sldId id="278" r:id="rId23"/>
    <p:sldId id="279" r:id="rId24"/>
    <p:sldId id="282" r:id="rId25"/>
    <p:sldId id="283" r:id="rId26"/>
    <p:sldId id="284" r:id="rId27"/>
    <p:sldId id="290" r:id="rId28"/>
    <p:sldId id="291" r:id="rId29"/>
    <p:sldId id="292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23" r:id="rId43"/>
    <p:sldId id="322" r:id="rId44"/>
    <p:sldId id="326" r:id="rId45"/>
    <p:sldId id="342" r:id="rId46"/>
    <p:sldId id="321" r:id="rId47"/>
    <p:sldId id="328" r:id="rId48"/>
    <p:sldId id="329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7" r:id="rId58"/>
    <p:sldId id="318" r:id="rId59"/>
    <p:sldId id="319" r:id="rId60"/>
    <p:sldId id="320" r:id="rId61"/>
  </p:sldIdLst>
  <p:sldSz cx="9144000" cy="6858000" type="screen4x3"/>
  <p:notesSz cx="6858000" cy="9144000"/>
  <p:custDataLst>
    <p:tags r:id="rId6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15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None/>
      <a:defRPr sz="2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15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None/>
      <a:defRPr sz="2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15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None/>
      <a:defRPr sz="2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15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None/>
      <a:defRPr sz="2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15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None/>
      <a:defRPr sz="2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15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None/>
      <a:defRPr sz="2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15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None/>
      <a:defRPr sz="2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15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None/>
      <a:defRPr sz="2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15000"/>
      </a:lnSpc>
      <a:spcBef>
        <a:spcPct val="20000"/>
      </a:spcBef>
      <a:spcAft>
        <a:spcPct val="0"/>
      </a:spcAft>
      <a:buClr>
        <a:schemeClr val="folHlink"/>
      </a:buClr>
      <a:buSzPct val="60000"/>
      <a:buFont typeface="Wingdings" panose="05000000000000000000" pitchFamily="2" charset="2"/>
      <a:buNone/>
      <a:defRPr sz="2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57"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FF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718"/>
  </p:normalViewPr>
  <p:slideViewPr>
    <p:cSldViewPr showGuides="1">
      <p:cViewPr>
        <p:scale>
          <a:sx n="66" d="100"/>
          <a:sy n="66" d="100"/>
        </p:scale>
        <p:origin x="-2094" y="-684"/>
      </p:cViewPr>
      <p:guideLst>
        <p:guide orient="horz" pos="211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60127" cy="60127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6" Type="http://schemas.openxmlformats.org/officeDocument/2006/relationships/tags" Target="tags/tag1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handoutMaster" Target="handoutMasters/handoutMaster1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7" Type="http://schemas.openxmlformats.org/officeDocument/2006/relationships/image" Target="../media/image79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04DF6F-0514-4640-9B90-6480078F5D3C}" type="datetime1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b="0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C26329-B639-4450-9007-6925B56F006D}" type="datetime1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en-US" altLang="zh-CN" sz="1200" b="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b="0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614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1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6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kumimoji="1" lang="zh-CN" altLang="en-US" sz="22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kumimoji="1" lang="zh-CN" altLang="en-US" sz="22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4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4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kumimoji="1" lang="zh-CN" altLang="en-US" sz="22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kumimoji="1" lang="zh-CN" altLang="en-US" sz="22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kumimoji="1" lang="zh-CN" altLang="en-US" sz="2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kumimoji="1" lang="zh-CN" altLang="en-US" sz="2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kumimoji="1" lang="zh-CN" altLang="en-US" sz="2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9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8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8950C3-5494-4FB8-8905-277C2457A17E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ctr" fontAlgn="base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trike="noStrike" noProof="1" dirty="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6563" y="1084263"/>
            <a:ext cx="405765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084263"/>
            <a:ext cx="4059237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7663" y="152400"/>
            <a:ext cx="2085975" cy="614997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6563" y="152400"/>
            <a:ext cx="6108700" cy="6149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793038" cy="54133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6563" y="1084263"/>
            <a:ext cx="4057650" cy="521811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084263"/>
            <a:ext cx="4059237" cy="521811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793038" cy="54133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6563" y="1084263"/>
            <a:ext cx="4057650" cy="521811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6613" y="1084263"/>
            <a:ext cx="4059237" cy="25320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6613" y="3768725"/>
            <a:ext cx="4059237" cy="25336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5"/>
          <p:cNvGrpSpPr/>
          <p:nvPr userDrawn="1"/>
        </p:nvGrpSpPr>
        <p:grpSpPr>
          <a:xfrm>
            <a:off x="0" y="14288"/>
            <a:ext cx="8556625" cy="1052512"/>
            <a:chOff x="80" y="624"/>
            <a:chExt cx="5390" cy="663"/>
          </a:xfrm>
        </p:grpSpPr>
        <p:sp>
          <p:nvSpPr>
            <p:cNvPr id="40963" name="Rectangle 3"/>
            <p:cNvSpPr>
              <a:spLocks noChangeArrowheads="1"/>
            </p:cNvSpPr>
            <p:nvPr/>
          </p:nvSpPr>
          <p:spPr bwMode="ltGray">
            <a:xfrm>
              <a:off x="504" y="692"/>
              <a:ext cx="207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65" name="Rectangle 5"/>
            <p:cNvSpPr>
              <a:spLocks noChangeArrowheads="1"/>
            </p:cNvSpPr>
            <p:nvPr/>
          </p:nvSpPr>
          <p:spPr bwMode="ltGray">
            <a:xfrm>
              <a:off x="574" y="958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29" name="Group 14"/>
            <p:cNvGrpSpPr/>
            <p:nvPr userDrawn="1"/>
          </p:nvGrpSpPr>
          <p:grpSpPr>
            <a:xfrm>
              <a:off x="80" y="624"/>
              <a:ext cx="5390" cy="663"/>
              <a:chOff x="80" y="624"/>
              <a:chExt cx="5390" cy="663"/>
            </a:xfrm>
          </p:grpSpPr>
          <p:sp>
            <p:nvSpPr>
              <p:cNvPr id="40962" name="Rectangle 2"/>
              <p:cNvSpPr>
                <a:spLocks noChangeArrowheads="1"/>
              </p:cNvSpPr>
              <p:nvPr/>
            </p:nvSpPr>
            <p:spPr bwMode="ltGray">
              <a:xfrm>
                <a:off x="263" y="692"/>
                <a:ext cx="276" cy="2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964" name="Rectangle 4"/>
              <p:cNvSpPr>
                <a:spLocks noChangeArrowheads="1"/>
              </p:cNvSpPr>
              <p:nvPr/>
            </p:nvSpPr>
            <p:spPr bwMode="ltGray">
              <a:xfrm>
                <a:off x="341" y="958"/>
                <a:ext cx="266" cy="2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966" name="Rectangle 6"/>
              <p:cNvSpPr>
                <a:spLocks noChangeArrowheads="1"/>
              </p:cNvSpPr>
              <p:nvPr/>
            </p:nvSpPr>
            <p:spPr bwMode="ltGray">
              <a:xfrm>
                <a:off x="80" y="912"/>
                <a:ext cx="353" cy="266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1890000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967" name="Rectangle 7"/>
              <p:cNvSpPr>
                <a:spLocks noChangeArrowheads="1"/>
              </p:cNvSpPr>
              <p:nvPr/>
            </p:nvSpPr>
            <p:spPr bwMode="gray">
              <a:xfrm>
                <a:off x="480" y="624"/>
                <a:ext cx="20" cy="663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968" name="Rectangle 8"/>
              <p:cNvSpPr>
                <a:spLocks noChangeArrowheads="1"/>
              </p:cNvSpPr>
              <p:nvPr/>
            </p:nvSpPr>
            <p:spPr bwMode="gray">
              <a:xfrm>
                <a:off x="288" y="1104"/>
                <a:ext cx="5182" cy="20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4096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152400"/>
            <a:ext cx="7793038" cy="541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fontAlgn="base"/>
            <a:endParaRPr lang="zh-CN" altLang="zh-CN" strike="noStrike" noProof="1" smtClean="0"/>
          </a:p>
        </p:txBody>
      </p:sp>
      <p:sp>
        <p:nvSpPr>
          <p:cNvPr id="1036" name="Rectangle 10"/>
          <p:cNvSpPr>
            <a:spLocks noGrp="1"/>
          </p:cNvSpPr>
          <p:nvPr>
            <p:ph type="body"/>
          </p:nvPr>
        </p:nvSpPr>
        <p:spPr>
          <a:xfrm>
            <a:off x="436563" y="1084263"/>
            <a:ext cx="8269287" cy="5218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187325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097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 b="0"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07BAA5-9908-40C2-A28B-FF91AA286BD1}" type="datetime8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7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defRPr sz="1400" b="0">
                <a:latin typeface="Tahoma" panose="020B0604030504040204" pitchFamily="34" charset="0"/>
              </a:defRPr>
            </a:lvl1pPr>
          </a:lstStyle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Discrete Math. , Chen Chen</a:t>
            </a:r>
            <a:endParaRPr lang="en-US" altLang="zh-CN" sz="1400" b="0" strike="noStrike" noProof="1" dirty="0">
              <a:latin typeface="Tahoma" panose="020B0604030504040204" pitchFamily="34" charset="0"/>
            </a:endParaRPr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FontTx/>
              <a:defRPr sz="1400" b="0">
                <a:latin typeface="Tahoma" panose="020B0604030504040204" pitchFamily="34" charset="0"/>
              </a:defRPr>
            </a:lvl1pPr>
          </a:lstStyle>
          <a:p>
            <a:pPr lvl="0" eaLnBrk="1" fontAlgn="base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auto">
          <a:xfrm>
            <a:off x="6916738" y="152400"/>
            <a:ext cx="222726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aettenschweiler" pitchFamily="34" charset="0"/>
                <a:ea typeface="宋体" panose="02010600030101010101" pitchFamily="2" charset="-122"/>
                <a:cs typeface="+mn-cs"/>
              </a:rPr>
              <a:t>CHAPTER  Fourteen</a:t>
            </a:r>
            <a:endParaRPr kumimoji="1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aettenschweiler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1" name="WordArt 19"/>
          <p:cNvSpPr>
            <a:spLocks noTextEdit="1"/>
          </p:cNvSpPr>
          <p:nvPr userDrawn="1"/>
        </p:nvSpPr>
        <p:spPr>
          <a:xfrm>
            <a:off x="7939088" y="603250"/>
            <a:ext cx="841375" cy="444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1800" b="1" spc="36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Script MT Bold" charset="0"/>
                <a:ea typeface="Script MT Bold" charset="0"/>
              </a:rPr>
              <a:t>Graph</a:t>
            </a:r>
            <a:endParaRPr lang="zh-CN" altLang="en-US" sz="1800" b="1" spc="360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Script MT Bold" charset="0"/>
              <a:ea typeface="Script MT Bold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</p:transition>
  <p:hf sldNum="0" hdr="0" ftr="0"/>
  <p:txStyles>
    <p:titleStyle>
      <a:lvl1pPr algn="l" rtl="0" fontAlgn="base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 Black" panose="020B0A0402010202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 Black" panose="020B0A0402010202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 Black" panose="020B0A0402010202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 Black" panose="020B0A040201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 Black" panose="020B0A040201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 Black" panose="020B0A040201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 Black" panose="020B0A040201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 Black" panose="020B0A04020102020204" pitchFamily="34" charset="0"/>
          <a:ea typeface="宋体" panose="02010600030101010101" pitchFamily="2" charset="-122"/>
        </a:defRPr>
      </a:lvl9pPr>
    </p:titleStyle>
    <p:bodyStyle>
      <a:lvl1pPr indent="187325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663575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Tahoma" panose="020B0604030504040204" pitchFamily="34" charset="0"/>
          <a:ea typeface="+mn-ea"/>
        </a:defRPr>
      </a:lvl2pPr>
      <a:lvl3pPr marL="1371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Tahoma" panose="020B0604030504040204" pitchFamily="34" charset="0"/>
          <a:ea typeface="+mn-ea"/>
        </a:defRPr>
      </a:lvl3pPr>
      <a:lvl4pPr marL="17907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Tahoma" panose="020B0604030504040204" pitchFamily="34" charset="0"/>
          <a:ea typeface="+mn-ea"/>
        </a:defRPr>
      </a:lvl4pPr>
      <a:lvl5pPr marL="2209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Tahoma" panose="020B0604030504040204" pitchFamily="34" charset="0"/>
          <a:ea typeface="+mn-ea"/>
        </a:defRPr>
      </a:lvl5pPr>
      <a:lvl6pPr marL="2667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Tahoma" panose="020B0604030504040204" pitchFamily="34" charset="0"/>
          <a:ea typeface="+mn-ea"/>
        </a:defRPr>
      </a:lvl6pPr>
      <a:lvl7pPr marL="3124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Tahoma" panose="020B0604030504040204" pitchFamily="34" charset="0"/>
          <a:ea typeface="+mn-ea"/>
        </a:defRPr>
      </a:lvl7pPr>
      <a:lvl8pPr marL="3581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Tahoma" panose="020B0604030504040204" pitchFamily="34" charset="0"/>
          <a:ea typeface="+mn-ea"/>
        </a:defRPr>
      </a:lvl8pPr>
      <a:lvl9pPr marL="4038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Tahoma" panose="020B0604030504040204" pitchFamily="34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7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36.wmf"/><Relationship Id="rId1" Type="http://schemas.openxmlformats.org/officeDocument/2006/relationships/oleObject" Target="../embeddings/oleObject11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0.png"/><Relationship Id="rId6" Type="http://schemas.openxmlformats.org/officeDocument/2006/relationships/image" Target="../media/image63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61.wmf"/><Relationship Id="rId1" Type="http://schemas.openxmlformats.org/officeDocument/2006/relationships/oleObject" Target="../embeddings/oleObject13.bin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5.png"/><Relationship Id="rId2" Type="http://schemas.openxmlformats.org/officeDocument/2006/relationships/image" Target="../media/image64.wmf"/><Relationship Id="rId1" Type="http://schemas.openxmlformats.org/officeDocument/2006/relationships/oleObject" Target="../embeddings/oleObject16.bin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wmf"/><Relationship Id="rId1" Type="http://schemas.openxmlformats.org/officeDocument/2006/relationships/oleObject" Target="../embeddings/oleObject17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wmf"/><Relationship Id="rId8" Type="http://schemas.openxmlformats.org/officeDocument/2006/relationships/oleObject" Target="../embeddings/oleObject22.bin"/><Relationship Id="rId7" Type="http://schemas.openxmlformats.org/officeDocument/2006/relationships/image" Target="../media/image69.wmf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67.wmf"/><Relationship Id="rId13" Type="http://schemas.openxmlformats.org/officeDocument/2006/relationships/vmlDrawing" Target="../drawings/vmlDrawing9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71.wmf"/><Relationship Id="rId10" Type="http://schemas.openxmlformats.org/officeDocument/2006/relationships/oleObject" Target="../embeddings/oleObject23.bin"/><Relationship Id="rId1" Type="http://schemas.openxmlformats.org/officeDocument/2006/relationships/oleObject" Target="../embeddings/oleObject18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.bin"/><Relationship Id="rId8" Type="http://schemas.openxmlformats.org/officeDocument/2006/relationships/image" Target="../media/image76.w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73.wmf"/><Relationship Id="rId18" Type="http://schemas.openxmlformats.org/officeDocument/2006/relationships/vmlDrawing" Target="../drawings/vmlDrawing10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80.wmf"/><Relationship Id="rId15" Type="http://schemas.openxmlformats.org/officeDocument/2006/relationships/oleObject" Target="../embeddings/oleObject31.bin"/><Relationship Id="rId14" Type="http://schemas.openxmlformats.org/officeDocument/2006/relationships/image" Target="../media/image79.wmf"/><Relationship Id="rId13" Type="http://schemas.openxmlformats.org/officeDocument/2006/relationships/oleObject" Target="../embeddings/oleObject30.bin"/><Relationship Id="rId12" Type="http://schemas.openxmlformats.org/officeDocument/2006/relationships/image" Target="../media/image78.wmf"/><Relationship Id="rId11" Type="http://schemas.openxmlformats.org/officeDocument/2006/relationships/oleObject" Target="../embeddings/oleObject29.bin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24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1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2.wmf"/><Relationship Id="rId1" Type="http://schemas.openxmlformats.org/officeDocument/2006/relationships/oleObject" Target="../embeddings/oleObject32.bin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303213" y="842963"/>
            <a:ext cx="8416925" cy="3959225"/>
          </a:xfrm>
        </p:spPr>
        <p:txBody>
          <a:bodyPr vert="horz" wrap="square" lIns="91440" tIns="45720" rIns="91440" bIns="45720" anchor="t" anchorCtr="0"/>
          <a:p>
            <a:pPr marL="0" algn="ctr" eaLnBrk="1" hangingPunct="1">
              <a:lnSpc>
                <a:spcPct val="120000"/>
              </a:lnSpc>
            </a:pPr>
            <a:r>
              <a:rPr lang="zh-CN" altLang="en-US" sz="7200" dirty="0">
                <a:latin typeface="方正舒体" panose="02010601030101010101" pitchFamily="2" charset="-122"/>
                <a:ea typeface="方正舒体" panose="02010601030101010101" pitchFamily="2" charset="-122"/>
              </a:rPr>
              <a:t>离散数学</a:t>
            </a:r>
            <a:endParaRPr lang="zh-CN" altLang="en-US" sz="72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  <a:p>
            <a:pPr marL="0" eaLnBrk="1" hangingPunct="1">
              <a:lnSpc>
                <a:spcPct val="120000"/>
              </a:lnSpc>
            </a:pPr>
            <a:endParaRPr lang="zh-CN" altLang="en-US" sz="36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  <a:p>
            <a:pPr marL="0" algn="ctr" eaLnBrk="1" hangingPunct="1">
              <a:lnSpc>
                <a:spcPct val="120000"/>
              </a:lnSpc>
            </a:pPr>
            <a:r>
              <a:rPr lang="en-US" altLang="zh-CN" sz="5400" dirty="0">
                <a:latin typeface="方正舒体" panose="02010601030101010101" pitchFamily="2" charset="-122"/>
                <a:ea typeface="方正舒体" panose="02010601030101010101" pitchFamily="2" charset="-122"/>
              </a:rPr>
              <a:t>Discrete Mathematics</a:t>
            </a:r>
            <a:r>
              <a:rPr lang="en-US" altLang="zh-CN" sz="4400" dirty="0">
                <a:latin typeface="方正舒体" panose="02010601030101010101" pitchFamily="2" charset="-122"/>
                <a:ea typeface="方正舒体" panose="02010601030101010101" pitchFamily="2" charset="-122"/>
              </a:rPr>
              <a:t>         </a:t>
            </a:r>
            <a:endParaRPr lang="en-US" altLang="zh-CN" sz="4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日期占位符 1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717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7171" name="Rectangle 3"/>
          <p:cNvSpPr>
            <a:spLocks noGrp="1"/>
          </p:cNvSpPr>
          <p:nvPr>
            <p:ph type="title" idx="4294967295"/>
          </p:nvPr>
        </p:nvSpPr>
        <p:spPr>
          <a:xfrm>
            <a:off x="1895475" y="977900"/>
            <a:ext cx="5262563" cy="647700"/>
          </a:xfrm>
        </p:spPr>
        <p:txBody>
          <a:bodyPr wrap="square" lIns="91440" tIns="45720" rIns="91440" bIns="45720" anchor="b" anchorCtr="0"/>
          <a:p>
            <a:pPr eaLnBrk="1" hangingPunct="1"/>
            <a:r>
              <a:rPr lang="zh-CN" altLang="en-US" sz="3600" dirty="0">
                <a:solidFill>
                  <a:schemeClr val="folHlink"/>
                </a:solidFill>
                <a:effectLst/>
              </a:rPr>
              <a:t>第十四章  图的基本概念</a:t>
            </a:r>
            <a:endParaRPr lang="zh-CN" altLang="en-US" sz="3600" dirty="0">
              <a:solidFill>
                <a:schemeClr val="folHlink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172" name="Text Box 5"/>
          <p:cNvSpPr txBox="1"/>
          <p:nvPr/>
        </p:nvSpPr>
        <p:spPr>
          <a:xfrm>
            <a:off x="2268538" y="1963738"/>
            <a:ext cx="5068887" cy="24726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1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§11.1 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endParaRPr lang="zh-CN" altLang="en-US" sz="3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§11.2 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通路与回路</a:t>
            </a:r>
            <a:endParaRPr lang="zh-CN" altLang="en-US" sz="3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§11.3  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图的矩阵表示</a:t>
            </a:r>
            <a:endParaRPr lang="zh-CN" altLang="en-US" sz="3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title"/>
          </p:nvPr>
        </p:nvSpPr>
        <p:spPr>
          <a:xfrm>
            <a:off x="1565275" y="182563"/>
            <a:ext cx="5400675" cy="5794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11.1 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图</a:t>
            </a:r>
            <a:endParaRPr kumimoji="1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8196" name="Rectangle 6"/>
          <p:cNvSpPr>
            <a:spLocks noGrp="1"/>
          </p:cNvSpPr>
          <p:nvPr>
            <p:ph idx="1"/>
          </p:nvPr>
        </p:nvSpPr>
        <p:spPr>
          <a:xfrm>
            <a:off x="1468438" y="1214438"/>
            <a:ext cx="4087812" cy="4343400"/>
          </a:xfrm>
        </p:spPr>
        <p:txBody>
          <a:bodyPr vert="horz" wrap="square" lIns="91440" tIns="45720" rIns="91440" bIns="45720" anchor="t" anchorCtr="0"/>
          <a:p>
            <a:pPr marL="0" eaLnBrk="1" hangingPunct="1"/>
            <a:r>
              <a:rPr lang="zh-CN" altLang="en-US" sz="2800" dirty="0"/>
              <a:t>无向图与有向图</a:t>
            </a:r>
            <a:endParaRPr lang="zh-CN" altLang="en-US" sz="2800" dirty="0"/>
          </a:p>
          <a:p>
            <a:pPr marL="0" eaLnBrk="1" hangingPunct="1"/>
            <a:r>
              <a:rPr lang="zh-CN" altLang="en-US" sz="2800" dirty="0"/>
              <a:t>顶点的度数</a:t>
            </a:r>
            <a:endParaRPr lang="zh-CN" altLang="en-US" sz="2800" dirty="0"/>
          </a:p>
          <a:p>
            <a:pPr marL="0" eaLnBrk="1" hangingPunct="1"/>
            <a:r>
              <a:rPr lang="zh-CN" altLang="en-US" sz="2800" dirty="0"/>
              <a:t>握手定理</a:t>
            </a:r>
            <a:endParaRPr lang="zh-CN" altLang="en-US" sz="2800" dirty="0"/>
          </a:p>
          <a:p>
            <a:pPr marL="0" eaLnBrk="1" hangingPunct="1"/>
            <a:r>
              <a:rPr lang="zh-CN" altLang="en-US" sz="2800" dirty="0"/>
              <a:t>图的同构</a:t>
            </a:r>
            <a:endParaRPr lang="zh-CN" altLang="en-US" sz="2800" dirty="0"/>
          </a:p>
          <a:p>
            <a:pPr marL="0" eaLnBrk="1" hangingPunct="1"/>
            <a:r>
              <a:rPr lang="zh-CN" altLang="en-US" sz="2800" dirty="0"/>
              <a:t>简单图</a:t>
            </a:r>
            <a:endParaRPr lang="zh-CN" altLang="en-US" sz="2800" dirty="0"/>
          </a:p>
          <a:p>
            <a:pPr marL="0" eaLnBrk="1" hangingPunct="1"/>
            <a:r>
              <a:rPr lang="zh-CN" altLang="en-US" sz="2800" dirty="0"/>
              <a:t>完全图</a:t>
            </a:r>
            <a:endParaRPr lang="zh-CN" altLang="en-US" sz="2800" dirty="0"/>
          </a:p>
          <a:p>
            <a:pPr marL="0" eaLnBrk="1" hangingPunct="1"/>
            <a:r>
              <a:rPr lang="zh-CN" altLang="en-US" sz="2800" dirty="0"/>
              <a:t>子图</a:t>
            </a:r>
            <a:endParaRPr lang="zh-CN" altLang="en-US" sz="2800" dirty="0"/>
          </a:p>
          <a:p>
            <a:pPr marL="0" eaLnBrk="1" hangingPunct="1"/>
            <a:r>
              <a:rPr lang="zh-CN" altLang="en-US" sz="2800" dirty="0"/>
              <a:t>补图 </a:t>
            </a:r>
            <a:endParaRPr lang="zh-CN" altLang="en-US" sz="2800" dirty="0"/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92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152400"/>
            <a:ext cx="3822700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无序对与多重集合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3331" name="Rectangle 3"/>
          <p:cNvSpPr>
            <a:spLocks noGrp="1"/>
          </p:cNvSpPr>
          <p:nvPr>
            <p:ph idx="1"/>
          </p:nvPr>
        </p:nvSpPr>
        <p:spPr>
          <a:xfrm>
            <a:off x="482600" y="1120775"/>
            <a:ext cx="7772400" cy="4833938"/>
          </a:xfrm>
        </p:spPr>
        <p:txBody>
          <a:bodyPr vert="horz" wrap="square" lIns="91440" tIns="45720" rIns="91440" bIns="45720" anchor="t" anchorCtr="0"/>
          <a:p>
            <a:pPr marL="0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rgbClr val="FF3300"/>
                </a:solidFill>
              </a:rPr>
              <a:t>无序对</a:t>
            </a:r>
            <a:r>
              <a:rPr lang="en-US" altLang="zh-CN" sz="2200" dirty="0"/>
              <a:t>: 2</a:t>
            </a:r>
            <a:r>
              <a:rPr lang="zh-CN" altLang="en-US" sz="2200" dirty="0"/>
              <a:t>个元素构成的集合</a:t>
            </a:r>
            <a:r>
              <a:rPr lang="en-US" altLang="zh-CN" sz="2200" dirty="0"/>
              <a:t>,  </a:t>
            </a:r>
            <a:r>
              <a:rPr lang="zh-CN" altLang="en-US" sz="2200" dirty="0"/>
              <a:t>记作</a:t>
            </a:r>
            <a:r>
              <a:rPr lang="en-US" altLang="zh-CN" sz="2200" dirty="0"/>
              <a:t>(</a:t>
            </a:r>
            <a:r>
              <a:rPr lang="en-US" altLang="zh-CN" sz="2200" i="1" dirty="0"/>
              <a:t>a,b</a:t>
            </a:r>
            <a:r>
              <a:rPr lang="en-US" altLang="zh-CN" sz="2200" dirty="0"/>
              <a:t>)</a:t>
            </a:r>
            <a:endParaRPr lang="en-US" altLang="zh-CN" sz="2200" dirty="0"/>
          </a:p>
          <a:p>
            <a:pPr marL="0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rgbClr val="FF3300"/>
                </a:solidFill>
              </a:rPr>
              <a:t>无序积</a:t>
            </a:r>
            <a:r>
              <a:rPr lang="en-US" altLang="zh-CN" sz="2200" dirty="0"/>
              <a:t>: </a:t>
            </a:r>
            <a:r>
              <a:rPr lang="en-US" altLang="zh-CN" sz="2200" i="1" dirty="0"/>
              <a:t>A</a:t>
            </a:r>
            <a:r>
              <a:rPr lang="en-US" altLang="zh-CN" sz="2200" dirty="0">
                <a:sym typeface="Symbol" panose="05050102010706020507" pitchFamily="18" charset="2"/>
              </a:rPr>
              <a:t></a:t>
            </a:r>
            <a:r>
              <a:rPr lang="en-US" altLang="zh-CN" sz="2200" i="1" dirty="0"/>
              <a:t>B</a:t>
            </a:r>
            <a:r>
              <a:rPr lang="en-US" altLang="zh-CN" sz="2200" dirty="0"/>
              <a:t>={(</a:t>
            </a:r>
            <a:r>
              <a:rPr lang="en-US" altLang="zh-CN" sz="2200" i="1" dirty="0"/>
              <a:t>x</a:t>
            </a:r>
            <a:r>
              <a:rPr lang="en-US" altLang="zh-CN" sz="2200" dirty="0"/>
              <a:t>,</a:t>
            </a:r>
            <a:r>
              <a:rPr lang="en-US" altLang="zh-CN" sz="2200" i="1" dirty="0"/>
              <a:t>y</a:t>
            </a:r>
            <a:r>
              <a:rPr lang="en-US" altLang="zh-CN" sz="2200" dirty="0"/>
              <a:t>) | </a:t>
            </a:r>
            <a:r>
              <a:rPr lang="en-US" altLang="zh-CN" sz="2200" i="1" dirty="0"/>
              <a:t>x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A</a:t>
            </a:r>
            <a:r>
              <a:rPr lang="en-US" altLang="zh-CN" sz="2200" dirty="0">
                <a:sym typeface="Symbol" panose="05050102010706020507" pitchFamily="18" charset="2"/>
              </a:rPr>
              <a:t></a:t>
            </a:r>
            <a:r>
              <a:rPr lang="en-US" altLang="zh-CN" sz="2200" i="1" dirty="0"/>
              <a:t>y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B</a:t>
            </a:r>
            <a:r>
              <a:rPr lang="en-US" altLang="zh-CN" sz="2200" dirty="0"/>
              <a:t>}</a:t>
            </a:r>
            <a:endParaRPr lang="en-US" altLang="zh-CN" sz="2200" dirty="0"/>
          </a:p>
          <a:p>
            <a:pPr marL="0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rgbClr val="000066"/>
                </a:solidFill>
              </a:rPr>
              <a:t>例如  </a:t>
            </a:r>
            <a:r>
              <a:rPr lang="en-US" altLang="zh-CN" sz="2200" i="1" dirty="0">
                <a:solidFill>
                  <a:srgbClr val="000066"/>
                </a:solidFill>
              </a:rPr>
              <a:t>A</a:t>
            </a:r>
            <a:r>
              <a:rPr lang="en-US" altLang="zh-CN" sz="2200" dirty="0">
                <a:solidFill>
                  <a:srgbClr val="000066"/>
                </a:solidFill>
              </a:rPr>
              <a:t>={</a:t>
            </a:r>
            <a:r>
              <a:rPr lang="en-US" altLang="zh-CN" sz="2200" i="1" dirty="0">
                <a:solidFill>
                  <a:srgbClr val="000066"/>
                </a:solidFill>
              </a:rPr>
              <a:t>a,b,c</a:t>
            </a:r>
            <a:r>
              <a:rPr lang="en-US" altLang="zh-CN" sz="2200" dirty="0">
                <a:solidFill>
                  <a:srgbClr val="000066"/>
                </a:solidFill>
              </a:rPr>
              <a:t>}, </a:t>
            </a:r>
            <a:r>
              <a:rPr lang="en-US" altLang="zh-CN" sz="2200" i="1" dirty="0">
                <a:solidFill>
                  <a:srgbClr val="000066"/>
                </a:solidFill>
              </a:rPr>
              <a:t>B</a:t>
            </a:r>
            <a:r>
              <a:rPr lang="en-US" altLang="zh-CN" sz="2200" dirty="0">
                <a:solidFill>
                  <a:srgbClr val="000066"/>
                </a:solidFill>
              </a:rPr>
              <a:t>={1,2}</a:t>
            </a:r>
            <a:endParaRPr lang="en-US" altLang="zh-CN" sz="2200" dirty="0">
              <a:solidFill>
                <a:srgbClr val="000066"/>
              </a:solidFill>
            </a:endParaRPr>
          </a:p>
          <a:p>
            <a:pPr marL="0" eaLnBrk="1" hangingPunct="1">
              <a:lnSpc>
                <a:spcPct val="115000"/>
              </a:lnSpc>
            </a:pPr>
            <a:r>
              <a:rPr lang="en-US" altLang="zh-CN" sz="2200" i="1" dirty="0">
                <a:solidFill>
                  <a:srgbClr val="000066"/>
                </a:solidFill>
              </a:rPr>
              <a:t>   A</a:t>
            </a:r>
            <a:r>
              <a:rPr lang="en-US" altLang="zh-CN" sz="2200" dirty="0">
                <a:solidFill>
                  <a:srgbClr val="000066"/>
                </a:solidFill>
                <a:sym typeface="Symbol" panose="05050102010706020507" pitchFamily="18" charset="2"/>
              </a:rPr>
              <a:t></a:t>
            </a:r>
            <a:r>
              <a:rPr lang="en-US" altLang="zh-CN" sz="2200" i="1" dirty="0">
                <a:solidFill>
                  <a:srgbClr val="000066"/>
                </a:solidFill>
              </a:rPr>
              <a:t>B</a:t>
            </a:r>
            <a:r>
              <a:rPr lang="en-US" altLang="zh-CN" sz="2200" dirty="0">
                <a:solidFill>
                  <a:srgbClr val="000066"/>
                </a:solidFill>
              </a:rPr>
              <a:t>=</a:t>
            </a:r>
            <a:r>
              <a:rPr lang="en-US" altLang="zh-CN" sz="2200" i="1" dirty="0">
                <a:solidFill>
                  <a:srgbClr val="000066"/>
                </a:solidFill>
              </a:rPr>
              <a:t>B</a:t>
            </a:r>
            <a:r>
              <a:rPr lang="en-US" altLang="zh-CN" sz="2200" dirty="0">
                <a:solidFill>
                  <a:srgbClr val="000066"/>
                </a:solidFill>
                <a:sym typeface="Symbol" panose="05050102010706020507" pitchFamily="18" charset="2"/>
              </a:rPr>
              <a:t></a:t>
            </a:r>
            <a:r>
              <a:rPr lang="en-US" altLang="zh-CN" sz="2200" i="1" dirty="0">
                <a:solidFill>
                  <a:srgbClr val="000066"/>
                </a:solidFill>
              </a:rPr>
              <a:t>A</a:t>
            </a:r>
            <a:r>
              <a:rPr lang="en-US" altLang="zh-CN" sz="2200" dirty="0">
                <a:solidFill>
                  <a:srgbClr val="000066"/>
                </a:solidFill>
              </a:rPr>
              <a:t>={(</a:t>
            </a:r>
            <a:r>
              <a:rPr lang="en-US" altLang="zh-CN" sz="2200" i="1" dirty="0">
                <a:solidFill>
                  <a:srgbClr val="000066"/>
                </a:solidFill>
              </a:rPr>
              <a:t>a</a:t>
            </a:r>
            <a:r>
              <a:rPr lang="en-US" altLang="zh-CN" sz="2200" dirty="0">
                <a:solidFill>
                  <a:srgbClr val="000066"/>
                </a:solidFill>
              </a:rPr>
              <a:t>,1), (</a:t>
            </a:r>
            <a:r>
              <a:rPr lang="en-US" altLang="zh-CN" sz="2200" i="1" dirty="0">
                <a:solidFill>
                  <a:srgbClr val="000066"/>
                </a:solidFill>
              </a:rPr>
              <a:t>b</a:t>
            </a:r>
            <a:r>
              <a:rPr lang="en-US" altLang="zh-CN" sz="2200" dirty="0">
                <a:solidFill>
                  <a:srgbClr val="000066"/>
                </a:solidFill>
              </a:rPr>
              <a:t>,1), (</a:t>
            </a:r>
            <a:r>
              <a:rPr lang="en-US" altLang="zh-CN" sz="2200" i="1" dirty="0">
                <a:solidFill>
                  <a:srgbClr val="000066"/>
                </a:solidFill>
              </a:rPr>
              <a:t>c</a:t>
            </a:r>
            <a:r>
              <a:rPr lang="en-US" altLang="zh-CN" sz="2200" dirty="0">
                <a:solidFill>
                  <a:srgbClr val="000066"/>
                </a:solidFill>
              </a:rPr>
              <a:t>,1), (</a:t>
            </a:r>
            <a:r>
              <a:rPr lang="en-US" altLang="zh-CN" sz="2200" i="1" dirty="0">
                <a:solidFill>
                  <a:srgbClr val="000066"/>
                </a:solidFill>
              </a:rPr>
              <a:t>a</a:t>
            </a:r>
            <a:r>
              <a:rPr lang="en-US" altLang="zh-CN" sz="2200" dirty="0">
                <a:solidFill>
                  <a:srgbClr val="000066"/>
                </a:solidFill>
              </a:rPr>
              <a:t>,2), (</a:t>
            </a:r>
            <a:r>
              <a:rPr lang="en-US" altLang="zh-CN" sz="2200" i="1" dirty="0">
                <a:solidFill>
                  <a:srgbClr val="000066"/>
                </a:solidFill>
              </a:rPr>
              <a:t>b</a:t>
            </a:r>
            <a:r>
              <a:rPr lang="en-US" altLang="zh-CN" sz="2200" dirty="0">
                <a:solidFill>
                  <a:srgbClr val="000066"/>
                </a:solidFill>
              </a:rPr>
              <a:t>,2), (</a:t>
            </a:r>
            <a:r>
              <a:rPr lang="en-US" altLang="zh-CN" sz="2200" i="1" dirty="0">
                <a:solidFill>
                  <a:srgbClr val="000066"/>
                </a:solidFill>
              </a:rPr>
              <a:t>c</a:t>
            </a:r>
            <a:r>
              <a:rPr lang="en-US" altLang="zh-CN" sz="2200" dirty="0">
                <a:solidFill>
                  <a:srgbClr val="000066"/>
                </a:solidFill>
              </a:rPr>
              <a:t>,2)} </a:t>
            </a:r>
            <a:endParaRPr lang="en-US" altLang="zh-CN" sz="2200" dirty="0">
              <a:solidFill>
                <a:srgbClr val="000066"/>
              </a:solidFill>
            </a:endParaRPr>
          </a:p>
          <a:p>
            <a:pPr marL="0" eaLnBrk="1" hangingPunct="1">
              <a:lnSpc>
                <a:spcPct val="115000"/>
              </a:lnSpc>
            </a:pPr>
            <a:r>
              <a:rPr lang="en-US" altLang="zh-CN" sz="2200" i="1" dirty="0">
                <a:solidFill>
                  <a:srgbClr val="000066"/>
                </a:solidFill>
              </a:rPr>
              <a:t>   A</a:t>
            </a:r>
            <a:r>
              <a:rPr lang="en-US" altLang="zh-CN" sz="2200" dirty="0">
                <a:solidFill>
                  <a:srgbClr val="000066"/>
                </a:solidFill>
                <a:sym typeface="Symbol" panose="05050102010706020507" pitchFamily="18" charset="2"/>
              </a:rPr>
              <a:t></a:t>
            </a:r>
            <a:r>
              <a:rPr lang="en-US" altLang="zh-CN" sz="2200" i="1" dirty="0">
                <a:solidFill>
                  <a:srgbClr val="000066"/>
                </a:solidFill>
              </a:rPr>
              <a:t>A</a:t>
            </a:r>
            <a:r>
              <a:rPr lang="en-US" altLang="zh-CN" sz="2200" dirty="0">
                <a:solidFill>
                  <a:srgbClr val="000066"/>
                </a:solidFill>
              </a:rPr>
              <a:t>={(</a:t>
            </a:r>
            <a:r>
              <a:rPr lang="en-US" altLang="zh-CN" sz="2200" i="1" dirty="0">
                <a:solidFill>
                  <a:srgbClr val="000066"/>
                </a:solidFill>
              </a:rPr>
              <a:t>a,a</a:t>
            </a:r>
            <a:r>
              <a:rPr lang="en-US" altLang="zh-CN" sz="2200" dirty="0">
                <a:solidFill>
                  <a:srgbClr val="000066"/>
                </a:solidFill>
              </a:rPr>
              <a:t>), (</a:t>
            </a:r>
            <a:r>
              <a:rPr lang="en-US" altLang="zh-CN" sz="2200" i="1" dirty="0">
                <a:solidFill>
                  <a:srgbClr val="000066"/>
                </a:solidFill>
              </a:rPr>
              <a:t>a,b</a:t>
            </a:r>
            <a:r>
              <a:rPr lang="en-US" altLang="zh-CN" sz="2200" dirty="0">
                <a:solidFill>
                  <a:srgbClr val="000066"/>
                </a:solidFill>
              </a:rPr>
              <a:t>), (</a:t>
            </a:r>
            <a:r>
              <a:rPr lang="en-US" altLang="zh-CN" sz="2200" i="1" dirty="0">
                <a:solidFill>
                  <a:srgbClr val="000066"/>
                </a:solidFill>
              </a:rPr>
              <a:t>a,c</a:t>
            </a:r>
            <a:r>
              <a:rPr lang="en-US" altLang="zh-CN" sz="2200" dirty="0">
                <a:solidFill>
                  <a:srgbClr val="000066"/>
                </a:solidFill>
              </a:rPr>
              <a:t>), (</a:t>
            </a:r>
            <a:r>
              <a:rPr lang="en-US" altLang="zh-CN" sz="2200" i="1" dirty="0">
                <a:solidFill>
                  <a:srgbClr val="000066"/>
                </a:solidFill>
              </a:rPr>
              <a:t>b,b</a:t>
            </a:r>
            <a:r>
              <a:rPr lang="en-US" altLang="zh-CN" sz="2200" dirty="0">
                <a:solidFill>
                  <a:srgbClr val="000066"/>
                </a:solidFill>
              </a:rPr>
              <a:t>), (</a:t>
            </a:r>
            <a:r>
              <a:rPr lang="en-US" altLang="zh-CN" sz="2200" i="1" dirty="0">
                <a:solidFill>
                  <a:srgbClr val="000066"/>
                </a:solidFill>
              </a:rPr>
              <a:t>b,c</a:t>
            </a:r>
            <a:r>
              <a:rPr lang="en-US" altLang="zh-CN" sz="2200" dirty="0">
                <a:solidFill>
                  <a:srgbClr val="000066"/>
                </a:solidFill>
              </a:rPr>
              <a:t>), (</a:t>
            </a:r>
            <a:r>
              <a:rPr lang="en-US" altLang="zh-CN" sz="2200" i="1" dirty="0">
                <a:solidFill>
                  <a:srgbClr val="000066"/>
                </a:solidFill>
              </a:rPr>
              <a:t>c,c</a:t>
            </a:r>
            <a:r>
              <a:rPr lang="en-US" altLang="zh-CN" sz="2200" dirty="0">
                <a:solidFill>
                  <a:srgbClr val="000066"/>
                </a:solidFill>
              </a:rPr>
              <a:t>)}</a:t>
            </a:r>
            <a:endParaRPr lang="en-US" altLang="zh-CN" sz="2200" dirty="0">
              <a:solidFill>
                <a:srgbClr val="000066"/>
              </a:solidFill>
            </a:endParaRPr>
          </a:p>
          <a:p>
            <a:pPr marL="0" eaLnBrk="1" hangingPunct="1">
              <a:lnSpc>
                <a:spcPct val="115000"/>
              </a:lnSpc>
            </a:pPr>
            <a:r>
              <a:rPr lang="en-US" altLang="zh-CN" sz="2200" i="1" dirty="0">
                <a:solidFill>
                  <a:srgbClr val="000066"/>
                </a:solidFill>
              </a:rPr>
              <a:t>   B</a:t>
            </a:r>
            <a:r>
              <a:rPr lang="en-US" altLang="zh-CN" sz="2200" dirty="0">
                <a:solidFill>
                  <a:srgbClr val="000066"/>
                </a:solidFill>
                <a:sym typeface="Symbol" panose="05050102010706020507" pitchFamily="18" charset="2"/>
              </a:rPr>
              <a:t></a:t>
            </a:r>
            <a:r>
              <a:rPr lang="en-US" altLang="zh-CN" sz="2200" i="1" dirty="0">
                <a:solidFill>
                  <a:srgbClr val="000066"/>
                </a:solidFill>
              </a:rPr>
              <a:t>B</a:t>
            </a:r>
            <a:r>
              <a:rPr lang="en-US" altLang="zh-CN" sz="2200" dirty="0">
                <a:solidFill>
                  <a:srgbClr val="000066"/>
                </a:solidFill>
              </a:rPr>
              <a:t>={(1,1), (1,2), (2,2)}</a:t>
            </a:r>
            <a:endParaRPr lang="en-US" altLang="zh-CN" sz="2200" dirty="0">
              <a:solidFill>
                <a:srgbClr val="000066"/>
              </a:solidFill>
            </a:endParaRPr>
          </a:p>
          <a:p>
            <a:pPr marL="0" algn="just" eaLnBrk="1" hangingPunct="1">
              <a:lnSpc>
                <a:spcPct val="115000"/>
              </a:lnSpc>
            </a:pPr>
            <a:endParaRPr lang="en-US" altLang="zh-CN" sz="2200" dirty="0">
              <a:solidFill>
                <a:srgbClr val="000066"/>
              </a:solidFill>
            </a:endParaRPr>
          </a:p>
          <a:p>
            <a:pPr marL="0" algn="just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rgbClr val="FF3300"/>
                </a:solidFill>
              </a:rPr>
              <a:t>多重集合</a:t>
            </a:r>
            <a:r>
              <a:rPr lang="en-US" altLang="zh-CN" sz="2200" dirty="0"/>
              <a:t>: </a:t>
            </a:r>
            <a:r>
              <a:rPr lang="zh-CN" altLang="en-US" sz="2200" dirty="0"/>
              <a:t>元素可以重复出现的集合</a:t>
            </a:r>
            <a:endParaRPr lang="zh-CN" altLang="en-US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rgbClr val="FF0000"/>
                </a:solidFill>
              </a:rPr>
              <a:t>重复度</a:t>
            </a:r>
            <a:r>
              <a:rPr lang="en-US" altLang="zh-CN" sz="2200" dirty="0"/>
              <a:t>: </a:t>
            </a:r>
            <a:r>
              <a:rPr lang="zh-CN" altLang="en-US" sz="2200" dirty="0"/>
              <a:t>元素在多重集合中出现的次数</a:t>
            </a:r>
            <a:endParaRPr lang="zh-CN" altLang="en-US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rgbClr val="000066"/>
                </a:solidFill>
              </a:rPr>
              <a:t>例如  </a:t>
            </a:r>
            <a:r>
              <a:rPr lang="en-US" altLang="zh-CN" sz="2200" i="1" dirty="0">
                <a:solidFill>
                  <a:srgbClr val="000066"/>
                </a:solidFill>
              </a:rPr>
              <a:t>S</a:t>
            </a:r>
            <a:r>
              <a:rPr lang="en-US" altLang="zh-CN" sz="2200" dirty="0">
                <a:solidFill>
                  <a:srgbClr val="000066"/>
                </a:solidFill>
              </a:rPr>
              <a:t>={</a:t>
            </a:r>
            <a:r>
              <a:rPr lang="en-US" altLang="zh-CN" sz="2200" i="1" dirty="0">
                <a:solidFill>
                  <a:srgbClr val="000066"/>
                </a:solidFill>
              </a:rPr>
              <a:t>a,b,b,c,c,c</a:t>
            </a:r>
            <a:r>
              <a:rPr lang="en-US" altLang="zh-CN" sz="2200" dirty="0">
                <a:solidFill>
                  <a:srgbClr val="000066"/>
                </a:solidFill>
              </a:rPr>
              <a:t>},  </a:t>
            </a:r>
            <a:r>
              <a:rPr lang="en-US" altLang="zh-CN" sz="2200" i="1" dirty="0">
                <a:solidFill>
                  <a:srgbClr val="000066"/>
                </a:solidFill>
              </a:rPr>
              <a:t>a,b,c</a:t>
            </a:r>
            <a:r>
              <a:rPr lang="en-US" altLang="zh-CN" sz="2200" dirty="0">
                <a:solidFill>
                  <a:srgbClr val="000066"/>
                </a:solidFill>
              </a:rPr>
              <a:t> </a:t>
            </a:r>
            <a:r>
              <a:rPr lang="zh-CN" altLang="en-US" sz="2200" dirty="0">
                <a:solidFill>
                  <a:srgbClr val="000066"/>
                </a:solidFill>
              </a:rPr>
              <a:t>的重复度依次为</a:t>
            </a:r>
            <a:r>
              <a:rPr lang="en-US" altLang="zh-CN" sz="2200" dirty="0">
                <a:solidFill>
                  <a:srgbClr val="000066"/>
                </a:solidFill>
              </a:rPr>
              <a:t>1,2,3</a:t>
            </a:r>
            <a:endParaRPr lang="en-US" altLang="zh-CN" sz="220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83331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83331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83331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25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83331">
                                            <p:txEl>
                                              <p:charRg st="25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83331">
                                            <p:txEl>
                                              <p:charRg st="25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83331">
                                            <p:txEl>
                                              <p:charRg st="25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5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83331">
                                            <p:txEl>
                                              <p:charRg st="5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83331">
                                            <p:txEl>
                                              <p:charRg st="5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83331">
                                            <p:txEl>
                                              <p:charRg st="5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75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83331">
                                            <p:txEl>
                                              <p:charRg st="75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83331">
                                            <p:txEl>
                                              <p:charRg st="75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83331">
                                            <p:txEl>
                                              <p:charRg st="75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130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483331">
                                            <p:txEl>
                                              <p:charRg st="130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483331">
                                            <p:txEl>
                                              <p:charRg st="130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483331">
                                            <p:txEl>
                                              <p:charRg st="130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180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483331">
                                            <p:txEl>
                                              <p:charRg st="180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483331">
                                            <p:txEl>
                                              <p:charRg st="180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483331">
                                            <p:txEl>
                                              <p:charRg st="180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2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483331">
                                            <p:txEl>
                                              <p:charRg st="2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483331">
                                            <p:txEl>
                                              <p:charRg st="2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483331">
                                            <p:txEl>
                                              <p:charRg st="2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228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483331">
                                            <p:txEl>
                                              <p:charRg st="228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483331">
                                            <p:txEl>
                                              <p:charRg st="228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483331">
                                            <p:txEl>
                                              <p:charRg st="228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charRg st="247" end="2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483331">
                                            <p:txEl>
                                              <p:charRg st="247" end="2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483331">
                                            <p:txEl>
                                              <p:charRg st="247" end="28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483331">
                                            <p:txEl>
                                              <p:charRg st="247" end="28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652588" y="182563"/>
            <a:ext cx="2498725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无向图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4355" name="Rectangle 3"/>
          <p:cNvSpPr>
            <a:spLocks noGrp="1"/>
          </p:cNvSpPr>
          <p:nvPr>
            <p:ph idx="1"/>
          </p:nvPr>
        </p:nvSpPr>
        <p:spPr>
          <a:xfrm>
            <a:off x="242888" y="963613"/>
            <a:ext cx="8443912" cy="1924050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rgbClr val="FF3300"/>
                </a:solidFill>
              </a:rPr>
              <a:t>定义</a:t>
            </a:r>
            <a:r>
              <a:rPr lang="en-US" altLang="zh-CN" sz="2200" dirty="0">
                <a:solidFill>
                  <a:srgbClr val="FF3300"/>
                </a:solidFill>
              </a:rPr>
              <a:t>11.1 </a:t>
            </a:r>
            <a:r>
              <a:rPr lang="zh-CN" altLang="en-US" sz="2200" dirty="0">
                <a:solidFill>
                  <a:srgbClr val="FF3300"/>
                </a:solidFill>
              </a:rPr>
              <a:t>无向图</a:t>
            </a:r>
            <a:r>
              <a:rPr lang="en-US" altLang="zh-CN" sz="2200" i="1" dirty="0"/>
              <a:t>G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</a:t>
            </a:r>
            <a:r>
              <a:rPr lang="zh-CN" altLang="en-US" sz="2200" dirty="0"/>
              <a:t>为一个有序的二元组</a:t>
            </a:r>
            <a:r>
              <a:rPr lang="en-US" altLang="zh-CN" sz="2200" dirty="0"/>
              <a:t>,</a:t>
            </a:r>
            <a:r>
              <a:rPr lang="zh-CN" altLang="en-US" sz="2200" dirty="0"/>
              <a:t>其中</a:t>
            </a:r>
            <a:endParaRPr lang="zh-CN" altLang="en-US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zh-CN" altLang="en-US" sz="2200" i="1" dirty="0"/>
              <a:t>       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</a:t>
            </a:r>
            <a:r>
              <a:rPr lang="zh-CN" altLang="en-US" sz="2200" dirty="0"/>
              <a:t>称为</a:t>
            </a:r>
            <a:r>
              <a:rPr lang="zh-CN" altLang="en-US" sz="2200" dirty="0">
                <a:solidFill>
                  <a:schemeClr val="hlink"/>
                </a:solidFill>
              </a:rPr>
              <a:t>顶点集</a:t>
            </a:r>
            <a:r>
              <a:rPr lang="en-US" altLang="zh-CN" sz="2200" dirty="0"/>
              <a:t>, </a:t>
            </a:r>
            <a:r>
              <a:rPr lang="zh-CN" altLang="en-US" sz="2200" dirty="0"/>
              <a:t>其元素称为</a:t>
            </a:r>
            <a:r>
              <a:rPr lang="zh-CN" altLang="en-US" sz="2200" dirty="0">
                <a:solidFill>
                  <a:srgbClr val="FF3300"/>
                </a:solidFill>
              </a:rPr>
              <a:t>顶点</a:t>
            </a:r>
            <a:r>
              <a:rPr lang="zh-CN" altLang="en-US" sz="2200" dirty="0"/>
              <a:t>或</a:t>
            </a:r>
            <a:r>
              <a:rPr lang="zh-CN" altLang="en-US" sz="2200" dirty="0">
                <a:solidFill>
                  <a:srgbClr val="FF3300"/>
                </a:solidFill>
              </a:rPr>
              <a:t>结点</a:t>
            </a:r>
            <a:r>
              <a:rPr lang="en-US" altLang="zh-CN" sz="2200" dirty="0"/>
              <a:t>; </a:t>
            </a:r>
            <a:endParaRPr lang="en-US" altLang="zh-CN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en-US" altLang="zh-CN" sz="2200" i="1" dirty="0"/>
              <a:t>       E</a:t>
            </a:r>
            <a:r>
              <a:rPr lang="zh-CN" altLang="en-US" sz="2200" dirty="0"/>
              <a:t>是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</a:t>
            </a:r>
            <a:r>
              <a:rPr lang="en-US" altLang="zh-CN" sz="2200" i="1" dirty="0"/>
              <a:t>V</a:t>
            </a:r>
            <a:r>
              <a:rPr lang="zh-CN" altLang="en-US" sz="2200" dirty="0"/>
              <a:t>的多重子集</a:t>
            </a:r>
            <a:r>
              <a:rPr lang="en-US" altLang="zh-CN" sz="2200" dirty="0"/>
              <a:t>, </a:t>
            </a:r>
            <a:r>
              <a:rPr lang="zh-CN" altLang="en-US" sz="2200" dirty="0"/>
              <a:t>称为</a:t>
            </a:r>
            <a:r>
              <a:rPr lang="zh-CN" altLang="en-US" sz="2200" dirty="0">
                <a:solidFill>
                  <a:schemeClr val="hlink"/>
                </a:solidFill>
              </a:rPr>
              <a:t>边集</a:t>
            </a:r>
            <a:r>
              <a:rPr lang="en-US" altLang="zh-CN" sz="2200" dirty="0"/>
              <a:t>, </a:t>
            </a:r>
            <a:r>
              <a:rPr lang="zh-CN" altLang="en-US" sz="2200" dirty="0"/>
              <a:t>其元素称为</a:t>
            </a:r>
            <a:r>
              <a:rPr lang="zh-CN" altLang="en-US" sz="2200" dirty="0">
                <a:solidFill>
                  <a:srgbClr val="FF3300"/>
                </a:solidFill>
              </a:rPr>
              <a:t>无向边</a:t>
            </a:r>
            <a:r>
              <a:rPr lang="zh-CN" altLang="en-US" sz="2200" dirty="0"/>
              <a:t>，简称</a:t>
            </a:r>
            <a:r>
              <a:rPr lang="zh-CN" altLang="en-US" sz="2200" dirty="0">
                <a:solidFill>
                  <a:srgbClr val="FF3300"/>
                </a:solidFill>
              </a:rPr>
              <a:t>边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zh-CN" altLang="en-US" sz="2200" dirty="0"/>
              <a:t>有时用</a:t>
            </a:r>
            <a:r>
              <a:rPr lang="en-US" altLang="zh-CN" sz="2200" i="1" dirty="0"/>
              <a:t>V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</a:t>
            </a:r>
            <a:r>
              <a:rPr lang="zh-CN" altLang="en-US" sz="2200" dirty="0"/>
              <a:t>和</a:t>
            </a:r>
            <a:r>
              <a:rPr lang="en-US" altLang="zh-CN" sz="2200" i="1" dirty="0"/>
              <a:t>E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</a:t>
            </a:r>
            <a:r>
              <a:rPr lang="zh-CN" altLang="en-US" sz="2200" dirty="0"/>
              <a:t>分别表示</a:t>
            </a:r>
            <a:r>
              <a:rPr lang="en-US" altLang="zh-CN" sz="2200" i="1" dirty="0"/>
              <a:t>V</a:t>
            </a:r>
            <a:r>
              <a:rPr lang="zh-CN" altLang="en-US" sz="2200" dirty="0"/>
              <a:t>和</a:t>
            </a:r>
            <a:r>
              <a:rPr lang="en-US" altLang="zh-CN" sz="2200" i="1" dirty="0"/>
              <a:t>E.</a:t>
            </a:r>
            <a:endParaRPr lang="en-US" altLang="zh-CN" sz="2200" i="1" dirty="0"/>
          </a:p>
        </p:txBody>
      </p:sp>
      <p:sp>
        <p:nvSpPr>
          <p:cNvPr id="484371" name="Rectangle 19"/>
          <p:cNvSpPr/>
          <p:nvPr/>
        </p:nvSpPr>
        <p:spPr>
          <a:xfrm>
            <a:off x="377825" y="4451350"/>
            <a:ext cx="8223250" cy="21002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图形表示：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用小圆圈（或实心点）表示顶点，用顶点间的连线表示无向边，用有方向的连线表示有向边。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将图的集合定义转化成图形表示后，常用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表示无向边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)(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或有向边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&gt;)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，并称顶点或边用字母标定的图为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标定图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，否则称为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非标定图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4372" name="Rectangle 20"/>
          <p:cNvSpPr/>
          <p:nvPr/>
        </p:nvSpPr>
        <p:spPr>
          <a:xfrm>
            <a:off x="242888" y="2887663"/>
            <a:ext cx="8477250" cy="180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187325" algn="just">
              <a:lnSpc>
                <a:spcPct val="100000"/>
              </a:lnSpc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11.2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有向图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E&gt;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其中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87325" algn="just">
              <a:lnSpc>
                <a:spcPct val="10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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称为顶点集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其元素称为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顶点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87325" algn="just">
              <a:lnSpc>
                <a:spcPct val="1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的多重子集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称为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边集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其元素称为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有向边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，简称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87325" algn="just">
              <a:lnSpc>
                <a:spcPct val="10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有时用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分别表示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84355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84355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84355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charRg st="3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84355">
                                            <p:txEl>
                                              <p:charRg st="3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84355">
                                            <p:txEl>
                                              <p:charRg st="3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84355">
                                            <p:txEl>
                                              <p:charRg st="3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charRg st="6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84355">
                                            <p:txEl>
                                              <p:charRg st="6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84355">
                                            <p:txEl>
                                              <p:charRg st="6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84355">
                                            <p:txEl>
                                              <p:charRg st="6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charRg st="10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84355">
                                            <p:txEl>
                                              <p:charRg st="10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84355">
                                            <p:txEl>
                                              <p:charRg st="10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84355">
                                            <p:txEl>
                                              <p:charRg st="10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2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484372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484372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484372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2">
                                            <p:txEl>
                                              <p:charRg st="22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484372">
                                            <p:txEl>
                                              <p:charRg st="22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484372">
                                            <p:txEl>
                                              <p:charRg st="22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484372">
                                            <p:txEl>
                                              <p:charRg st="22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2">
                                            <p:txEl>
                                              <p:charRg st="50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484372">
                                            <p:txEl>
                                              <p:charRg st="50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484372">
                                            <p:txEl>
                                              <p:charRg st="50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484372">
                                            <p:txEl>
                                              <p:charRg st="50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2">
                                            <p:txEl>
                                              <p:charRg st="88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484372">
                                            <p:txEl>
                                              <p:charRg st="88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484372">
                                            <p:txEl>
                                              <p:charRg st="88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484372">
                                            <p:txEl>
                                              <p:charRg st="88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1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484371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484371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484371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71">
                                            <p:txEl>
                                              <p:charRg st="48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484371">
                                            <p:txEl>
                                              <p:charRg st="48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484371">
                                            <p:txEl>
                                              <p:charRg st="48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484371">
                                            <p:txEl>
                                              <p:charRg st="48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12913" y="182563"/>
            <a:ext cx="2859088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有向图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5393" name="Rectangle 17"/>
          <p:cNvSpPr/>
          <p:nvPr/>
        </p:nvSpPr>
        <p:spPr>
          <a:xfrm>
            <a:off x="601663" y="4872038"/>
            <a:ext cx="5113337" cy="477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有限图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|V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|,|E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均为有限数的图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85394" name="Picture 18" descr="14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2138" y="3670300"/>
            <a:ext cx="2808287" cy="276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5395" name="Rectangle 19"/>
          <p:cNvSpPr/>
          <p:nvPr/>
        </p:nvSpPr>
        <p:spPr>
          <a:xfrm>
            <a:off x="303213" y="2808288"/>
            <a:ext cx="4268787" cy="477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11.1(2)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=&lt;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如右下图所示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5397" name="Rectangle 21"/>
          <p:cNvSpPr/>
          <p:nvPr/>
        </p:nvSpPr>
        <p:spPr>
          <a:xfrm>
            <a:off x="1443038" y="3556000"/>
            <a:ext cx="4572000" cy="477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E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={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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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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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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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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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5398" name="Rectangle 22"/>
          <p:cNvSpPr/>
          <p:nvPr/>
        </p:nvSpPr>
        <p:spPr>
          <a:xfrm>
            <a:off x="844550" y="3192463"/>
            <a:ext cx="2551113" cy="4778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其中 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={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c,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 ,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5399" name="Rectangle 23"/>
          <p:cNvSpPr/>
          <p:nvPr/>
        </p:nvSpPr>
        <p:spPr>
          <a:xfrm>
            <a:off x="2046288" y="3973513"/>
            <a:ext cx="2846387" cy="4778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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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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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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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 .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5401" name="Rectangle 25"/>
          <p:cNvSpPr/>
          <p:nvPr/>
        </p:nvSpPr>
        <p:spPr>
          <a:xfrm>
            <a:off x="423863" y="963613"/>
            <a:ext cx="4148137" cy="4810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11.1(1)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=&lt;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如图所示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5416" name="Rectangle 40"/>
          <p:cNvSpPr/>
          <p:nvPr/>
        </p:nvSpPr>
        <p:spPr>
          <a:xfrm>
            <a:off x="1563688" y="1865313"/>
            <a:ext cx="4090987" cy="477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E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={(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                 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5417" name="Rectangle 41"/>
          <p:cNvSpPr/>
          <p:nvPr/>
        </p:nvSpPr>
        <p:spPr>
          <a:xfrm>
            <a:off x="963613" y="1384300"/>
            <a:ext cx="2805112" cy="4778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其中 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={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…,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 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5418" name="Rectangle 42"/>
          <p:cNvSpPr/>
          <p:nvPr/>
        </p:nvSpPr>
        <p:spPr>
          <a:xfrm>
            <a:off x="1973263" y="2346325"/>
            <a:ext cx="2728912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)}.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5419" name="Rectangle 43"/>
          <p:cNvSpPr/>
          <p:nvPr/>
        </p:nvSpPr>
        <p:spPr>
          <a:xfrm>
            <a:off x="603250" y="6018213"/>
            <a:ext cx="2303463" cy="4778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平凡图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 1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阶零图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5420" name="Rectangle 44"/>
          <p:cNvSpPr/>
          <p:nvPr/>
        </p:nvSpPr>
        <p:spPr>
          <a:xfrm>
            <a:off x="603250" y="5656263"/>
            <a:ext cx="2109788" cy="4778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零图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85421" name="Rectangle 45"/>
          <p:cNvSpPr/>
          <p:nvPr/>
        </p:nvSpPr>
        <p:spPr>
          <a:xfrm>
            <a:off x="603250" y="5292725"/>
            <a:ext cx="2824163" cy="4778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 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阶图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个顶点的图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5422" name="Rectangle 46"/>
          <p:cNvSpPr/>
          <p:nvPr/>
        </p:nvSpPr>
        <p:spPr>
          <a:xfrm>
            <a:off x="603250" y="4445000"/>
            <a:ext cx="5294313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用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|V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|,|E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分别表示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顶点数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边数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85423" name="Picture 47" descr="14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675" y="782638"/>
            <a:ext cx="2941638" cy="29511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85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854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854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85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4854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4854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4854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4854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4854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4854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48541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48541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48541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8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8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0" dur="80"/>
                                        <p:tgtEl>
                                          <p:spTgt spid="4853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1" dur="80"/>
                                        <p:tgtEl>
                                          <p:spTgt spid="4853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80"/>
                                        <p:tgtEl>
                                          <p:spTgt spid="4853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7" dur="80"/>
                                        <p:tgtEl>
                                          <p:spTgt spid="485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8" dur="80"/>
                                        <p:tgtEl>
                                          <p:spTgt spid="4853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80"/>
                                        <p:tgtEl>
                                          <p:spTgt spid="4853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9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4" dur="80"/>
                                        <p:tgtEl>
                                          <p:spTgt spid="485399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5" dur="80"/>
                                        <p:tgtEl>
                                          <p:spTgt spid="485399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80"/>
                                        <p:tgtEl>
                                          <p:spTgt spid="485399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22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1" dur="80"/>
                                        <p:tgtEl>
                                          <p:spTgt spid="485422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2" dur="80"/>
                                        <p:tgtEl>
                                          <p:spTgt spid="485422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80"/>
                                        <p:tgtEl>
                                          <p:spTgt spid="485422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8" dur="80"/>
                                        <p:tgtEl>
                                          <p:spTgt spid="485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9" dur="80"/>
                                        <p:tgtEl>
                                          <p:spTgt spid="485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80"/>
                                        <p:tgtEl>
                                          <p:spTgt spid="485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5" dur="80"/>
                                        <p:tgtEl>
                                          <p:spTgt spid="485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6" dur="80"/>
                                        <p:tgtEl>
                                          <p:spTgt spid="485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80"/>
                                        <p:tgtEl>
                                          <p:spTgt spid="485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2" dur="80"/>
                                        <p:tgtEl>
                                          <p:spTgt spid="485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3" dur="80"/>
                                        <p:tgtEl>
                                          <p:spTgt spid="485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80"/>
                                        <p:tgtEl>
                                          <p:spTgt spid="485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9" dur="80"/>
                                        <p:tgtEl>
                                          <p:spTgt spid="4854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0" dur="80"/>
                                        <p:tgtEl>
                                          <p:spTgt spid="4854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80"/>
                                        <p:tgtEl>
                                          <p:spTgt spid="4854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93" grpId="0"/>
      <p:bldP spid="485395" grpId="0"/>
      <p:bldP spid="485397" grpId="0"/>
      <p:bldP spid="485398" grpId="0"/>
      <p:bldP spid="485401" grpId="0"/>
      <p:bldP spid="485416" grpId="0"/>
      <p:bldP spid="485417" grpId="0"/>
      <p:bldP spid="485419" grpId="0"/>
      <p:bldP spid="485420" grpId="0"/>
      <p:bldP spid="4854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5445125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顶点和边的关联与相邻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486403" name="Rectangle 3"/>
          <p:cNvSpPr>
            <a:spLocks noGrp="1"/>
          </p:cNvSpPr>
          <p:nvPr>
            <p:ph idx="1"/>
          </p:nvPr>
        </p:nvSpPr>
        <p:spPr>
          <a:xfrm>
            <a:off x="363538" y="1263650"/>
            <a:ext cx="8416925" cy="4930775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/>
              <a:t>设无向图</a:t>
            </a:r>
            <a:r>
              <a:rPr lang="en-US" altLang="zh-CN" sz="2200" i="1" dirty="0"/>
              <a:t>G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V,E&gt;,</a:t>
            </a:r>
            <a:r>
              <a:rPr lang="en-US" altLang="zh-CN" sz="2200" dirty="0"/>
              <a:t> 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k</a:t>
            </a:r>
            <a:r>
              <a:rPr lang="en-US" altLang="zh-CN" sz="2200" dirty="0"/>
              <a:t>=(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</a:t>
            </a:r>
            <a:r>
              <a:rPr lang="en-US" altLang="zh-CN" sz="2200" i="1" dirty="0"/>
              <a:t>,v</a:t>
            </a:r>
            <a:r>
              <a:rPr lang="en-US" altLang="zh-CN" sz="2200" i="1" baseline="-25000" dirty="0"/>
              <a:t>j</a:t>
            </a:r>
            <a:r>
              <a:rPr lang="en-US" altLang="zh-CN" sz="2200" dirty="0"/>
              <a:t>)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>
                <a:sym typeface="Symbol" panose="05050102010706020507" pitchFamily="18" charset="2"/>
              </a:rPr>
              <a:t>E</a:t>
            </a:r>
            <a:r>
              <a:rPr lang="en-US" altLang="zh-CN" sz="2200" dirty="0"/>
              <a:t>, </a:t>
            </a:r>
            <a:r>
              <a:rPr lang="zh-CN" altLang="en-US" sz="2200" dirty="0"/>
              <a:t>称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</a:t>
            </a:r>
            <a:r>
              <a:rPr lang="en-US" altLang="zh-CN" sz="2200" i="1" dirty="0"/>
              <a:t>, v</a:t>
            </a:r>
            <a:r>
              <a:rPr lang="en-US" altLang="zh-CN" sz="2200" i="1" baseline="-25000" dirty="0"/>
              <a:t>j</a:t>
            </a:r>
            <a:r>
              <a:rPr lang="zh-CN" altLang="en-US" sz="2200" dirty="0"/>
              <a:t>为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k</a:t>
            </a:r>
            <a:r>
              <a:rPr lang="zh-CN" altLang="en-US" sz="2200" dirty="0"/>
              <a:t>的</a:t>
            </a:r>
            <a:r>
              <a:rPr lang="zh-CN" altLang="en-US" sz="2200" dirty="0">
                <a:solidFill>
                  <a:srgbClr val="FF3300"/>
                </a:solidFill>
              </a:rPr>
              <a:t>端点</a:t>
            </a:r>
            <a:r>
              <a:rPr lang="en-US" altLang="zh-CN" sz="2200" dirty="0"/>
              <a:t>, 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k</a:t>
            </a:r>
            <a:r>
              <a:rPr lang="zh-CN" altLang="en-US" sz="2200" dirty="0"/>
              <a:t>与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 </a:t>
            </a:r>
            <a:r>
              <a:rPr lang="en-US" altLang="zh-CN" sz="2200" dirty="0"/>
              <a:t>(</a:t>
            </a:r>
            <a:r>
              <a:rPr lang="en-US" altLang="zh-CN" sz="2200" i="1" baseline="-25000" dirty="0"/>
              <a:t> 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j</a:t>
            </a:r>
            <a:r>
              <a:rPr lang="en-US" altLang="zh-CN" sz="2200" dirty="0"/>
              <a:t>)</a:t>
            </a:r>
            <a:r>
              <a:rPr lang="zh-CN" altLang="en-US" sz="2200" dirty="0">
                <a:solidFill>
                  <a:srgbClr val="FF3300"/>
                </a:solidFill>
              </a:rPr>
              <a:t>关联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/>
              <a:t>若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 </a:t>
            </a:r>
            <a:r>
              <a:rPr lang="en-US" altLang="zh-CN" sz="2200" i="1" dirty="0"/>
              <a:t>= v</a:t>
            </a:r>
            <a:r>
              <a:rPr lang="en-US" altLang="zh-CN" sz="2200" i="1" baseline="-25000" dirty="0"/>
              <a:t>j</a:t>
            </a:r>
            <a:r>
              <a:rPr lang="en-US" altLang="zh-CN" sz="2200" dirty="0"/>
              <a:t>, </a:t>
            </a:r>
            <a:r>
              <a:rPr lang="zh-CN" altLang="en-US" sz="2200" dirty="0"/>
              <a:t>则称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k</a:t>
            </a:r>
            <a:r>
              <a:rPr lang="zh-CN" altLang="en-US" sz="2200" dirty="0"/>
              <a:t>为</a:t>
            </a:r>
            <a:r>
              <a:rPr lang="zh-CN" altLang="en-US" sz="2200" dirty="0">
                <a:solidFill>
                  <a:srgbClr val="FF0066"/>
                </a:solidFill>
              </a:rPr>
              <a:t>环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/>
              <a:t>无边关联的顶点称作</a:t>
            </a:r>
            <a:r>
              <a:rPr lang="zh-CN" altLang="en-US" sz="2200" dirty="0">
                <a:solidFill>
                  <a:srgbClr val="FF3300"/>
                </a:solidFill>
              </a:rPr>
              <a:t>孤立点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/>
              <a:t>若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 </a:t>
            </a:r>
            <a:r>
              <a:rPr lang="en-US" altLang="zh-CN" sz="2200" dirty="0">
                <a:sym typeface="Symbol" panose="05050102010706020507" pitchFamily="18" charset="2"/>
              </a:rPr>
              <a:t></a:t>
            </a:r>
            <a:r>
              <a:rPr lang="en-US" altLang="zh-CN" sz="2200" i="1" baseline="-25000" dirty="0"/>
              <a:t> 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j</a:t>
            </a:r>
            <a:r>
              <a:rPr lang="en-US" altLang="zh-CN" sz="2200" dirty="0"/>
              <a:t>, </a:t>
            </a:r>
            <a:r>
              <a:rPr lang="zh-CN" altLang="en-US" sz="2200" dirty="0"/>
              <a:t>则称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k</a:t>
            </a:r>
            <a:r>
              <a:rPr lang="zh-CN" altLang="en-US" sz="2200" dirty="0"/>
              <a:t>与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 </a:t>
            </a:r>
            <a:r>
              <a:rPr lang="en-US" altLang="zh-CN" sz="2200" dirty="0"/>
              <a:t>(</a:t>
            </a:r>
            <a:r>
              <a:rPr lang="en-US" altLang="zh-CN" sz="2200" i="1" baseline="-25000" dirty="0"/>
              <a:t> 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j</a:t>
            </a:r>
            <a:r>
              <a:rPr lang="en-US" altLang="zh-CN" sz="2200" dirty="0"/>
              <a:t>)</a:t>
            </a:r>
            <a:r>
              <a:rPr lang="zh-CN" altLang="en-US" sz="2200" dirty="0"/>
              <a:t>的</a:t>
            </a:r>
            <a:r>
              <a:rPr lang="zh-CN" altLang="en-US" sz="2200" dirty="0">
                <a:solidFill>
                  <a:srgbClr val="FF3300"/>
                </a:solidFill>
              </a:rPr>
              <a:t>关联次数为</a:t>
            </a:r>
            <a:r>
              <a:rPr lang="en-US" altLang="zh-CN" sz="2200" dirty="0">
                <a:solidFill>
                  <a:srgbClr val="FF3300"/>
                </a:solidFill>
              </a:rPr>
              <a:t>1</a:t>
            </a:r>
            <a:r>
              <a:rPr lang="en-US" altLang="zh-CN" sz="2200" dirty="0"/>
              <a:t>;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/>
              <a:t>若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 </a:t>
            </a:r>
            <a:r>
              <a:rPr lang="en-US" altLang="zh-CN" sz="2200" i="1" dirty="0"/>
              <a:t>= v</a:t>
            </a:r>
            <a:r>
              <a:rPr lang="en-US" altLang="zh-CN" sz="2200" i="1" baseline="-25000" dirty="0"/>
              <a:t>j</a:t>
            </a:r>
            <a:r>
              <a:rPr lang="en-US" altLang="zh-CN" sz="2200" dirty="0"/>
              <a:t>, </a:t>
            </a:r>
            <a:r>
              <a:rPr lang="zh-CN" altLang="en-US" sz="2200" dirty="0"/>
              <a:t>则称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k</a:t>
            </a:r>
            <a:r>
              <a:rPr lang="zh-CN" altLang="en-US" sz="2200" dirty="0"/>
              <a:t>与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 </a:t>
            </a:r>
            <a:r>
              <a:rPr lang="zh-CN" altLang="en-US" sz="2200" dirty="0"/>
              <a:t>的</a:t>
            </a:r>
            <a:r>
              <a:rPr lang="zh-CN" altLang="en-US" sz="2200" dirty="0">
                <a:solidFill>
                  <a:srgbClr val="FF3300"/>
                </a:solidFill>
              </a:rPr>
              <a:t>关联次数为</a:t>
            </a:r>
            <a:r>
              <a:rPr lang="en-US" altLang="zh-CN" sz="2200" dirty="0">
                <a:solidFill>
                  <a:srgbClr val="FF3300"/>
                </a:solidFill>
              </a:rPr>
              <a:t>2</a:t>
            </a:r>
            <a:r>
              <a:rPr lang="en-US" altLang="zh-CN" sz="2200" dirty="0"/>
              <a:t>; 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/>
              <a:t>若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</a:t>
            </a:r>
            <a:r>
              <a:rPr lang="zh-CN" altLang="en-US" sz="2200" dirty="0"/>
              <a:t>不是边</a:t>
            </a:r>
            <a:r>
              <a:rPr lang="en-US" altLang="zh-CN" sz="2200" i="1" dirty="0"/>
              <a:t>e</a:t>
            </a:r>
            <a:r>
              <a:rPr lang="zh-CN" altLang="en-US" sz="2200" dirty="0"/>
              <a:t>的端点</a:t>
            </a:r>
            <a:r>
              <a:rPr lang="en-US" altLang="zh-CN" sz="2200" dirty="0"/>
              <a:t>, </a:t>
            </a:r>
            <a:r>
              <a:rPr lang="zh-CN" altLang="en-US" sz="2200" dirty="0"/>
              <a:t>则称</a:t>
            </a:r>
            <a:r>
              <a:rPr lang="en-US" altLang="zh-CN" sz="2200" i="1" dirty="0"/>
              <a:t>e</a:t>
            </a:r>
            <a:r>
              <a:rPr lang="zh-CN" altLang="en-US" sz="2200" dirty="0"/>
              <a:t>与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 </a:t>
            </a:r>
            <a:r>
              <a:rPr lang="zh-CN" altLang="en-US" sz="2200" dirty="0"/>
              <a:t>的</a:t>
            </a:r>
            <a:r>
              <a:rPr lang="zh-CN" altLang="en-US" sz="2200" dirty="0">
                <a:solidFill>
                  <a:srgbClr val="FF3300"/>
                </a:solidFill>
              </a:rPr>
              <a:t>关联次数为</a:t>
            </a:r>
            <a:r>
              <a:rPr lang="en-US" altLang="zh-CN" sz="2200" dirty="0">
                <a:solidFill>
                  <a:srgbClr val="FF3300"/>
                </a:solidFill>
              </a:rPr>
              <a:t>0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/>
              <a:t>设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</a:t>
            </a:r>
            <a:r>
              <a:rPr lang="en-US" altLang="zh-CN" sz="2200" i="1" dirty="0"/>
              <a:t>,v</a:t>
            </a:r>
            <a:r>
              <a:rPr lang="en-US" altLang="zh-CN" sz="2200" i="1" baseline="-25000" dirty="0"/>
              <a:t>j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>
                <a:sym typeface="Symbol" panose="05050102010706020507" pitchFamily="18" charset="2"/>
              </a:rPr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,</a:t>
            </a:r>
            <a:r>
              <a:rPr lang="en-US" altLang="zh-CN" sz="2200" dirty="0"/>
              <a:t> 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k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l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>
                <a:sym typeface="Symbol" panose="05050102010706020507" pitchFamily="18" charset="2"/>
              </a:rPr>
              <a:t>E</a:t>
            </a:r>
            <a:r>
              <a:rPr lang="en-US" altLang="zh-CN" sz="2200" dirty="0">
                <a:sym typeface="Symbol" panose="05050102010706020507" pitchFamily="18" charset="2"/>
              </a:rPr>
              <a:t>,</a:t>
            </a:r>
            <a:r>
              <a:rPr lang="en-US" altLang="zh-CN" sz="2200" i="1" dirty="0"/>
              <a:t> </a:t>
            </a:r>
            <a:r>
              <a:rPr lang="zh-CN" altLang="en-US" sz="2200" dirty="0"/>
              <a:t>若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</a:t>
            </a:r>
            <a:r>
              <a:rPr lang="en-US" altLang="zh-CN" sz="2200" i="1" dirty="0"/>
              <a:t>,v</a:t>
            </a:r>
            <a:r>
              <a:rPr lang="en-US" altLang="zh-CN" sz="2200" i="1" baseline="-25000" dirty="0"/>
              <a:t>j</a:t>
            </a:r>
            <a:r>
              <a:rPr lang="en-US" altLang="zh-CN" sz="2200" dirty="0"/>
              <a:t>)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>
                <a:sym typeface="Symbol" panose="05050102010706020507" pitchFamily="18" charset="2"/>
              </a:rPr>
              <a:t>E</a:t>
            </a:r>
            <a:r>
              <a:rPr lang="en-US" altLang="zh-CN" sz="2200" dirty="0">
                <a:sym typeface="Symbol" panose="05050102010706020507" pitchFamily="18" charset="2"/>
              </a:rPr>
              <a:t>, </a:t>
            </a:r>
            <a:r>
              <a:rPr lang="zh-CN" altLang="en-US" sz="2200" dirty="0">
                <a:sym typeface="Symbol" panose="05050102010706020507" pitchFamily="18" charset="2"/>
              </a:rPr>
              <a:t>则称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</a:t>
            </a:r>
            <a:r>
              <a:rPr lang="en-US" altLang="zh-CN" sz="2200" i="1" dirty="0"/>
              <a:t>,v</a:t>
            </a:r>
            <a:r>
              <a:rPr lang="en-US" altLang="zh-CN" sz="2200" i="1" baseline="-25000" dirty="0"/>
              <a:t>j</a:t>
            </a:r>
            <a:r>
              <a:rPr lang="zh-CN" altLang="en-US" sz="2200" dirty="0">
                <a:solidFill>
                  <a:srgbClr val="FF3300"/>
                </a:solidFill>
              </a:rPr>
              <a:t>相邻</a:t>
            </a:r>
            <a:r>
              <a:rPr lang="en-US" altLang="zh-CN" sz="2200" dirty="0"/>
              <a:t>;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/>
              <a:t>若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k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l</a:t>
            </a:r>
            <a:r>
              <a:rPr lang="zh-CN" altLang="en-US" sz="2200" dirty="0"/>
              <a:t>有一个公共端点</a:t>
            </a:r>
            <a:r>
              <a:rPr lang="en-US" altLang="zh-CN" sz="2200" dirty="0"/>
              <a:t>, </a:t>
            </a:r>
            <a:r>
              <a:rPr lang="zh-CN" altLang="en-US" sz="2200" dirty="0"/>
              <a:t>则称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k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l</a:t>
            </a:r>
            <a:r>
              <a:rPr lang="zh-CN" altLang="en-US" sz="2200" dirty="0">
                <a:solidFill>
                  <a:srgbClr val="FF3300"/>
                </a:solidFill>
              </a:rPr>
              <a:t>相邻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/>
              <a:t>对有向图有类似定义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/>
              <a:t>设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k</a:t>
            </a:r>
            <a:r>
              <a:rPr lang="en-US" altLang="zh-CN" sz="2200" dirty="0"/>
              <a:t>=</a:t>
            </a:r>
            <a:r>
              <a:rPr lang="en-US" altLang="zh-CN" sz="2200" dirty="0">
                <a:sym typeface="Symbol" panose="05050102010706020507" pitchFamily="18" charset="2"/>
              </a:rPr>
              <a:t>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</a:t>
            </a:r>
            <a:r>
              <a:rPr lang="en-US" altLang="zh-CN" sz="2200" i="1" dirty="0"/>
              <a:t>,v</a:t>
            </a:r>
            <a:r>
              <a:rPr lang="en-US" altLang="zh-CN" sz="2200" i="1" baseline="-25000" dirty="0"/>
              <a:t>j</a:t>
            </a:r>
            <a:r>
              <a:rPr lang="en-US" altLang="zh-CN" sz="2200" dirty="0">
                <a:sym typeface="Symbol" panose="05050102010706020507" pitchFamily="18" charset="2"/>
              </a:rPr>
              <a:t></a:t>
            </a:r>
            <a:r>
              <a:rPr lang="zh-CN" altLang="en-US" sz="2200" dirty="0"/>
              <a:t>是有向图的一条边</a:t>
            </a:r>
            <a:r>
              <a:rPr lang="en-US" altLang="zh-CN" sz="2200" dirty="0"/>
              <a:t>, </a:t>
            </a:r>
            <a:r>
              <a:rPr lang="zh-CN" altLang="en-US" sz="2200" dirty="0"/>
              <a:t>又称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</a:t>
            </a:r>
            <a:r>
              <a:rPr lang="zh-CN" altLang="en-US" sz="2200" dirty="0"/>
              <a:t>是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k</a:t>
            </a:r>
            <a:r>
              <a:rPr lang="zh-CN" altLang="en-US" sz="2200" dirty="0"/>
              <a:t>的</a:t>
            </a:r>
            <a:r>
              <a:rPr lang="zh-CN" altLang="en-US" sz="2200" dirty="0">
                <a:solidFill>
                  <a:srgbClr val="FF3300"/>
                </a:solidFill>
              </a:rPr>
              <a:t>始点</a:t>
            </a:r>
            <a:r>
              <a:rPr lang="en-US" altLang="zh-CN" sz="2200" dirty="0"/>
              <a:t>, 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j</a:t>
            </a:r>
            <a:r>
              <a:rPr lang="zh-CN" altLang="en-US" sz="2200" dirty="0"/>
              <a:t>是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k</a:t>
            </a:r>
            <a:r>
              <a:rPr lang="zh-CN" altLang="en-US" sz="2200" dirty="0"/>
              <a:t>的</a:t>
            </a:r>
            <a:r>
              <a:rPr lang="zh-CN" altLang="en-US" sz="2200" dirty="0">
                <a:solidFill>
                  <a:srgbClr val="FF3300"/>
                </a:solidFill>
              </a:rPr>
              <a:t>终点</a:t>
            </a:r>
            <a:r>
              <a:rPr lang="en-US" altLang="zh-CN" sz="2200" dirty="0"/>
              <a:t>, 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</a:t>
            </a:r>
            <a:r>
              <a:rPr lang="zh-CN" altLang="en-US" sz="2200" dirty="0">
                <a:solidFill>
                  <a:srgbClr val="FF3300"/>
                </a:solidFill>
              </a:rPr>
              <a:t>邻接到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j</a:t>
            </a:r>
            <a:r>
              <a:rPr lang="en-US" altLang="zh-CN" sz="2200" dirty="0"/>
              <a:t>, 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j</a:t>
            </a:r>
            <a:r>
              <a:rPr lang="zh-CN" altLang="en-US" sz="2200" dirty="0">
                <a:solidFill>
                  <a:srgbClr val="FF3300"/>
                </a:solidFill>
              </a:rPr>
              <a:t>邻接于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</a:t>
            </a:r>
            <a:endParaRPr lang="en-US" altLang="zh-CN" sz="2200" dirty="0"/>
          </a:p>
        </p:txBody>
      </p:sp>
      <p:pic>
        <p:nvPicPr>
          <p:cNvPr id="486404" name="Picture 4" descr="14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5363" y="2046288"/>
            <a:ext cx="2941637" cy="29511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86403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86403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86403">
                                            <p:txEl>
                                              <p:charRg st="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58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86403">
                                            <p:txEl>
                                              <p:charRg st="58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86403">
                                            <p:txEl>
                                              <p:charRg st="58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86403">
                                            <p:txEl>
                                              <p:charRg st="58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77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86403">
                                            <p:txEl>
                                              <p:charRg st="77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86403">
                                            <p:txEl>
                                              <p:charRg st="77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86403">
                                            <p:txEl>
                                              <p:charRg st="77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91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86403">
                                            <p:txEl>
                                              <p:charRg st="91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86403">
                                            <p:txEl>
                                              <p:charRg st="91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86403">
                                            <p:txEl>
                                              <p:charRg st="91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123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486403">
                                            <p:txEl>
                                              <p:charRg st="123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486403">
                                            <p:txEl>
                                              <p:charRg st="123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486403">
                                            <p:txEl>
                                              <p:charRg st="123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151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486403">
                                            <p:txEl>
                                              <p:charRg st="151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486403">
                                            <p:txEl>
                                              <p:charRg st="151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486403">
                                            <p:txEl>
                                              <p:charRg st="151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180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486403">
                                            <p:txEl>
                                              <p:charRg st="180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486403">
                                            <p:txEl>
                                              <p:charRg st="180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486403">
                                            <p:txEl>
                                              <p:charRg st="180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222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486403">
                                            <p:txEl>
                                              <p:charRg st="222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486403">
                                            <p:txEl>
                                              <p:charRg st="222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486403">
                                            <p:txEl>
                                              <p:charRg st="222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248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486403">
                                            <p:txEl>
                                              <p:charRg st="248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486403">
                                            <p:txEl>
                                              <p:charRg st="248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486403">
                                            <p:txEl>
                                              <p:charRg st="248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charRg st="25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486403">
                                            <p:txEl>
                                              <p:charRg st="25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486403">
                                            <p:txEl>
                                              <p:charRg st="25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486403">
                                            <p:txEl>
                                              <p:charRg st="25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8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09956" name="Rectangle 4"/>
          <p:cNvSpPr>
            <a:spLocks noChangeArrowheads="1"/>
          </p:cNvSpPr>
          <p:nvPr/>
        </p:nvSpPr>
        <p:spPr bwMode="auto">
          <a:xfrm>
            <a:off x="1084263" y="182563"/>
            <a:ext cx="3006725" cy="5667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邻域和关联集</a:t>
            </a:r>
            <a:endParaRPr kumimoji="1" lang="zh-CN" altLang="en-US" sz="36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09960" name="Object 8"/>
          <p:cNvGraphicFramePr/>
          <p:nvPr/>
        </p:nvGraphicFramePr>
        <p:xfrm>
          <a:off x="2347913" y="5534025"/>
          <a:ext cx="296068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346200" imgH="228600" progId="Equation.3">
                  <p:embed/>
                </p:oleObj>
              </mc:Choice>
              <mc:Fallback>
                <p:oleObj name="" r:id="rId1" imgW="1346200" imgH="2286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47913" y="5534025"/>
                        <a:ext cx="2960687" cy="544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62" name="Object 10"/>
          <p:cNvGraphicFramePr/>
          <p:nvPr/>
        </p:nvGraphicFramePr>
        <p:xfrm>
          <a:off x="2166938" y="4872038"/>
          <a:ext cx="33845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536700" imgH="228600" progId="Equation.3">
                  <p:embed/>
                </p:oleObj>
              </mc:Choice>
              <mc:Fallback>
                <p:oleObj name="" r:id="rId3" imgW="15367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6938" y="4872038"/>
                        <a:ext cx="3384550" cy="544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9963" name="Text Box 11"/>
          <p:cNvSpPr txBox="1"/>
          <p:nvPr/>
        </p:nvSpPr>
        <p:spPr>
          <a:xfrm>
            <a:off x="182563" y="1084263"/>
            <a:ext cx="8382000" cy="1031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00000"/>
              </a:lnSpc>
              <a:buClr>
                <a:schemeClr val="bg2"/>
              </a:buClr>
              <a:buSzPct val="75000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设无向图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  <a:buClr>
                <a:schemeClr val="bg2"/>
              </a:buClr>
              <a:buSzPct val="75000"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的邻域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)={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)(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u,v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)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)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9964" name="Rectangle 12"/>
          <p:cNvSpPr/>
          <p:nvPr/>
        </p:nvSpPr>
        <p:spPr>
          <a:xfrm>
            <a:off x="423863" y="5534025"/>
            <a:ext cx="21637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的闭邻域</a:t>
            </a:r>
            <a:endParaRPr lang="zh-CN" altLang="en-US" sz="28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9965" name="Rectangle 13"/>
          <p:cNvSpPr/>
          <p:nvPr/>
        </p:nvSpPr>
        <p:spPr>
          <a:xfrm>
            <a:off x="363538" y="4932363"/>
            <a:ext cx="2043112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的邻域</a:t>
            </a:r>
            <a:endParaRPr lang="zh-CN" altLang="en-US" sz="28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9966" name="Rectangle 14"/>
          <p:cNvSpPr/>
          <p:nvPr/>
        </p:nvSpPr>
        <p:spPr>
          <a:xfrm>
            <a:off x="363538" y="4330700"/>
            <a:ext cx="229711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的先驱元集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9967" name="Rectangle 15"/>
          <p:cNvSpPr/>
          <p:nvPr/>
        </p:nvSpPr>
        <p:spPr>
          <a:xfrm>
            <a:off x="303213" y="3730625"/>
            <a:ext cx="229711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的后继元集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2587625" y="4238625"/>
            <a:ext cx="5832475" cy="573088"/>
            <a:chOff x="1676" y="3031"/>
            <a:chExt cx="3674" cy="361"/>
          </a:xfrm>
        </p:grpSpPr>
        <p:graphicFrame>
          <p:nvGraphicFramePr>
            <p:cNvPr id="13324" name="Object 9"/>
            <p:cNvGraphicFramePr/>
            <p:nvPr/>
          </p:nvGraphicFramePr>
          <p:xfrm>
            <a:off x="1676" y="3049"/>
            <a:ext cx="599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5" imgW="431800" imgH="228600" progId="Equation.3">
                    <p:embed/>
                  </p:oleObj>
                </mc:Choice>
                <mc:Fallback>
                  <p:oleObj name="" r:id="rId5" imgW="431800" imgH="2286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76" y="3049"/>
                          <a:ext cx="599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5" name="Rectangle 16"/>
            <p:cNvSpPr/>
            <p:nvPr/>
          </p:nvSpPr>
          <p:spPr>
            <a:xfrm>
              <a:off x="2236" y="3031"/>
              <a:ext cx="31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={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|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V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D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)&lt;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u,v&gt;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E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G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)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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v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}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" name="Group 18"/>
          <p:cNvGrpSpPr/>
          <p:nvPr/>
        </p:nvGrpSpPr>
        <p:grpSpPr>
          <a:xfrm>
            <a:off x="2587625" y="3702050"/>
            <a:ext cx="5892800" cy="569913"/>
            <a:chOff x="1676" y="2652"/>
            <a:chExt cx="3712" cy="359"/>
          </a:xfrm>
        </p:grpSpPr>
        <p:graphicFrame>
          <p:nvGraphicFramePr>
            <p:cNvPr id="13327" name="Object 7"/>
            <p:cNvGraphicFramePr/>
            <p:nvPr/>
          </p:nvGraphicFramePr>
          <p:xfrm>
            <a:off x="1676" y="2668"/>
            <a:ext cx="599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7" imgW="431800" imgH="228600" progId="Equation.3">
                    <p:embed/>
                  </p:oleObj>
                </mc:Choice>
                <mc:Fallback>
                  <p:oleObj name="" r:id="rId7" imgW="431800" imgH="2286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76" y="2668"/>
                          <a:ext cx="599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Rectangle 17"/>
            <p:cNvSpPr/>
            <p:nvPr/>
          </p:nvSpPr>
          <p:spPr>
            <a:xfrm>
              <a:off x="2274" y="2652"/>
              <a:ext cx="31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={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|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V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D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)&lt;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v,u&gt;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E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G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)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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v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}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509972" name="Rectangle 20"/>
          <p:cNvSpPr/>
          <p:nvPr/>
        </p:nvSpPr>
        <p:spPr>
          <a:xfrm>
            <a:off x="242888" y="3209925"/>
            <a:ext cx="3184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buClr>
                <a:schemeClr val="bg2"/>
              </a:buClr>
              <a:buSzPct val="75000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设有向图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9973" name="Rectangle 21"/>
          <p:cNvSpPr/>
          <p:nvPr/>
        </p:nvSpPr>
        <p:spPr>
          <a:xfrm>
            <a:off x="423863" y="2708275"/>
            <a:ext cx="6019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buClr>
                <a:schemeClr val="bg2"/>
              </a:buClr>
              <a:buSzPct val="75000"/>
            </a:pP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的关联集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)={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)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关联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4" name="Group 24"/>
          <p:cNvGrpSpPr/>
          <p:nvPr/>
        </p:nvGrpSpPr>
        <p:grpSpPr>
          <a:xfrm>
            <a:off x="2347913" y="2166938"/>
            <a:ext cx="2701925" cy="550862"/>
            <a:chOff x="1555" y="1630"/>
            <a:chExt cx="1702" cy="347"/>
          </a:xfrm>
        </p:grpSpPr>
        <p:graphicFrame>
          <p:nvGraphicFramePr>
            <p:cNvPr id="13332" name="Object 6"/>
            <p:cNvGraphicFramePr/>
            <p:nvPr/>
          </p:nvGraphicFramePr>
          <p:xfrm>
            <a:off x="1555" y="1634"/>
            <a:ext cx="528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9" imgW="381000" imgH="228600" progId="Equation.3">
                    <p:embed/>
                  </p:oleObj>
                </mc:Choice>
                <mc:Fallback>
                  <p:oleObj name="" r:id="rId9" imgW="381000" imgH="2286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55" y="1634"/>
                          <a:ext cx="528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3" name="Rectangle 22"/>
            <p:cNvSpPr/>
            <p:nvPr/>
          </p:nvSpPr>
          <p:spPr>
            <a:xfrm>
              <a:off x="2047" y="1630"/>
              <a:ext cx="121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∪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}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09975" name="Rectangle 23"/>
          <p:cNvSpPr/>
          <p:nvPr/>
        </p:nvSpPr>
        <p:spPr>
          <a:xfrm>
            <a:off x="523875" y="2166938"/>
            <a:ext cx="176371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8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的闭邻域</a:t>
            </a:r>
            <a:endParaRPr lang="zh-CN" altLang="en-US" sz="28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0996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0996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09963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3">
                                            <p:txEl>
                                              <p:charRg st="1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09963">
                                            <p:txEl>
                                              <p:charRg st="1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09963">
                                            <p:txEl>
                                              <p:charRg st="1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09963">
                                            <p:txEl>
                                              <p:charRg st="1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0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509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509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509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" dur="80"/>
                                        <p:tgtEl>
                                          <p:spTgt spid="50997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9" dur="80"/>
                                        <p:tgtEl>
                                          <p:spTgt spid="50997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80"/>
                                        <p:tgtEl>
                                          <p:spTgt spid="509972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5" dur="80"/>
                                        <p:tgtEl>
                                          <p:spTgt spid="5099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6" dur="80"/>
                                        <p:tgtEl>
                                          <p:spTgt spid="5099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80"/>
                                        <p:tgtEl>
                                          <p:spTgt spid="5099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7" dur="80"/>
                                        <p:tgtEl>
                                          <p:spTgt spid="50996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8" dur="80"/>
                                        <p:tgtEl>
                                          <p:spTgt spid="50996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80"/>
                                        <p:tgtEl>
                                          <p:spTgt spid="509966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9" dur="80"/>
                                        <p:tgtEl>
                                          <p:spTgt spid="50996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0" dur="80"/>
                                        <p:tgtEl>
                                          <p:spTgt spid="50996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80"/>
                                        <p:tgtEl>
                                          <p:spTgt spid="50996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0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1" dur="80"/>
                                        <p:tgtEl>
                                          <p:spTgt spid="50996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2" dur="80"/>
                                        <p:tgtEl>
                                          <p:spTgt spid="50996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80"/>
                                        <p:tgtEl>
                                          <p:spTgt spid="50996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0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67" grpId="0"/>
      <p:bldP spid="509973" grpId="0"/>
      <p:bldP spid="5099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47788" y="182563"/>
            <a:ext cx="2382838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简单图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5619" name="Rectangle 3"/>
          <p:cNvSpPr>
            <a:spLocks noGrp="1"/>
          </p:cNvSpPr>
          <p:nvPr>
            <p:ph idx="1"/>
          </p:nvPr>
        </p:nvSpPr>
        <p:spPr>
          <a:xfrm>
            <a:off x="363538" y="1023938"/>
            <a:ext cx="8269287" cy="3160712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200" dirty="0">
                <a:solidFill>
                  <a:srgbClr val="FF3300"/>
                </a:solidFill>
              </a:rPr>
              <a:t>定义</a:t>
            </a:r>
            <a:r>
              <a:rPr lang="en-US" altLang="zh-CN" sz="2200" dirty="0">
                <a:solidFill>
                  <a:srgbClr val="FF3300"/>
                </a:solidFill>
              </a:rPr>
              <a:t>11.3</a:t>
            </a:r>
            <a:r>
              <a:rPr lang="en-US" altLang="zh-CN" sz="2200" dirty="0"/>
              <a:t> </a:t>
            </a:r>
            <a:r>
              <a:rPr lang="zh-CN" altLang="en-US" sz="2200" dirty="0"/>
              <a:t>在无向图中</a:t>
            </a:r>
            <a:r>
              <a:rPr lang="en-US" altLang="zh-CN" sz="2200" dirty="0"/>
              <a:t>, </a:t>
            </a:r>
            <a:r>
              <a:rPr lang="zh-CN" altLang="en-US" sz="2200" dirty="0"/>
              <a:t>关联同一对顶点的</a:t>
            </a:r>
            <a:r>
              <a:rPr lang="en-US" altLang="zh-CN" sz="2200" dirty="0"/>
              <a:t>2</a:t>
            </a:r>
            <a:r>
              <a:rPr lang="zh-CN" altLang="en-US" sz="2200" dirty="0"/>
              <a:t>条或</a:t>
            </a:r>
            <a:r>
              <a:rPr lang="en-US" altLang="zh-CN" sz="2200" dirty="0"/>
              <a:t>2</a:t>
            </a:r>
            <a:r>
              <a:rPr lang="zh-CN" altLang="en-US" sz="2200" dirty="0"/>
              <a:t>条以上的边</a:t>
            </a:r>
            <a:r>
              <a:rPr lang="en-US" altLang="zh-CN" sz="2200" dirty="0"/>
              <a:t>, </a:t>
            </a:r>
            <a:r>
              <a:rPr lang="zh-CN" altLang="en-US" sz="2200" dirty="0"/>
              <a:t>称为</a:t>
            </a:r>
            <a:r>
              <a:rPr lang="zh-CN" altLang="en-US" sz="2200" dirty="0">
                <a:solidFill>
                  <a:srgbClr val="FF3300"/>
                </a:solidFill>
              </a:rPr>
              <a:t>平行边</a:t>
            </a:r>
            <a:r>
              <a:rPr lang="en-US" altLang="zh-CN" sz="2200" dirty="0"/>
              <a:t>, </a:t>
            </a:r>
            <a:r>
              <a:rPr lang="zh-CN" altLang="en-US" sz="2200" dirty="0"/>
              <a:t>平行边的条数称为</a:t>
            </a:r>
            <a:r>
              <a:rPr lang="zh-CN" altLang="en-US" sz="2200" dirty="0">
                <a:solidFill>
                  <a:srgbClr val="FF3300"/>
                </a:solidFill>
              </a:rPr>
              <a:t>重数</a:t>
            </a:r>
            <a:r>
              <a:rPr lang="en-US" altLang="zh-CN" sz="2200" dirty="0">
                <a:solidFill>
                  <a:srgbClr val="FF3300"/>
                </a:solidFill>
              </a:rPr>
              <a:t>.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200" dirty="0"/>
              <a:t>在有向图中</a:t>
            </a:r>
            <a:r>
              <a:rPr lang="en-US" altLang="zh-CN" sz="2200" dirty="0"/>
              <a:t>, </a:t>
            </a:r>
            <a:r>
              <a:rPr lang="zh-CN" altLang="en-US" sz="2200" dirty="0"/>
              <a:t>具有相同始点和终点的</a:t>
            </a:r>
            <a:r>
              <a:rPr lang="en-US" altLang="zh-CN" sz="2200" dirty="0"/>
              <a:t>2</a:t>
            </a:r>
            <a:r>
              <a:rPr lang="zh-CN" altLang="en-US" sz="2200" dirty="0"/>
              <a:t>条或</a:t>
            </a:r>
            <a:r>
              <a:rPr lang="en-US" altLang="zh-CN" sz="2200" dirty="0"/>
              <a:t>2</a:t>
            </a:r>
            <a:r>
              <a:rPr lang="zh-CN" altLang="en-US" sz="2200" dirty="0"/>
              <a:t>条以上的边称为</a:t>
            </a:r>
            <a:r>
              <a:rPr lang="zh-CN" altLang="en-US" sz="2200" dirty="0">
                <a:solidFill>
                  <a:srgbClr val="FF3300"/>
                </a:solidFill>
              </a:rPr>
              <a:t>有向平行边</a:t>
            </a:r>
            <a:r>
              <a:rPr lang="en-US" altLang="zh-CN" sz="2200" dirty="0"/>
              <a:t>, </a:t>
            </a:r>
            <a:r>
              <a:rPr lang="zh-CN" altLang="en-US" sz="2200" dirty="0"/>
              <a:t>简称</a:t>
            </a:r>
            <a:r>
              <a:rPr lang="zh-CN" altLang="en-US" sz="2200" dirty="0">
                <a:solidFill>
                  <a:srgbClr val="FF3300"/>
                </a:solidFill>
              </a:rPr>
              <a:t>平行边</a:t>
            </a:r>
            <a:r>
              <a:rPr lang="en-US" altLang="zh-CN" sz="2200" dirty="0"/>
              <a:t>, </a:t>
            </a:r>
            <a:r>
              <a:rPr lang="zh-CN" altLang="en-US" sz="2200" dirty="0"/>
              <a:t>平行边的条数称为</a:t>
            </a:r>
            <a:r>
              <a:rPr lang="zh-CN" altLang="en-US" sz="2200" dirty="0">
                <a:solidFill>
                  <a:srgbClr val="FF3300"/>
                </a:solidFill>
              </a:rPr>
              <a:t>重数</a:t>
            </a:r>
            <a:r>
              <a:rPr lang="en-US" altLang="zh-CN" sz="2200" dirty="0">
                <a:solidFill>
                  <a:srgbClr val="FF3300"/>
                </a:solidFill>
              </a:rPr>
              <a:t>.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200" dirty="0"/>
              <a:t>含平行边的图称为</a:t>
            </a:r>
            <a:r>
              <a:rPr lang="zh-CN" altLang="en-US" sz="2200" dirty="0">
                <a:solidFill>
                  <a:srgbClr val="FF3300"/>
                </a:solidFill>
              </a:rPr>
              <a:t>多重图</a:t>
            </a:r>
            <a:endParaRPr lang="zh-CN" altLang="en-US" sz="2200" dirty="0"/>
          </a:p>
          <a:p>
            <a:pPr marL="0"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200" dirty="0"/>
              <a:t>既无平行边也无环的图称为</a:t>
            </a:r>
            <a:r>
              <a:rPr lang="zh-CN" altLang="en-US" sz="2200" dirty="0">
                <a:solidFill>
                  <a:srgbClr val="FF3300"/>
                </a:solidFill>
              </a:rPr>
              <a:t>简单图</a:t>
            </a:r>
            <a:endParaRPr lang="zh-CN" altLang="en-US" sz="2200" dirty="0"/>
          </a:p>
        </p:txBody>
      </p:sp>
      <p:pic>
        <p:nvPicPr>
          <p:cNvPr id="495620" name="Picture 4" descr="14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2688" y="3729038"/>
            <a:ext cx="2808287" cy="2767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5635" name="Rectangle 19"/>
          <p:cNvSpPr/>
          <p:nvPr/>
        </p:nvSpPr>
        <p:spPr>
          <a:xfrm>
            <a:off x="784225" y="3970338"/>
            <a:ext cx="1422400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11.1(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续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95636" name="Picture 20" descr="14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375" y="3970338"/>
            <a:ext cx="2941638" cy="2470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95619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95619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95619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charRg st="5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95619">
                                            <p:txEl>
                                              <p:charRg st="5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95619">
                                            <p:txEl>
                                              <p:charRg st="5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95619">
                                            <p:txEl>
                                              <p:charRg st="5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charRg st="106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95619">
                                            <p:txEl>
                                              <p:charRg st="106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95619">
                                            <p:txEl>
                                              <p:charRg st="106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95619">
                                            <p:txEl>
                                              <p:charRg st="106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charRg st="118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95619">
                                            <p:txEl>
                                              <p:charRg st="118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95619">
                                            <p:txEl>
                                              <p:charRg st="118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95619">
                                            <p:txEl>
                                              <p:charRg st="118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4956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4956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4956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9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9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61913"/>
            <a:ext cx="2979738" cy="6302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顶点的度数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7427" name="Rectangle 3"/>
          <p:cNvSpPr>
            <a:spLocks noGrp="1"/>
          </p:cNvSpPr>
          <p:nvPr>
            <p:ph idx="1"/>
          </p:nvPr>
        </p:nvSpPr>
        <p:spPr>
          <a:xfrm>
            <a:off x="363538" y="1204913"/>
            <a:ext cx="5711825" cy="3065462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rgbClr val="FF3300"/>
                </a:solidFill>
              </a:rPr>
              <a:t>定义</a:t>
            </a:r>
            <a:r>
              <a:rPr lang="en-US" altLang="zh-CN" sz="2200" dirty="0">
                <a:solidFill>
                  <a:srgbClr val="FF3300"/>
                </a:solidFill>
              </a:rPr>
              <a:t>11.4(1)</a:t>
            </a:r>
            <a:r>
              <a:rPr lang="zh-CN" altLang="en-US" sz="2200" dirty="0"/>
              <a:t>设</a:t>
            </a:r>
            <a:r>
              <a:rPr lang="en-US" altLang="zh-CN" sz="2200" i="1" dirty="0"/>
              <a:t>G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</a:t>
            </a:r>
            <a:r>
              <a:rPr lang="zh-CN" altLang="en-US" sz="2200" dirty="0"/>
              <a:t>为无向图</a:t>
            </a:r>
            <a:r>
              <a:rPr lang="en-US" altLang="zh-CN" sz="2200" dirty="0"/>
              <a:t>, 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endParaRPr lang="en-US" altLang="zh-CN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zh-CN" altLang="en-US" sz="2200" dirty="0">
                <a:solidFill>
                  <a:srgbClr val="FF3300"/>
                </a:solidFill>
              </a:rPr>
              <a:t>的度数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zh-CN" altLang="en-US" sz="2200" dirty="0">
                <a:solidFill>
                  <a:srgbClr val="FF3300"/>
                </a:solidFill>
              </a:rPr>
              <a:t>度</a:t>
            </a:r>
            <a:r>
              <a:rPr lang="en-US" altLang="zh-CN" sz="2200" dirty="0">
                <a:solidFill>
                  <a:srgbClr val="FF3300"/>
                </a:solidFill>
              </a:rPr>
              <a:t>)</a:t>
            </a:r>
            <a:r>
              <a:rPr lang="en-US" altLang="zh-CN" sz="2200" dirty="0">
                <a:solidFill>
                  <a:srgbClr val="FF0066"/>
                </a:solidFill>
              </a:rPr>
              <a:t> </a:t>
            </a: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en-US" altLang="zh-CN" sz="2200" dirty="0">
                <a:solidFill>
                  <a:srgbClr val="FF3300"/>
                </a:solidFill>
              </a:rPr>
              <a:t>)</a:t>
            </a:r>
            <a:r>
              <a:rPr lang="en-US" altLang="zh-CN" sz="2200" dirty="0"/>
              <a:t>: </a:t>
            </a:r>
            <a:r>
              <a:rPr lang="en-US" altLang="zh-CN" sz="2200" i="1" dirty="0"/>
              <a:t>v</a:t>
            </a:r>
            <a:r>
              <a:rPr lang="zh-CN" altLang="en-US" sz="2200" dirty="0"/>
              <a:t>作为边的端点次数之和 </a:t>
            </a:r>
            <a:endParaRPr lang="zh-CN" altLang="en-US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rgbClr val="FF3300"/>
                </a:solidFill>
              </a:rPr>
              <a:t>悬挂顶点</a:t>
            </a:r>
            <a:r>
              <a:rPr lang="en-US" altLang="zh-CN" sz="2200" dirty="0"/>
              <a:t>: </a:t>
            </a:r>
            <a:r>
              <a:rPr lang="zh-CN" altLang="en-US" sz="2200" dirty="0"/>
              <a:t>度数为</a:t>
            </a:r>
            <a:r>
              <a:rPr lang="en-US" altLang="zh-CN" sz="2200" dirty="0"/>
              <a:t>1</a:t>
            </a:r>
            <a:r>
              <a:rPr lang="zh-CN" altLang="en-US" sz="2200" dirty="0"/>
              <a:t>的顶点</a:t>
            </a:r>
            <a:endParaRPr lang="zh-CN" altLang="en-US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rgbClr val="FF3300"/>
                </a:solidFill>
              </a:rPr>
              <a:t>悬挂边</a:t>
            </a:r>
            <a:r>
              <a:rPr lang="en-US" altLang="zh-CN" sz="2200" dirty="0"/>
              <a:t>: </a:t>
            </a:r>
            <a:r>
              <a:rPr lang="zh-CN" altLang="en-US" sz="2200" dirty="0"/>
              <a:t>与悬挂顶点关联的边</a:t>
            </a:r>
            <a:endParaRPr lang="zh-CN" altLang="en-US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en-US" altLang="zh-CN" sz="2200" i="1" dirty="0">
                <a:solidFill>
                  <a:srgbClr val="FF3300"/>
                </a:solidFill>
              </a:rPr>
              <a:t>G</a:t>
            </a:r>
            <a:r>
              <a:rPr lang="zh-CN" altLang="en-US" sz="2200" dirty="0">
                <a:solidFill>
                  <a:srgbClr val="FF3300"/>
                </a:solidFill>
                <a:sym typeface="Symbol" panose="05050102010706020507" pitchFamily="18" charset="2"/>
              </a:rPr>
              <a:t>的最大度</a:t>
            </a:r>
            <a:r>
              <a:rPr lang="zh-CN" altLang="en-US" sz="2200" i="1" dirty="0">
                <a:solidFill>
                  <a:srgbClr val="FF3300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G</a:t>
            </a:r>
            <a:r>
              <a:rPr lang="en-US" altLang="zh-CN" sz="2200" dirty="0">
                <a:solidFill>
                  <a:srgbClr val="FF3300"/>
                </a:solidFill>
              </a:rPr>
              <a:t>)</a:t>
            </a:r>
            <a:r>
              <a:rPr lang="en-US" altLang="zh-CN" sz="2200" dirty="0"/>
              <a:t>=max{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dirty="0"/>
              <a:t>)| 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V</a:t>
            </a:r>
            <a:r>
              <a:rPr lang="en-US" altLang="zh-CN" sz="2200" dirty="0"/>
              <a:t>}</a:t>
            </a:r>
            <a:endParaRPr lang="en-US" altLang="zh-CN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en-US" altLang="zh-CN" sz="2200" i="1" dirty="0">
                <a:solidFill>
                  <a:srgbClr val="FF3300"/>
                </a:solidFill>
              </a:rPr>
              <a:t>G</a:t>
            </a:r>
            <a:r>
              <a:rPr lang="zh-CN" altLang="en-US" sz="2200" dirty="0">
                <a:solidFill>
                  <a:srgbClr val="FF3300"/>
                </a:solidFill>
                <a:sym typeface="Symbol" panose="05050102010706020507" pitchFamily="18" charset="2"/>
              </a:rPr>
              <a:t>的最小度</a:t>
            </a:r>
            <a:r>
              <a:rPr lang="zh-CN" altLang="en-US" sz="2200" i="1" dirty="0">
                <a:solidFill>
                  <a:srgbClr val="FF330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G</a:t>
            </a:r>
            <a:r>
              <a:rPr lang="en-US" altLang="zh-CN" sz="2200" dirty="0">
                <a:solidFill>
                  <a:srgbClr val="FF3300"/>
                </a:solidFill>
              </a:rPr>
              <a:t>)</a:t>
            </a:r>
            <a:r>
              <a:rPr lang="en-US" altLang="zh-CN" sz="2200" dirty="0"/>
              <a:t>=min{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dirty="0"/>
              <a:t>)| 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V</a:t>
            </a:r>
            <a:r>
              <a:rPr lang="en-US" altLang="zh-CN" sz="2200" dirty="0"/>
              <a:t>}</a:t>
            </a:r>
            <a:endParaRPr lang="en-US" altLang="zh-CN" sz="2200" dirty="0"/>
          </a:p>
        </p:txBody>
      </p:sp>
      <p:sp>
        <p:nvSpPr>
          <p:cNvPr id="487442" name="Rectangle 18"/>
          <p:cNvSpPr/>
          <p:nvPr/>
        </p:nvSpPr>
        <p:spPr>
          <a:xfrm>
            <a:off x="482600" y="4090988"/>
            <a:ext cx="4572000" cy="2139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  右图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)=3,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)=4,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)=4,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   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)=4,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)=1,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是悬挂顶点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是悬挂边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是环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87443" name="Picture 19" descr="14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3988" y="3484563"/>
            <a:ext cx="2941637" cy="29511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87427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87427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87427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charRg st="28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87427">
                                            <p:txEl>
                                              <p:charRg st="28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87427">
                                            <p:txEl>
                                              <p:charRg st="28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87427">
                                            <p:txEl>
                                              <p:charRg st="28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charRg st="55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87427">
                                            <p:txEl>
                                              <p:charRg st="55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87427">
                                            <p:txEl>
                                              <p:charRg st="55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87427">
                                            <p:txEl>
                                              <p:charRg st="55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charRg st="69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87427">
                                            <p:txEl>
                                              <p:charRg st="69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charRg st="84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487427">
                                            <p:txEl>
                                              <p:charRg st="84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487427">
                                            <p:txEl>
                                              <p:charRg st="84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487427">
                                            <p:txEl>
                                              <p:charRg st="84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charRg st="109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"/>
                                        <p:tgtEl>
                                          <p:spTgt spid="487427">
                                            <p:txEl>
                                              <p:charRg st="109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"/>
                                        <p:tgtEl>
                                          <p:spTgt spid="487427">
                                            <p:txEl>
                                              <p:charRg st="109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"/>
                                        <p:tgtEl>
                                          <p:spTgt spid="487427">
                                            <p:txEl>
                                              <p:charRg st="109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48744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48744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487442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8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2">
                                            <p:txEl>
                                              <p:charRg st="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9" dur="80"/>
                                        <p:tgtEl>
                                          <p:spTgt spid="487442">
                                            <p:txEl>
                                              <p:charRg st="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0" dur="80"/>
                                        <p:tgtEl>
                                          <p:spTgt spid="487442">
                                            <p:txEl>
                                              <p:charRg st="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80"/>
                                        <p:tgtEl>
                                          <p:spTgt spid="487442">
                                            <p:txEl>
                                              <p:charRg st="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2">
                                            <p:txEl>
                                              <p:charRg st="4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6" dur="80"/>
                                        <p:tgtEl>
                                          <p:spTgt spid="487442">
                                            <p:txEl>
                                              <p:charRg st="4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7" dur="80"/>
                                        <p:tgtEl>
                                          <p:spTgt spid="487442">
                                            <p:txEl>
                                              <p:charRg st="4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80"/>
                                        <p:tgtEl>
                                          <p:spTgt spid="487442">
                                            <p:txEl>
                                              <p:charRg st="4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2">
                                            <p:txEl>
                                              <p:charRg st="73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3" dur="80"/>
                                        <p:tgtEl>
                                          <p:spTgt spid="487442">
                                            <p:txEl>
                                              <p:charRg st="73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4" dur="80"/>
                                        <p:tgtEl>
                                          <p:spTgt spid="487442">
                                            <p:txEl>
                                              <p:charRg st="73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80"/>
                                        <p:tgtEl>
                                          <p:spTgt spid="487442">
                                            <p:txEl>
                                              <p:charRg st="73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3581400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顶点的度数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</a:t>
            </a: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续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1" lang="en-US" altLang="zh-CN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8451" name="Rectangle 3"/>
          <p:cNvSpPr>
            <a:spLocks noGrp="1"/>
          </p:cNvSpPr>
          <p:nvPr>
            <p:ph idx="1"/>
          </p:nvPr>
        </p:nvSpPr>
        <p:spPr>
          <a:xfrm>
            <a:off x="303213" y="1023938"/>
            <a:ext cx="6134100" cy="3486150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rgbClr val="FF3300"/>
                </a:solidFill>
              </a:rPr>
              <a:t>定义</a:t>
            </a:r>
            <a:r>
              <a:rPr lang="en-US" altLang="zh-CN" sz="2200" dirty="0">
                <a:solidFill>
                  <a:srgbClr val="FF3300"/>
                </a:solidFill>
              </a:rPr>
              <a:t>11.4(2)</a:t>
            </a:r>
            <a:r>
              <a:rPr lang="zh-CN" altLang="en-US" sz="2200" dirty="0"/>
              <a:t>设</a:t>
            </a:r>
            <a:r>
              <a:rPr lang="en-US" altLang="zh-CN" sz="2200" i="1" dirty="0"/>
              <a:t>D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</a:t>
            </a:r>
            <a:r>
              <a:rPr lang="zh-CN" altLang="en-US" sz="2200" dirty="0"/>
              <a:t>为有向图</a:t>
            </a:r>
            <a:r>
              <a:rPr lang="en-US" altLang="zh-CN" sz="2200" dirty="0"/>
              <a:t>, 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endParaRPr lang="en-US" altLang="zh-CN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zh-CN" altLang="en-US" sz="2200" dirty="0">
                <a:solidFill>
                  <a:srgbClr val="FF3300"/>
                </a:solidFill>
              </a:rPr>
              <a:t>的出度</a:t>
            </a: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en-US" altLang="zh-CN" sz="2200" baseline="30000" dirty="0">
                <a:solidFill>
                  <a:srgbClr val="FF3300"/>
                </a:solidFill>
              </a:rPr>
              <a:t>+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en-US" altLang="zh-CN" sz="2200" dirty="0">
                <a:solidFill>
                  <a:srgbClr val="FF3300"/>
                </a:solidFill>
              </a:rPr>
              <a:t>)</a:t>
            </a:r>
            <a:r>
              <a:rPr lang="en-US" altLang="zh-CN" sz="2200" dirty="0"/>
              <a:t>: </a:t>
            </a:r>
            <a:r>
              <a:rPr lang="en-US" altLang="zh-CN" sz="2200" i="1" dirty="0"/>
              <a:t>v</a:t>
            </a:r>
            <a:r>
              <a:rPr lang="zh-CN" altLang="en-US" sz="2200" dirty="0"/>
              <a:t>作为边的始点次数之和</a:t>
            </a:r>
            <a:endParaRPr lang="zh-CN" altLang="en-US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zh-CN" altLang="en-US" sz="2200" dirty="0">
                <a:solidFill>
                  <a:srgbClr val="FF3300"/>
                </a:solidFill>
              </a:rPr>
              <a:t>的入度</a:t>
            </a: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en-US" altLang="zh-CN" sz="2200" baseline="30000" dirty="0">
                <a:solidFill>
                  <a:srgbClr val="FF3300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en-US" altLang="zh-CN" sz="2200" dirty="0">
                <a:solidFill>
                  <a:srgbClr val="FF3300"/>
                </a:solidFill>
              </a:rPr>
              <a:t>)</a:t>
            </a:r>
            <a:r>
              <a:rPr lang="en-US" altLang="zh-CN" sz="2200" dirty="0"/>
              <a:t>: </a:t>
            </a:r>
            <a:r>
              <a:rPr lang="en-US" altLang="zh-CN" sz="2200" i="1" dirty="0"/>
              <a:t>v</a:t>
            </a:r>
            <a:r>
              <a:rPr lang="zh-CN" altLang="en-US" sz="2200" dirty="0"/>
              <a:t>作为边的终点次数之和</a:t>
            </a:r>
            <a:endParaRPr lang="zh-CN" altLang="en-US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zh-CN" altLang="en-US" sz="2200" dirty="0">
                <a:solidFill>
                  <a:srgbClr val="FF3300"/>
                </a:solidFill>
              </a:rPr>
              <a:t>的度数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zh-CN" altLang="en-US" sz="2200" dirty="0">
                <a:solidFill>
                  <a:srgbClr val="FF3300"/>
                </a:solidFill>
              </a:rPr>
              <a:t>度</a:t>
            </a:r>
            <a:r>
              <a:rPr lang="en-US" altLang="zh-CN" sz="2200" dirty="0">
                <a:solidFill>
                  <a:srgbClr val="FF3300"/>
                </a:solidFill>
              </a:rPr>
              <a:t>) </a:t>
            </a: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en-US" altLang="zh-CN" sz="2200" dirty="0">
                <a:solidFill>
                  <a:srgbClr val="FF3300"/>
                </a:solidFill>
              </a:rPr>
              <a:t>)</a:t>
            </a:r>
            <a:r>
              <a:rPr lang="en-US" altLang="zh-CN" sz="2200" dirty="0"/>
              <a:t>: </a:t>
            </a:r>
            <a:r>
              <a:rPr lang="en-US" altLang="zh-CN" sz="2200" i="1" dirty="0"/>
              <a:t>v</a:t>
            </a:r>
            <a:r>
              <a:rPr lang="zh-CN" altLang="en-US" sz="2200" dirty="0"/>
              <a:t>作为边的端点次数之和</a:t>
            </a:r>
            <a:endParaRPr lang="zh-CN" altLang="en-US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zh-CN" altLang="en-US" sz="2200" i="1" dirty="0"/>
              <a:t>             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dirty="0"/>
              <a:t>)= </a:t>
            </a:r>
            <a:r>
              <a:rPr lang="en-US" altLang="zh-CN" sz="2200" i="1" dirty="0"/>
              <a:t>d</a:t>
            </a:r>
            <a:r>
              <a:rPr lang="en-US" altLang="zh-CN" sz="2200" baseline="30000" dirty="0"/>
              <a:t>+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dirty="0"/>
              <a:t>)+ </a:t>
            </a:r>
            <a:r>
              <a:rPr lang="en-US" altLang="zh-CN" sz="2200" i="1" dirty="0"/>
              <a:t>d</a:t>
            </a:r>
            <a:r>
              <a:rPr lang="en-US" altLang="zh-CN" sz="2200" i="1" baseline="30000" dirty="0">
                <a:sym typeface="Symbol" panose="05050102010706020507" pitchFamily="18" charset="2"/>
              </a:rPr>
              <a:t>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dirty="0"/>
              <a:t>)</a:t>
            </a:r>
            <a:endParaRPr lang="en-US" altLang="zh-CN" sz="2200" dirty="0"/>
          </a:p>
          <a:p>
            <a:pPr marL="0" algn="just" eaLnBrk="1" hangingPunct="1">
              <a:lnSpc>
                <a:spcPct val="115000"/>
              </a:lnSpc>
            </a:pP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zh-CN" altLang="en-US" sz="2200" dirty="0">
                <a:solidFill>
                  <a:srgbClr val="FF3300"/>
                </a:solidFill>
              </a:rPr>
              <a:t>的最大出度</a:t>
            </a:r>
            <a:r>
              <a:rPr lang="zh-CN" altLang="en-US" sz="2200" i="1" dirty="0">
                <a:solidFill>
                  <a:srgbClr val="FF3300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200" baseline="30000" dirty="0">
                <a:solidFill>
                  <a:srgbClr val="FF3300"/>
                </a:solidFill>
              </a:rPr>
              <a:t>+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en-US" altLang="zh-CN" sz="2200" dirty="0">
                <a:solidFill>
                  <a:srgbClr val="FF3300"/>
                </a:solidFill>
              </a:rPr>
              <a:t>), </a:t>
            </a:r>
            <a:r>
              <a:rPr lang="zh-CN" altLang="en-US" sz="2200" dirty="0">
                <a:solidFill>
                  <a:srgbClr val="FF3300"/>
                </a:solidFill>
              </a:rPr>
              <a:t>最小出度</a:t>
            </a:r>
            <a:r>
              <a:rPr lang="zh-CN" altLang="en-US" sz="2200" i="1" dirty="0">
                <a:solidFill>
                  <a:srgbClr val="FF330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2200" baseline="30000" dirty="0">
                <a:solidFill>
                  <a:srgbClr val="FF3300"/>
                </a:solidFill>
              </a:rPr>
              <a:t>+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en-US" altLang="zh-CN" sz="2200" dirty="0">
                <a:solidFill>
                  <a:srgbClr val="FF3300"/>
                </a:solidFill>
              </a:rPr>
              <a:t>)</a:t>
            </a:r>
            <a:endParaRPr lang="en-US" altLang="zh-CN" sz="2200" dirty="0"/>
          </a:p>
          <a:p>
            <a:pPr marL="0" algn="just"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rgbClr val="FF3300"/>
                </a:solidFill>
              </a:rPr>
              <a:t>       </a:t>
            </a:r>
            <a:r>
              <a:rPr lang="zh-CN" altLang="en-US" sz="2200" dirty="0">
                <a:solidFill>
                  <a:srgbClr val="FF3300"/>
                </a:solidFill>
              </a:rPr>
              <a:t>最大入度</a:t>
            </a:r>
            <a:r>
              <a:rPr lang="zh-CN" altLang="en-US" sz="2200" i="1" dirty="0">
                <a:solidFill>
                  <a:srgbClr val="FF3300"/>
                </a:solidFill>
                <a:sym typeface="Symbol" panose="05050102010706020507" pitchFamily="18" charset="2"/>
              </a:rPr>
              <a:t></a:t>
            </a:r>
            <a:r>
              <a:rPr lang="zh-CN" altLang="en-US" sz="2200" baseline="30000" dirty="0">
                <a:solidFill>
                  <a:srgbClr val="FF3300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en-US" altLang="zh-CN" sz="2200" dirty="0">
                <a:solidFill>
                  <a:srgbClr val="FF3300"/>
                </a:solidFill>
              </a:rPr>
              <a:t>), </a:t>
            </a:r>
            <a:r>
              <a:rPr lang="zh-CN" altLang="en-US" sz="2200" dirty="0">
                <a:solidFill>
                  <a:srgbClr val="FF3300"/>
                </a:solidFill>
              </a:rPr>
              <a:t>最小入度</a:t>
            </a:r>
            <a:r>
              <a:rPr lang="zh-CN" altLang="en-US" sz="2200" i="1" dirty="0">
                <a:solidFill>
                  <a:srgbClr val="FF3300"/>
                </a:solidFill>
                <a:sym typeface="Symbol" panose="05050102010706020507" pitchFamily="18" charset="2"/>
              </a:rPr>
              <a:t></a:t>
            </a:r>
            <a:r>
              <a:rPr lang="zh-CN" altLang="en-US" sz="2200" baseline="30000" dirty="0">
                <a:solidFill>
                  <a:srgbClr val="FF3300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en-US" altLang="zh-CN" sz="2200" dirty="0">
                <a:solidFill>
                  <a:srgbClr val="FF3300"/>
                </a:solidFill>
              </a:rPr>
              <a:t>)</a:t>
            </a:r>
            <a:endParaRPr lang="en-US" altLang="zh-CN" sz="2200" dirty="0"/>
          </a:p>
          <a:p>
            <a:pPr marL="0" algn="just"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rgbClr val="FF3300"/>
                </a:solidFill>
              </a:rPr>
              <a:t>       </a:t>
            </a:r>
            <a:r>
              <a:rPr lang="zh-CN" altLang="en-US" sz="2200" dirty="0">
                <a:solidFill>
                  <a:srgbClr val="FF3300"/>
                </a:solidFill>
              </a:rPr>
              <a:t>最大度</a:t>
            </a:r>
            <a:r>
              <a:rPr lang="zh-CN" altLang="en-US" sz="2200" i="1" dirty="0">
                <a:solidFill>
                  <a:srgbClr val="FF3300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en-US" altLang="zh-CN" sz="2200" dirty="0">
                <a:solidFill>
                  <a:srgbClr val="FF3300"/>
                </a:solidFill>
              </a:rPr>
              <a:t>), </a:t>
            </a:r>
            <a:r>
              <a:rPr lang="zh-CN" altLang="en-US" sz="2200" dirty="0">
                <a:solidFill>
                  <a:srgbClr val="FF3300"/>
                </a:solidFill>
              </a:rPr>
              <a:t>最小度</a:t>
            </a:r>
            <a:r>
              <a:rPr lang="zh-CN" altLang="en-US" sz="2200" i="1" dirty="0">
                <a:solidFill>
                  <a:srgbClr val="FF330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en-US" altLang="zh-CN" sz="2200" dirty="0">
                <a:solidFill>
                  <a:srgbClr val="FF3300"/>
                </a:solidFill>
              </a:rPr>
              <a:t>) </a:t>
            </a:r>
            <a:endParaRPr lang="en-US" altLang="zh-CN" sz="2200" dirty="0">
              <a:solidFill>
                <a:srgbClr val="FF3300"/>
              </a:solidFill>
            </a:endParaRPr>
          </a:p>
        </p:txBody>
      </p:sp>
      <p:sp>
        <p:nvSpPr>
          <p:cNvPr id="488465" name="Rectangle 17"/>
          <p:cNvSpPr/>
          <p:nvPr/>
        </p:nvSpPr>
        <p:spPr>
          <a:xfrm>
            <a:off x="784225" y="4572000"/>
            <a:ext cx="4810125" cy="1803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</a:t>
            </a:r>
            <a:r>
              <a:rPr lang="zh-CN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右图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)=4,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i="1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)=1,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)=5,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d</a:t>
            </a:r>
            <a:r>
              <a:rPr lang="en-US" altLang="zh-CN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)=0,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i="1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)=3,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)=3,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    </a:t>
            </a:r>
            <a:r>
              <a:rPr lang="en-US" altLang="zh-CN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=4,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=3,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=1,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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=5,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=3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88466" name="Picture 18" descr="14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163" y="3357563"/>
            <a:ext cx="3095625" cy="30495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8845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8845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8845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charRg st="2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88451">
                                            <p:txEl>
                                              <p:charRg st="2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88451">
                                            <p:txEl>
                                              <p:charRg st="2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88451">
                                            <p:txEl>
                                              <p:charRg st="2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charRg st="51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88451">
                                            <p:txEl>
                                              <p:charRg st="51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88451">
                                            <p:txEl>
                                              <p:charRg st="51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88451">
                                            <p:txEl>
                                              <p:charRg st="51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charRg st="74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88451">
                                            <p:txEl>
                                              <p:charRg st="74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88451">
                                            <p:txEl>
                                              <p:charRg st="74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88451">
                                            <p:txEl>
                                              <p:charRg st="74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charRg st="10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488451">
                                            <p:txEl>
                                              <p:charRg st="10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488451">
                                            <p:txEl>
                                              <p:charRg st="10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488451">
                                            <p:txEl>
                                              <p:charRg st="10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charRg st="132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488451">
                                            <p:txEl>
                                              <p:charRg st="132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488451">
                                            <p:txEl>
                                              <p:charRg st="132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488451">
                                            <p:txEl>
                                              <p:charRg st="132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charRg st="155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488451">
                                            <p:txEl>
                                              <p:charRg st="155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488451">
                                            <p:txEl>
                                              <p:charRg st="155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488451">
                                            <p:txEl>
                                              <p:charRg st="155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charRg st="183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488451">
                                            <p:txEl>
                                              <p:charRg st="183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488451">
                                            <p:txEl>
                                              <p:charRg st="183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488451">
                                            <p:txEl>
                                              <p:charRg st="183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48846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48846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488465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8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5">
                                            <p:txEl>
                                              <p:charRg st="6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5" dur="80"/>
                                        <p:tgtEl>
                                          <p:spTgt spid="488465">
                                            <p:txEl>
                                              <p:charRg st="6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6" dur="80"/>
                                        <p:tgtEl>
                                          <p:spTgt spid="488465">
                                            <p:txEl>
                                              <p:charRg st="6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80"/>
                                        <p:tgtEl>
                                          <p:spTgt spid="488465">
                                            <p:txEl>
                                              <p:charRg st="6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5">
                                            <p:txEl>
                                              <p:charRg st="40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2" dur="80"/>
                                        <p:tgtEl>
                                          <p:spTgt spid="488465">
                                            <p:txEl>
                                              <p:charRg st="40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3" dur="80"/>
                                        <p:tgtEl>
                                          <p:spTgt spid="488465">
                                            <p:txEl>
                                              <p:charRg st="40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80"/>
                                        <p:tgtEl>
                                          <p:spTgt spid="488465">
                                            <p:txEl>
                                              <p:charRg st="40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65">
                                            <p:txEl>
                                              <p:charRg st="74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9" dur="80"/>
                                        <p:tgtEl>
                                          <p:spTgt spid="488465">
                                            <p:txEl>
                                              <p:charRg st="74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0" dur="80"/>
                                        <p:tgtEl>
                                          <p:spTgt spid="488465">
                                            <p:txEl>
                                              <p:charRg st="74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80"/>
                                        <p:tgtEl>
                                          <p:spTgt spid="488465">
                                            <p:txEl>
                                              <p:charRg st="74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174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握手定理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9475" name="Rectangle 3"/>
          <p:cNvSpPr>
            <a:spLocks noGrp="1"/>
          </p:cNvSpPr>
          <p:nvPr>
            <p:ph type="body" sz="half" idx="1"/>
          </p:nvPr>
        </p:nvSpPr>
        <p:spPr>
          <a:xfrm>
            <a:off x="182563" y="1066800"/>
            <a:ext cx="7345362" cy="498475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lnSpc>
                <a:spcPct val="11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000" dirty="0">
                <a:solidFill>
                  <a:srgbClr val="FF3300"/>
                </a:solidFill>
              </a:rPr>
              <a:t>定理</a:t>
            </a:r>
            <a:r>
              <a:rPr lang="en-US" altLang="zh-CN" sz="2000" dirty="0">
                <a:solidFill>
                  <a:srgbClr val="FF3300"/>
                </a:solidFill>
              </a:rPr>
              <a:t>11.1</a:t>
            </a:r>
            <a:r>
              <a:rPr lang="zh-CN" altLang="en-US" sz="2000" dirty="0"/>
              <a:t>设</a:t>
            </a:r>
            <a:r>
              <a:rPr lang="en-US" altLang="zh-CN" sz="2000" i="1" dirty="0"/>
              <a:t>G</a:t>
            </a:r>
            <a:r>
              <a:rPr lang="en-US" altLang="zh-CN" sz="2000" dirty="0"/>
              <a:t>=&lt;</a:t>
            </a:r>
            <a:r>
              <a:rPr lang="en-US" altLang="zh-CN" sz="2000" i="1" dirty="0"/>
              <a:t>V</a:t>
            </a:r>
            <a:r>
              <a:rPr lang="en-US" altLang="zh-CN" sz="2000" dirty="0"/>
              <a:t>,</a:t>
            </a:r>
            <a:r>
              <a:rPr lang="en-US" altLang="zh-CN" sz="2000" i="1" dirty="0"/>
              <a:t>E</a:t>
            </a:r>
            <a:r>
              <a:rPr lang="en-US" altLang="zh-CN" sz="2000" dirty="0"/>
              <a:t>&gt;</a:t>
            </a:r>
            <a:r>
              <a:rPr lang="zh-CN" altLang="en-US" sz="2000" dirty="0"/>
              <a:t>为任意无向图</a:t>
            </a:r>
            <a:r>
              <a:rPr lang="en-US" altLang="zh-CN" sz="2000" dirty="0"/>
              <a:t>, </a:t>
            </a:r>
            <a:r>
              <a:rPr lang="en-US" altLang="zh-CN" sz="2000" i="1" dirty="0"/>
              <a:t>V</a:t>
            </a:r>
            <a:r>
              <a:rPr lang="en-US" altLang="zh-CN" sz="2000" dirty="0"/>
              <a:t>={</a:t>
            </a:r>
            <a:r>
              <a:rPr lang="en-US" altLang="zh-CN" sz="2000" i="1" dirty="0"/>
              <a:t>v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en-US" altLang="zh-CN" sz="2000" i="1" dirty="0"/>
              <a:t>v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,…,</a:t>
            </a:r>
            <a:r>
              <a:rPr lang="en-US" altLang="zh-CN" sz="2000" i="1" dirty="0"/>
              <a:t>v</a:t>
            </a:r>
            <a:r>
              <a:rPr lang="en-US" altLang="zh-CN" sz="2000" i="1" baseline="-25000" dirty="0"/>
              <a:t>n</a:t>
            </a:r>
            <a:r>
              <a:rPr lang="en-US" altLang="zh-CN" sz="2000" dirty="0"/>
              <a:t>}, |</a:t>
            </a:r>
            <a:r>
              <a:rPr lang="en-US" altLang="zh-CN" sz="2000" i="1" dirty="0"/>
              <a:t>E</a:t>
            </a:r>
            <a:r>
              <a:rPr lang="en-US" altLang="zh-CN" sz="2000" dirty="0"/>
              <a:t>|=</a:t>
            </a:r>
            <a:r>
              <a:rPr lang="en-US" altLang="zh-CN" sz="2000" i="1" dirty="0"/>
              <a:t>m</a:t>
            </a:r>
            <a:r>
              <a:rPr lang="en-US" altLang="zh-CN" sz="2000" dirty="0"/>
              <a:t>, </a:t>
            </a:r>
            <a:r>
              <a:rPr lang="zh-CN" altLang="en-US" sz="2000" dirty="0"/>
              <a:t>则 </a:t>
            </a:r>
            <a:endParaRPr lang="zh-CN" altLang="en-US" sz="2000" dirty="0"/>
          </a:p>
        </p:txBody>
      </p:sp>
      <p:sp>
        <p:nvSpPr>
          <p:cNvPr id="489476" name="Rectangle 4"/>
          <p:cNvSpPr/>
          <p:nvPr/>
        </p:nvSpPr>
        <p:spPr>
          <a:xfrm>
            <a:off x="363538" y="4097338"/>
            <a:ext cx="67341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推论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任何图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无向图和有向图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都有偶数个奇度顶点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89477" name="Object 5"/>
          <p:cNvGraphicFramePr>
            <a:graphicFrameLocks noGrp="1"/>
          </p:cNvGraphicFramePr>
          <p:nvPr>
            <p:ph sz="half" idx="2"/>
          </p:nvPr>
        </p:nvGraphicFramePr>
        <p:xfrm>
          <a:off x="2190750" y="1341438"/>
          <a:ext cx="19240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901065" imgH="431800" progId="Equation.DSMT4">
                  <p:embed/>
                </p:oleObj>
              </mc:Choice>
              <mc:Fallback>
                <p:oleObj name="" r:id="rId1" imgW="901065" imgH="431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0750" y="1341438"/>
                        <a:ext cx="1924050" cy="920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80" name="Rectangle 8"/>
          <p:cNvSpPr/>
          <p:nvPr/>
        </p:nvSpPr>
        <p:spPr>
          <a:xfrm>
            <a:off x="363538" y="2112963"/>
            <a:ext cx="8416925" cy="863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图中每条边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包括环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均有两个端点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在计算各顶点度数之和时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每条边均提供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度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条边共提供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度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9481" name="Rectangle 9"/>
          <p:cNvSpPr/>
          <p:nvPr/>
        </p:nvSpPr>
        <p:spPr>
          <a:xfrm>
            <a:off x="363538" y="2954338"/>
            <a:ext cx="7454900" cy="477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=&lt;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为任意有向图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={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,…,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}, |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|=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则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89482" name="Object 10"/>
          <p:cNvGraphicFramePr/>
          <p:nvPr/>
        </p:nvGraphicFramePr>
        <p:xfrm>
          <a:off x="1565275" y="3314700"/>
          <a:ext cx="535146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2614930" imgH="431800" progId="Equation.DSMT4">
                  <p:embed/>
                </p:oleObj>
              </mc:Choice>
              <mc:Fallback>
                <p:oleObj name="" r:id="rId3" imgW="2614930" imgH="4318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65275" y="3314700"/>
                        <a:ext cx="5351463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84" name="Object 12"/>
          <p:cNvGraphicFramePr/>
          <p:nvPr/>
        </p:nvGraphicFramePr>
        <p:xfrm>
          <a:off x="1985963" y="5818188"/>
          <a:ext cx="3668712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2095500" imgH="368300" progId="Equation.3">
                  <p:embed/>
                </p:oleObj>
              </mc:Choice>
              <mc:Fallback>
                <p:oleObj name="" r:id="rId5" imgW="2095500" imgH="3683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85963" y="5818188"/>
                        <a:ext cx="3668712" cy="646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87" name="Text Box 15"/>
          <p:cNvSpPr txBox="1"/>
          <p:nvPr/>
        </p:nvSpPr>
        <p:spPr>
          <a:xfrm>
            <a:off x="371475" y="4489450"/>
            <a:ext cx="8229600" cy="12303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00000"/>
              </a:lnSpc>
              <a:buClr>
                <a:schemeClr val="bg2"/>
              </a:buClr>
              <a:buSzPct val="75000"/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为任意图，令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  <a:buClr>
                <a:schemeClr val="bg2"/>
              </a:buClr>
              <a:buSzPct val="75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|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为奇数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    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|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为偶数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  <a:buClr>
                <a:schemeClr val="bg2"/>
              </a:buClr>
              <a:buSzPct val="75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∪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∩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，由握手定理可知      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89475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89475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89475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8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0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489480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489480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489480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0">
                                            <p:txEl>
                                              <p:charRg st="3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489480">
                                            <p:txEl>
                                              <p:charRg st="3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489480">
                                            <p:txEl>
                                              <p:charRg st="3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489480">
                                            <p:txEl>
                                              <p:charRg st="3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8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3" dur="80"/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4" dur="80"/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80"/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7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0" dur="80"/>
                                        <p:tgtEl>
                                          <p:spTgt spid="489487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1" dur="80"/>
                                        <p:tgtEl>
                                          <p:spTgt spid="489487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80"/>
                                        <p:tgtEl>
                                          <p:spTgt spid="489487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7">
                                            <p:txEl>
                                              <p:charRg st="18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7" dur="80"/>
                                        <p:tgtEl>
                                          <p:spTgt spid="489487">
                                            <p:txEl>
                                              <p:charRg st="18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8" dur="80"/>
                                        <p:tgtEl>
                                          <p:spTgt spid="489487">
                                            <p:txEl>
                                              <p:charRg st="18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80"/>
                                        <p:tgtEl>
                                          <p:spTgt spid="489487">
                                            <p:txEl>
                                              <p:charRg st="18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7">
                                            <p:txEl>
                                              <p:charRg st="7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4" dur="80"/>
                                        <p:tgtEl>
                                          <p:spTgt spid="489487">
                                            <p:txEl>
                                              <p:charRg st="7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5" dur="80"/>
                                        <p:tgtEl>
                                          <p:spTgt spid="489487">
                                            <p:txEl>
                                              <p:charRg st="7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80"/>
                                        <p:tgtEl>
                                          <p:spTgt spid="489487">
                                            <p:txEl>
                                              <p:charRg st="7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8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5" grpId="0" build="p"/>
      <p:bldP spid="489476" grpId="0"/>
      <p:bldP spid="48948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2800350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图的度数列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0499" name="Rectangle 3"/>
          <p:cNvSpPr>
            <a:spLocks noGrp="1"/>
          </p:cNvSpPr>
          <p:nvPr>
            <p:ph idx="1"/>
          </p:nvPr>
        </p:nvSpPr>
        <p:spPr>
          <a:xfrm>
            <a:off x="303213" y="1044575"/>
            <a:ext cx="5049837" cy="3767138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/>
              <a:t>设无向图</a:t>
            </a:r>
            <a:r>
              <a:rPr lang="en-US" altLang="zh-CN" sz="2200" i="1" dirty="0"/>
              <a:t>G</a:t>
            </a:r>
            <a:r>
              <a:rPr lang="zh-CN" altLang="en-US" sz="2200" dirty="0"/>
              <a:t>的顶点集</a:t>
            </a:r>
            <a:r>
              <a:rPr lang="en-US" altLang="zh-CN" sz="2200" i="1" dirty="0"/>
              <a:t>V</a:t>
            </a:r>
            <a:r>
              <a:rPr lang="en-US" altLang="zh-CN" sz="2200" dirty="0"/>
              <a:t>={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, 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, …, </a:t>
            </a:r>
            <a:r>
              <a:rPr lang="en-US" altLang="zh-CN" sz="2200" i="1" dirty="0"/>
              <a:t>v</a:t>
            </a:r>
            <a:r>
              <a:rPr lang="en-US" altLang="zh-CN" sz="2200" i="1" baseline="-30000" dirty="0"/>
              <a:t>n</a:t>
            </a:r>
            <a:r>
              <a:rPr lang="en-US" altLang="zh-CN" sz="2200" dirty="0"/>
              <a:t>}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en-US" altLang="zh-CN" sz="2200" i="1" dirty="0">
                <a:solidFill>
                  <a:srgbClr val="FF0000"/>
                </a:solidFill>
              </a:rPr>
              <a:t>G</a:t>
            </a:r>
            <a:r>
              <a:rPr lang="zh-CN" altLang="en-US" sz="2200" dirty="0">
                <a:solidFill>
                  <a:srgbClr val="FF0000"/>
                </a:solidFill>
              </a:rPr>
              <a:t>的度数列</a:t>
            </a:r>
            <a:r>
              <a:rPr lang="en-US" altLang="zh-CN" sz="2200" dirty="0"/>
              <a:t>: 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), 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), …, 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i="1" baseline="-30000" dirty="0"/>
              <a:t>n</a:t>
            </a:r>
            <a:r>
              <a:rPr lang="en-US" altLang="zh-CN" sz="2200" dirty="0"/>
              <a:t>)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>
                <a:solidFill>
                  <a:srgbClr val="000066"/>
                </a:solidFill>
              </a:rPr>
              <a:t>如右图度数列</a:t>
            </a:r>
            <a:r>
              <a:rPr lang="en-US" altLang="zh-CN" sz="2200" dirty="0">
                <a:solidFill>
                  <a:srgbClr val="000066"/>
                </a:solidFill>
              </a:rPr>
              <a:t>:4,4,2,1,3</a:t>
            </a:r>
            <a:endParaRPr lang="en-US" altLang="zh-CN" sz="2200" dirty="0">
              <a:solidFill>
                <a:srgbClr val="000066"/>
              </a:solidFill>
            </a:endParaRPr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endParaRPr lang="en-US" altLang="zh-CN" sz="2200" dirty="0">
              <a:solidFill>
                <a:srgbClr val="000066"/>
              </a:solidFill>
            </a:endParaRPr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200" dirty="0"/>
              <a:t>设有向图</a:t>
            </a:r>
            <a:r>
              <a:rPr lang="en-US" altLang="zh-CN" sz="2200" i="1" dirty="0"/>
              <a:t>D</a:t>
            </a:r>
            <a:r>
              <a:rPr lang="zh-CN" altLang="en-US" sz="2200" dirty="0"/>
              <a:t>的顶点集</a:t>
            </a:r>
            <a:r>
              <a:rPr lang="en-US" altLang="zh-CN" sz="2200" i="1" dirty="0"/>
              <a:t>V</a:t>
            </a:r>
            <a:r>
              <a:rPr lang="en-US" altLang="zh-CN" sz="2200" dirty="0"/>
              <a:t>={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, 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, …, </a:t>
            </a:r>
            <a:r>
              <a:rPr lang="en-US" altLang="zh-CN" sz="2200" i="1" dirty="0"/>
              <a:t>v</a:t>
            </a:r>
            <a:r>
              <a:rPr lang="en-US" altLang="zh-CN" sz="2200" i="1" baseline="-30000" dirty="0"/>
              <a:t>n</a:t>
            </a:r>
            <a:r>
              <a:rPr lang="en-US" altLang="zh-CN" sz="2200" dirty="0"/>
              <a:t>}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en-US" altLang="zh-CN" sz="2200" i="1" dirty="0">
                <a:solidFill>
                  <a:srgbClr val="FF0000"/>
                </a:solidFill>
              </a:rPr>
              <a:t>D</a:t>
            </a:r>
            <a:r>
              <a:rPr lang="zh-CN" altLang="en-US" sz="2200" dirty="0">
                <a:solidFill>
                  <a:srgbClr val="FF0000"/>
                </a:solidFill>
              </a:rPr>
              <a:t>的度数列</a:t>
            </a:r>
            <a:r>
              <a:rPr lang="en-US" altLang="zh-CN" sz="2200" dirty="0"/>
              <a:t>: 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), 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), …, 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i="1" baseline="-30000" dirty="0"/>
              <a:t>n</a:t>
            </a:r>
            <a:r>
              <a:rPr lang="en-US" altLang="zh-CN" sz="2200" dirty="0"/>
              <a:t>)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en-US" altLang="zh-CN" sz="2200" i="1" dirty="0">
                <a:solidFill>
                  <a:srgbClr val="FF0000"/>
                </a:solidFill>
              </a:rPr>
              <a:t>D</a:t>
            </a:r>
            <a:r>
              <a:rPr lang="zh-CN" altLang="en-US" sz="2200" dirty="0">
                <a:solidFill>
                  <a:srgbClr val="FF0000"/>
                </a:solidFill>
              </a:rPr>
              <a:t>的出度列</a:t>
            </a:r>
            <a:r>
              <a:rPr lang="en-US" altLang="zh-CN" sz="2200" dirty="0"/>
              <a:t>: </a:t>
            </a:r>
            <a:r>
              <a:rPr lang="en-US" altLang="zh-CN" sz="2200" i="1" dirty="0"/>
              <a:t>d</a:t>
            </a:r>
            <a:r>
              <a:rPr lang="en-US" altLang="zh-CN" sz="2200" baseline="30000" dirty="0"/>
              <a:t>+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), </a:t>
            </a:r>
            <a:r>
              <a:rPr lang="en-US" altLang="zh-CN" sz="2200" i="1" dirty="0"/>
              <a:t>d</a:t>
            </a:r>
            <a:r>
              <a:rPr lang="en-US" altLang="zh-CN" sz="2200" baseline="30000" dirty="0"/>
              <a:t>+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), …, </a:t>
            </a:r>
            <a:r>
              <a:rPr lang="en-US" altLang="zh-CN" sz="2200" i="1" dirty="0"/>
              <a:t>d</a:t>
            </a:r>
            <a:r>
              <a:rPr lang="en-US" altLang="zh-CN" sz="2200" baseline="30000" dirty="0"/>
              <a:t>+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i="1" baseline="-30000" dirty="0"/>
              <a:t>n</a:t>
            </a:r>
            <a:r>
              <a:rPr lang="en-US" altLang="zh-CN" sz="2200" dirty="0"/>
              <a:t>)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spcBef>
                <a:spcPct val="10000"/>
              </a:spcBef>
            </a:pPr>
            <a:r>
              <a:rPr lang="en-US" altLang="zh-CN" sz="2200" i="1" dirty="0">
                <a:solidFill>
                  <a:srgbClr val="FF0000"/>
                </a:solidFill>
              </a:rPr>
              <a:t>D</a:t>
            </a:r>
            <a:r>
              <a:rPr lang="zh-CN" altLang="en-US" sz="2200" dirty="0">
                <a:solidFill>
                  <a:srgbClr val="FF0000"/>
                </a:solidFill>
              </a:rPr>
              <a:t>的入度列</a:t>
            </a:r>
            <a:r>
              <a:rPr lang="en-US" altLang="zh-CN" sz="2200" dirty="0"/>
              <a:t>: </a:t>
            </a:r>
            <a:r>
              <a:rPr lang="en-US" altLang="zh-CN" sz="2200" i="1" dirty="0"/>
              <a:t>d</a:t>
            </a:r>
            <a:r>
              <a:rPr lang="en-US" altLang="zh-CN" sz="2200" baseline="30000" dirty="0">
                <a:sym typeface="Symbol" panose="05050102010706020507" pitchFamily="18" charset="2"/>
              </a:rPr>
              <a:t>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), </a:t>
            </a:r>
            <a:r>
              <a:rPr lang="en-US" altLang="zh-CN" sz="2200" i="1" dirty="0"/>
              <a:t>d</a:t>
            </a:r>
            <a:r>
              <a:rPr lang="en-US" altLang="zh-CN" sz="2200" baseline="30000" dirty="0">
                <a:sym typeface="Symbol" panose="05050102010706020507" pitchFamily="18" charset="2"/>
              </a:rPr>
              <a:t>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), …, </a:t>
            </a:r>
            <a:r>
              <a:rPr lang="en-US" altLang="zh-CN" sz="2200" i="1" dirty="0"/>
              <a:t>d</a:t>
            </a:r>
            <a:r>
              <a:rPr lang="en-US" altLang="zh-CN" sz="2200" baseline="30000" dirty="0">
                <a:sym typeface="Symbol" panose="05050102010706020507" pitchFamily="18" charset="2"/>
              </a:rPr>
              <a:t>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i="1" baseline="-30000" dirty="0"/>
              <a:t>n</a:t>
            </a:r>
            <a:r>
              <a:rPr lang="en-US" altLang="zh-CN" sz="2200" dirty="0"/>
              <a:t>)</a:t>
            </a:r>
            <a:endParaRPr lang="en-US" altLang="zh-CN" sz="2200" dirty="0"/>
          </a:p>
        </p:txBody>
      </p:sp>
      <p:grpSp>
        <p:nvGrpSpPr>
          <p:cNvPr id="2" name="Group 4"/>
          <p:cNvGrpSpPr/>
          <p:nvPr/>
        </p:nvGrpSpPr>
        <p:grpSpPr>
          <a:xfrm>
            <a:off x="5353050" y="663575"/>
            <a:ext cx="2057400" cy="2149475"/>
            <a:chOff x="3504" y="2112"/>
            <a:chExt cx="1296" cy="1354"/>
          </a:xfrm>
        </p:grpSpPr>
        <p:pic>
          <p:nvPicPr>
            <p:cNvPr id="18438" name="Picture 5" descr="14-1(1)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96" y="2208"/>
              <a:ext cx="881" cy="105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39" name="Text Box 6"/>
            <p:cNvSpPr txBox="1"/>
            <p:nvPr/>
          </p:nvSpPr>
          <p:spPr>
            <a:xfrm>
              <a:off x="3504" y="211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1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40" name="Text Box 7"/>
            <p:cNvSpPr txBox="1"/>
            <p:nvPr/>
          </p:nvSpPr>
          <p:spPr>
            <a:xfrm>
              <a:off x="4080" y="2304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2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41" name="Text Box 8"/>
            <p:cNvSpPr txBox="1"/>
            <p:nvPr/>
          </p:nvSpPr>
          <p:spPr>
            <a:xfrm>
              <a:off x="3696" y="2544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3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42" name="Text Box 9"/>
            <p:cNvSpPr txBox="1"/>
            <p:nvPr/>
          </p:nvSpPr>
          <p:spPr>
            <a:xfrm>
              <a:off x="3984" y="2688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4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43" name="Text Box 10"/>
            <p:cNvSpPr txBox="1"/>
            <p:nvPr/>
          </p:nvSpPr>
          <p:spPr>
            <a:xfrm>
              <a:off x="4272" y="2640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5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44" name="Text Box 11"/>
            <p:cNvSpPr txBox="1"/>
            <p:nvPr/>
          </p:nvSpPr>
          <p:spPr>
            <a:xfrm>
              <a:off x="4560" y="259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6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45" name="Text Box 12"/>
            <p:cNvSpPr txBox="1"/>
            <p:nvPr/>
          </p:nvSpPr>
          <p:spPr>
            <a:xfrm>
              <a:off x="3792" y="2976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7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46" name="Text Box 13"/>
            <p:cNvSpPr txBox="1"/>
            <p:nvPr/>
          </p:nvSpPr>
          <p:spPr>
            <a:xfrm>
              <a:off x="3648" y="283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5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47" name="Text Box 14"/>
            <p:cNvSpPr txBox="1"/>
            <p:nvPr/>
          </p:nvSpPr>
          <p:spPr>
            <a:xfrm>
              <a:off x="3792" y="2304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1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48" name="Text Box 15"/>
            <p:cNvSpPr txBox="1"/>
            <p:nvPr/>
          </p:nvSpPr>
          <p:spPr>
            <a:xfrm>
              <a:off x="4320" y="2304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2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49" name="Text Box 16"/>
            <p:cNvSpPr txBox="1"/>
            <p:nvPr/>
          </p:nvSpPr>
          <p:spPr>
            <a:xfrm>
              <a:off x="4416" y="2928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3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50" name="Text Box 17"/>
            <p:cNvSpPr txBox="1"/>
            <p:nvPr/>
          </p:nvSpPr>
          <p:spPr>
            <a:xfrm>
              <a:off x="4032" y="3216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4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3" name="Group 18"/>
          <p:cNvGrpSpPr/>
          <p:nvPr/>
        </p:nvGrpSpPr>
        <p:grpSpPr>
          <a:xfrm>
            <a:off x="4752975" y="2587625"/>
            <a:ext cx="2133600" cy="2454275"/>
            <a:chOff x="2496" y="1200"/>
            <a:chExt cx="1344" cy="1546"/>
          </a:xfrm>
        </p:grpSpPr>
        <p:pic>
          <p:nvPicPr>
            <p:cNvPr id="18452" name="Picture 19" descr="14-2(1)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6" y="1392"/>
              <a:ext cx="975" cy="116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53" name="Text Box 20"/>
            <p:cNvSpPr txBox="1"/>
            <p:nvPr/>
          </p:nvSpPr>
          <p:spPr>
            <a:xfrm>
              <a:off x="2880" y="1200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1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54" name="Text Box 21"/>
            <p:cNvSpPr txBox="1"/>
            <p:nvPr/>
          </p:nvSpPr>
          <p:spPr>
            <a:xfrm>
              <a:off x="3408" y="162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2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55" name="Text Box 22"/>
            <p:cNvSpPr txBox="1"/>
            <p:nvPr/>
          </p:nvSpPr>
          <p:spPr>
            <a:xfrm>
              <a:off x="3072" y="1910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3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56" name="Text Box 23"/>
            <p:cNvSpPr txBox="1"/>
            <p:nvPr/>
          </p:nvSpPr>
          <p:spPr>
            <a:xfrm>
              <a:off x="2736" y="1680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4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57" name="Text Box 24"/>
            <p:cNvSpPr txBox="1"/>
            <p:nvPr/>
          </p:nvSpPr>
          <p:spPr>
            <a:xfrm>
              <a:off x="3312" y="2256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5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58" name="Text Box 25"/>
            <p:cNvSpPr txBox="1"/>
            <p:nvPr/>
          </p:nvSpPr>
          <p:spPr>
            <a:xfrm>
              <a:off x="2976" y="2054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6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59" name="Text Box 26"/>
            <p:cNvSpPr txBox="1"/>
            <p:nvPr/>
          </p:nvSpPr>
          <p:spPr>
            <a:xfrm>
              <a:off x="2640" y="2294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7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60" name="Text Box 27"/>
            <p:cNvSpPr txBox="1"/>
            <p:nvPr/>
          </p:nvSpPr>
          <p:spPr>
            <a:xfrm>
              <a:off x="2496" y="2016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d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61" name="Text Box 28"/>
            <p:cNvSpPr txBox="1"/>
            <p:nvPr/>
          </p:nvSpPr>
          <p:spPr>
            <a:xfrm>
              <a:off x="3072" y="1488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a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62" name="Text Box 29"/>
            <p:cNvSpPr txBox="1"/>
            <p:nvPr/>
          </p:nvSpPr>
          <p:spPr>
            <a:xfrm>
              <a:off x="3600" y="2006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b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18463" name="Text Box 30"/>
            <p:cNvSpPr txBox="1"/>
            <p:nvPr/>
          </p:nvSpPr>
          <p:spPr>
            <a:xfrm>
              <a:off x="3024" y="2496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c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490527" name="Rectangle 31"/>
          <p:cNvSpPr/>
          <p:nvPr/>
        </p:nvSpPr>
        <p:spPr>
          <a:xfrm>
            <a:off x="447675" y="4884738"/>
            <a:ext cx="7732713" cy="12493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对于给定的非负整数列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d=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,d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,…,d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若存在以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V=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,v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,…,v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为顶点集的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阶无向图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使得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可图化的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特别地，若所得图是简单图，则称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可简单图化的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0528" name="Rectangle 32"/>
          <p:cNvSpPr/>
          <p:nvPr/>
        </p:nvSpPr>
        <p:spPr>
          <a:xfrm>
            <a:off x="6316663" y="2887663"/>
            <a:ext cx="2644775" cy="16335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左图度数列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:5,3,3,3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出度列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:4,0,2,1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入度列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:1,3,1,2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9049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9049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9049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charRg st="27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90499">
                                            <p:txEl>
                                              <p:charRg st="27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90499">
                                            <p:txEl>
                                              <p:charRg st="27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90499">
                                            <p:txEl>
                                              <p:charRg st="27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charRg st="57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90499">
                                            <p:txEl>
                                              <p:charRg st="57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charRg st="75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490499">
                                            <p:txEl>
                                              <p:charRg st="75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490499">
                                            <p:txEl>
                                              <p:charRg st="75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490499">
                                            <p:txEl>
                                              <p:charRg st="75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charRg st="10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" dur="80"/>
                                        <p:tgtEl>
                                          <p:spTgt spid="490499">
                                            <p:txEl>
                                              <p:charRg st="10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9" dur="80"/>
                                        <p:tgtEl>
                                          <p:spTgt spid="490499">
                                            <p:txEl>
                                              <p:charRg st="10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80"/>
                                        <p:tgtEl>
                                          <p:spTgt spid="490499">
                                            <p:txEl>
                                              <p:charRg st="10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charRg st="132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5" dur="80"/>
                                        <p:tgtEl>
                                          <p:spTgt spid="490499">
                                            <p:txEl>
                                              <p:charRg st="132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6" dur="80"/>
                                        <p:tgtEl>
                                          <p:spTgt spid="490499">
                                            <p:txEl>
                                              <p:charRg st="132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80"/>
                                        <p:tgtEl>
                                          <p:spTgt spid="490499">
                                            <p:txEl>
                                              <p:charRg st="132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charRg st="165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2" dur="80"/>
                                        <p:tgtEl>
                                          <p:spTgt spid="490499">
                                            <p:txEl>
                                              <p:charRg st="165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3" dur="80"/>
                                        <p:tgtEl>
                                          <p:spTgt spid="490499">
                                            <p:txEl>
                                              <p:charRg st="165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80"/>
                                        <p:tgtEl>
                                          <p:spTgt spid="490499">
                                            <p:txEl>
                                              <p:charRg st="165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8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4" dur="80"/>
                                        <p:tgtEl>
                                          <p:spTgt spid="490528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5" dur="80"/>
                                        <p:tgtEl>
                                          <p:spTgt spid="490528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80"/>
                                        <p:tgtEl>
                                          <p:spTgt spid="490528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8">
                                            <p:txEl>
                                              <p:charRg st="14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1" dur="80"/>
                                        <p:tgtEl>
                                          <p:spTgt spid="490528">
                                            <p:txEl>
                                              <p:charRg st="14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2" dur="80"/>
                                        <p:tgtEl>
                                          <p:spTgt spid="490528">
                                            <p:txEl>
                                              <p:charRg st="14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80"/>
                                        <p:tgtEl>
                                          <p:spTgt spid="490528">
                                            <p:txEl>
                                              <p:charRg st="14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8">
                                            <p:txEl>
                                              <p:charRg st="3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8" dur="80"/>
                                        <p:tgtEl>
                                          <p:spTgt spid="490528">
                                            <p:txEl>
                                              <p:charRg st="3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9" dur="80"/>
                                        <p:tgtEl>
                                          <p:spTgt spid="490528">
                                            <p:txEl>
                                              <p:charRg st="3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80"/>
                                        <p:tgtEl>
                                          <p:spTgt spid="490528">
                                            <p:txEl>
                                              <p:charRg st="3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7">
                                            <p:txEl>
                                              <p:charRg st="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90527">
                                            <p:txEl>
                                              <p:charRg st="0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7">
                                            <p:txEl>
                                              <p:charRg st="78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8" dur="80"/>
                                        <p:tgtEl>
                                          <p:spTgt spid="490527">
                                            <p:txEl>
                                              <p:charRg st="78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9" dur="80"/>
                                        <p:tgtEl>
                                          <p:spTgt spid="490527">
                                            <p:txEl>
                                              <p:charRg st="78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80"/>
                                        <p:tgtEl>
                                          <p:spTgt spid="490527">
                                            <p:txEl>
                                              <p:charRg st="78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91523" name="Text Box 3"/>
          <p:cNvSpPr txBox="1"/>
          <p:nvPr/>
        </p:nvSpPr>
        <p:spPr>
          <a:xfrm>
            <a:off x="1444625" y="4148138"/>
            <a:ext cx="1163638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(2)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能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24" name="Rectangle 4"/>
          <p:cNvSpPr>
            <a:spLocks noGrp="1"/>
          </p:cNvSpPr>
          <p:nvPr>
            <p:ph idx="1"/>
          </p:nvPr>
        </p:nvSpPr>
        <p:spPr>
          <a:xfrm>
            <a:off x="482600" y="2827338"/>
            <a:ext cx="6073775" cy="822325"/>
          </a:xfrm>
        </p:spPr>
        <p:txBody>
          <a:bodyPr vert="horz" wrap="square" lIns="91440" tIns="45720" rIns="91440" bIns="45720" anchor="t" anchorCtr="0"/>
          <a:p>
            <a:pPr marL="0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800000"/>
                </a:solidFill>
              </a:rPr>
              <a:t>例</a:t>
            </a:r>
            <a:r>
              <a:rPr lang="en-US" altLang="zh-CN" dirty="0">
                <a:solidFill>
                  <a:srgbClr val="800000"/>
                </a:solidFill>
              </a:rPr>
              <a:t>1</a:t>
            </a:r>
            <a:r>
              <a:rPr lang="en-US" altLang="zh-CN" dirty="0"/>
              <a:t> </a:t>
            </a:r>
            <a:r>
              <a:rPr lang="zh-CN" altLang="en-US" dirty="0"/>
              <a:t>下述</a:t>
            </a:r>
            <a:r>
              <a:rPr lang="en-US" altLang="zh-CN" dirty="0"/>
              <a:t>2</a:t>
            </a:r>
            <a:r>
              <a:rPr lang="zh-CN" altLang="en-US" dirty="0"/>
              <a:t>组数能成为无向图的度数列吗</a:t>
            </a:r>
            <a:r>
              <a:rPr lang="en-US" altLang="zh-CN" dirty="0"/>
              <a:t>?</a:t>
            </a:r>
            <a:endParaRPr lang="en-US" altLang="zh-CN" dirty="0"/>
          </a:p>
          <a:p>
            <a:pPr marL="0" eaLnBrk="1" hangingPunct="1">
              <a:lnSpc>
                <a:spcPct val="90000"/>
              </a:lnSpc>
            </a:pPr>
            <a:r>
              <a:rPr lang="en-US" altLang="zh-CN" dirty="0"/>
              <a:t>  (1) 3,3,3,4;  (2) 1,2,2,3</a:t>
            </a:r>
            <a:endParaRPr lang="en-US" altLang="zh-CN" dirty="0"/>
          </a:p>
        </p:txBody>
      </p:sp>
      <p:sp>
        <p:nvSpPr>
          <p:cNvPr id="491525" name="Text Box 5"/>
          <p:cNvSpPr txBox="1"/>
          <p:nvPr/>
        </p:nvSpPr>
        <p:spPr>
          <a:xfrm>
            <a:off x="1084263" y="3667125"/>
            <a:ext cx="487521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解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不可能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有奇数个奇数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91526" name="Picture 6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2338" y="4808538"/>
            <a:ext cx="1212850" cy="137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527" name="Picture 7" descr="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138" y="4808538"/>
            <a:ext cx="1752600" cy="1385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528" name="Rectangle 8"/>
          <p:cNvSpPr>
            <a:spLocks noChangeArrowheads="1"/>
          </p:cNvSpPr>
          <p:nvPr/>
        </p:nvSpPr>
        <p:spPr bwMode="auto">
          <a:xfrm>
            <a:off x="1685925" y="242888"/>
            <a:ext cx="2017713" cy="541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可图化</a:t>
            </a:r>
            <a:endParaRPr kumimoji="1" lang="zh-CN" altLang="en-US" sz="36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29" name="Rectangle 9"/>
          <p:cNvSpPr/>
          <p:nvPr/>
        </p:nvSpPr>
        <p:spPr>
          <a:xfrm>
            <a:off x="363538" y="1066800"/>
            <a:ext cx="8367712" cy="558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11.3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设非负整数列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, d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,…, d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，则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是可图化的当且仅当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91530" name="Object 10"/>
          <p:cNvGraphicFramePr/>
          <p:nvPr/>
        </p:nvGraphicFramePr>
        <p:xfrm>
          <a:off x="2166938" y="1384300"/>
          <a:ext cx="240506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1104265" imgH="431800" progId="Equation.DSMT4">
                  <p:embed/>
                </p:oleObj>
              </mc:Choice>
              <mc:Fallback>
                <p:oleObj name="" r:id="rId3" imgW="1104265" imgH="431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6938" y="1384300"/>
                        <a:ext cx="2405062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31" name="Text Box 11"/>
          <p:cNvSpPr txBox="1"/>
          <p:nvPr/>
        </p:nvSpPr>
        <p:spPr>
          <a:xfrm>
            <a:off x="361950" y="2220913"/>
            <a:ext cx="7877175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11.4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为任意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阶无向简单图，则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Δ(G)≤n-1.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915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9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5" dur="80"/>
                                        <p:tgtEl>
                                          <p:spTgt spid="491524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" dur="80"/>
                                        <p:tgtEl>
                                          <p:spTgt spid="491524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80"/>
                                        <p:tgtEl>
                                          <p:spTgt spid="491524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>
                                            <p:txEl>
                                              <p:charRg st="2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80"/>
                                        <p:tgtEl>
                                          <p:spTgt spid="491524">
                                            <p:txEl>
                                              <p:charRg st="2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80"/>
                                        <p:tgtEl>
                                          <p:spTgt spid="491524">
                                            <p:txEl>
                                              <p:charRg st="2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80"/>
                                        <p:tgtEl>
                                          <p:spTgt spid="491524">
                                            <p:txEl>
                                              <p:charRg st="21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91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91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3" grpId="0"/>
      <p:bldP spid="491524" grpId="0" build="p"/>
      <p:bldP spid="491525" grpId="0"/>
      <p:bldP spid="491529" grpId="0"/>
      <p:bldP spid="4915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49375" y="61913"/>
            <a:ext cx="3763963" cy="6604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4" name="Rectangle 8"/>
          <p:cNvSpPr/>
          <p:nvPr/>
        </p:nvSpPr>
        <p:spPr>
          <a:xfrm>
            <a:off x="420688" y="1147763"/>
            <a:ext cx="8416925" cy="14065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判断下列各非负整数哪些是可图化的？哪些可简单图化？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5,5,4,4,2,1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  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(2) (5,4,3,2,2)    (3) (3,3,3,1)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485" name="Object 7"/>
          <p:cNvGraphicFramePr/>
          <p:nvPr/>
        </p:nvGraphicFramePr>
        <p:xfrm>
          <a:off x="4992688" y="2286000"/>
          <a:ext cx="166687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850265" imgH="431800" progId="Equation.DSMT4">
                  <p:embed/>
                </p:oleObj>
              </mc:Choice>
              <mc:Fallback>
                <p:oleObj name="" r:id="rId1" imgW="850265" imgH="431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92688" y="2286000"/>
                        <a:ext cx="1666875" cy="903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553" name="Rectangle 9"/>
          <p:cNvSpPr/>
          <p:nvPr/>
        </p:nvSpPr>
        <p:spPr>
          <a:xfrm>
            <a:off x="423863" y="2884488"/>
            <a:ext cx="7612062" cy="968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0" hangingPunct="0"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(5) (4,4,3,3,2,2)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解：除（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）外均可图化，而且只有（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）可简单图化。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7" name="Rectangle 10"/>
          <p:cNvSpPr/>
          <p:nvPr/>
        </p:nvSpPr>
        <p:spPr>
          <a:xfrm>
            <a:off x="420688" y="2490788"/>
            <a:ext cx="46593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(4) 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,…,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&gt;,…,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&gt;=1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且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53">
                                            <p:txEl>
                                              <p:charRg st="1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92553">
                                            <p:txEl>
                                              <p:charRg st="1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92553">
                                            <p:txEl>
                                              <p:charRg st="1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92553">
                                            <p:txEl>
                                              <p:charRg st="1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2150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71575" y="61913"/>
            <a:ext cx="1597025" cy="6905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同构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3581" name="Rectangle 13"/>
          <p:cNvSpPr/>
          <p:nvPr/>
        </p:nvSpPr>
        <p:spPr>
          <a:xfrm>
            <a:off x="242888" y="4090988"/>
            <a:ext cx="8658225" cy="22828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68605" eaLnBrk="0" hangingPunct="0">
              <a:lnSpc>
                <a:spcPct val="120000"/>
              </a:lnSpc>
              <a:spcBef>
                <a:spcPct val="10000"/>
              </a:spcBef>
              <a:buClrTx/>
              <a:buSz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图之间的同构关系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可看成全体图集合上的二元关系，这个二元关系具有自反性，对称性和传递性，因而它是</a:t>
            </a:r>
            <a:r>
              <a:rPr lang="zh-CN" altLang="en-US" sz="2400" dirty="0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等价关系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68605" eaLnBrk="0" hangingPunct="0">
              <a:lnSpc>
                <a:spcPct val="120000"/>
              </a:lnSpc>
              <a:spcBef>
                <a:spcPct val="10000"/>
              </a:spcBef>
              <a:buClrTx/>
              <a:buSzTx/>
              <a:buFontTx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在这个等价关系的每个等价类中均取一个非标定图作为一个代表，凡与它同构的图，在同构的意义下都可以看成一个图。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8605" eaLnBrk="0" hangingPunct="0">
              <a:lnSpc>
                <a:spcPct val="100000"/>
              </a:lnSpc>
              <a:spcBef>
                <a:spcPct val="10000"/>
              </a:spcBef>
              <a:buClrTx/>
              <a:buSzTx/>
              <a:buFontTx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到目前为止，还没找到判断两个图是否同构的有效的算法。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3582" name="Rectangle 14"/>
          <p:cNvSpPr>
            <a:spLocks noGrp="1"/>
          </p:cNvSpPr>
          <p:nvPr>
            <p:ph type="body" sz="half" idx="1"/>
          </p:nvPr>
        </p:nvSpPr>
        <p:spPr>
          <a:xfrm>
            <a:off x="182563" y="1066800"/>
            <a:ext cx="8537575" cy="3505200"/>
          </a:xfrm>
        </p:spPr>
        <p:txBody>
          <a:bodyPr vert="horz" wrap="square" lIns="91440" tIns="45720" rIns="91440" bIns="45720" anchor="t" anchorCtr="0"/>
          <a:p>
            <a:pPr marL="0" eaLnBrk="1" hangingPunct="1">
              <a:lnSpc>
                <a:spcPct val="11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11.5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&gt;, 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baseline="-25000" dirty="0"/>
              <a:t>2</a:t>
            </a:r>
            <a:r>
              <a:rPr lang="en-US" altLang="zh-CN" dirty="0"/>
              <a:t>&gt;</a:t>
            </a:r>
            <a:r>
              <a:rPr lang="zh-CN" altLang="en-US" dirty="0"/>
              <a:t>为两个无向图</a:t>
            </a:r>
            <a:r>
              <a:rPr lang="en-US" altLang="zh-CN" dirty="0"/>
              <a:t>(</a:t>
            </a:r>
            <a:r>
              <a:rPr lang="zh-CN" altLang="en-US" dirty="0"/>
              <a:t>有向图</a:t>
            </a:r>
            <a:r>
              <a:rPr lang="en-US" altLang="zh-CN" dirty="0"/>
              <a:t>), </a:t>
            </a:r>
            <a:endParaRPr lang="en-US" altLang="zh-CN" dirty="0"/>
          </a:p>
          <a:p>
            <a:pPr marL="0" eaLnBrk="1" hangingPunct="1">
              <a:lnSpc>
                <a:spcPct val="11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/>
              <a:t>若存在双射函数 </a:t>
            </a:r>
            <a:r>
              <a:rPr lang="en-US" altLang="zh-CN" i="1" dirty="0"/>
              <a:t>f</a:t>
            </a:r>
            <a:r>
              <a:rPr lang="en-US" altLang="zh-CN" dirty="0"/>
              <a:t>: 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zh-CN" altLang="en-US" dirty="0"/>
              <a:t>使得对于任意的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endParaRPr lang="en-US" altLang="zh-CN" dirty="0"/>
          </a:p>
          <a:p>
            <a:pPr marL="0" eaLnBrk="1" hangingPunct="1">
              <a:lnSpc>
                <a:spcPct val="11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/>
              <a:t>        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 (&lt;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) </a:t>
            </a:r>
            <a:r>
              <a:rPr lang="zh-CN" altLang="en-US" dirty="0"/>
              <a:t>当且仅当   </a:t>
            </a:r>
            <a:endParaRPr lang="zh-CN" altLang="en-US" dirty="0"/>
          </a:p>
          <a:p>
            <a:pPr marL="0" eaLnBrk="1" hangingPunct="1">
              <a:lnSpc>
                <a:spcPct val="11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/>
              <a:t>                        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),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en-US" altLang="zh-CN" dirty="0"/>
              <a:t>))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E</a:t>
            </a:r>
            <a:r>
              <a:rPr lang="en-US" altLang="zh-CN" baseline="-25000" dirty="0"/>
              <a:t>2</a:t>
            </a:r>
            <a:r>
              <a:rPr lang="en-US" altLang="zh-CN" dirty="0"/>
              <a:t> (&lt;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),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en-US" altLang="zh-CN" dirty="0"/>
              <a:t>)&gt;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E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endParaRPr lang="en-US" altLang="zh-CN" dirty="0"/>
          </a:p>
          <a:p>
            <a:pPr marL="0" eaLnBrk="1" hangingPunct="1">
              <a:lnSpc>
                <a:spcPct val="115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/>
              <a:t>并且 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en-US" altLang="zh-CN" dirty="0"/>
              <a:t>) (&lt;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en-US" altLang="zh-CN" dirty="0"/>
              <a:t>&gt;) </a:t>
            </a:r>
            <a:r>
              <a:rPr lang="zh-CN" altLang="en-US" dirty="0"/>
              <a:t>与 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),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en-US" altLang="zh-CN" dirty="0"/>
              <a:t>)) (&lt;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),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j</a:t>
            </a:r>
            <a:r>
              <a:rPr lang="en-US" altLang="zh-CN" dirty="0"/>
              <a:t>)&gt;)</a:t>
            </a:r>
            <a:r>
              <a:rPr lang="zh-CN" altLang="en-US" dirty="0"/>
              <a:t>的重数相同，则称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zh-CN" altLang="en-US" dirty="0"/>
              <a:t>与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zh-CN" altLang="en-US" dirty="0"/>
              <a:t>是同构的，记作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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93582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93582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93582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>
                                            <p:txEl>
                                              <p:charRg st="44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93582">
                                            <p:txEl>
                                              <p:charRg st="44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93582">
                                            <p:txEl>
                                              <p:charRg st="44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93582">
                                            <p:txEl>
                                              <p:charRg st="44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>
                                            <p:txEl>
                                              <p:charRg st="80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93582">
                                            <p:txEl>
                                              <p:charRg st="80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93582">
                                            <p:txEl>
                                              <p:charRg st="80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93582">
                                            <p:txEl>
                                              <p:charRg st="80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>
                                            <p:txEl>
                                              <p:charRg st="120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93582">
                                            <p:txEl>
                                              <p:charRg st="120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93582">
                                            <p:txEl>
                                              <p:charRg st="120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93582">
                                            <p:txEl>
                                              <p:charRg st="120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>
                                            <p:txEl>
                                              <p:charRg st="182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493582">
                                            <p:txEl>
                                              <p:charRg st="182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493582">
                                            <p:txEl>
                                              <p:charRg st="182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493582">
                                            <p:txEl>
                                              <p:charRg st="182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1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493581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493581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493581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1">
                                            <p:txEl>
                                              <p:charRg st="53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493581">
                                            <p:txEl>
                                              <p:charRg st="53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493581">
                                            <p:txEl>
                                              <p:charRg st="53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493581">
                                            <p:txEl>
                                              <p:charRg st="53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1">
                                            <p:txEl>
                                              <p:charRg st="107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493581">
                                            <p:txEl>
                                              <p:charRg st="107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493581">
                                            <p:txEl>
                                              <p:charRg st="107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493581">
                                            <p:txEl>
                                              <p:charRg st="107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1250" y="61913"/>
            <a:ext cx="1597025" cy="6302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05859" name="Picture 3" descr="同构1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133600"/>
            <a:ext cx="1203325" cy="1404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5860" name="Picture 4" descr="同构1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962400"/>
            <a:ext cx="1123950" cy="12557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5861" name="Picture 5" descr="同构2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663" y="2209800"/>
            <a:ext cx="1524000" cy="1222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5862" name="Picture 6" descr="同构2(2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663" y="4038600"/>
            <a:ext cx="1524000" cy="1217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5863" name="Picture 7" descr="K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286000"/>
            <a:ext cx="1125538" cy="137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5864" name="Picture 8" descr="K33(2)"/>
          <p:cNvPicPr>
            <a:picLocks noChangeAspect="1"/>
          </p:cNvPicPr>
          <p:nvPr/>
        </p:nvPicPr>
        <p:blipFill>
          <a:blip r:embed="rId6"/>
          <a:srcRect r="57227"/>
          <a:stretch>
            <a:fillRect/>
          </a:stretch>
        </p:blipFill>
        <p:spPr>
          <a:xfrm>
            <a:off x="6096000" y="3886200"/>
            <a:ext cx="1600200" cy="1531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0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0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0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0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0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07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9988" y="61913"/>
            <a:ext cx="2198688" cy="6905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07907" name="Rectangle 3"/>
          <p:cNvSpPr>
            <a:spLocks noGrp="1"/>
          </p:cNvSpPr>
          <p:nvPr>
            <p:ph idx="1"/>
          </p:nvPr>
        </p:nvSpPr>
        <p:spPr>
          <a:xfrm>
            <a:off x="436563" y="1084263"/>
            <a:ext cx="8269287" cy="858837"/>
          </a:xfrm>
        </p:spPr>
        <p:txBody>
          <a:bodyPr vert="horz" wrap="square" lIns="91440" tIns="45720" rIns="91440" bIns="45720" anchor="t" anchorCtr="0"/>
          <a:p>
            <a:pPr marL="0" indent="0" eaLnBrk="1" hangingPunct="1"/>
            <a:r>
              <a:rPr lang="zh-CN" altLang="en-US" dirty="0">
                <a:solidFill>
                  <a:srgbClr val="800000"/>
                </a:solidFill>
              </a:rPr>
              <a:t>例</a:t>
            </a:r>
            <a:r>
              <a:rPr lang="zh-CN" altLang="en-US" dirty="0"/>
              <a:t> 画出</a:t>
            </a:r>
            <a:r>
              <a:rPr lang="en-US" altLang="zh-CN" dirty="0"/>
              <a:t>3</a:t>
            </a:r>
            <a:r>
              <a:rPr lang="zh-CN" altLang="en-US" dirty="0"/>
              <a:t>个以</a:t>
            </a:r>
            <a:r>
              <a:rPr lang="en-US" altLang="zh-CN" dirty="0"/>
              <a:t>1,1,1,2,2,3</a:t>
            </a:r>
            <a:r>
              <a:rPr lang="zh-CN" altLang="en-US" dirty="0"/>
              <a:t>为度数列的非同构的无向简单图</a:t>
            </a:r>
            <a:r>
              <a:rPr lang="en-US" altLang="zh-CN" dirty="0"/>
              <a:t>.</a:t>
            </a:r>
            <a:endParaRPr lang="en-US" altLang="zh-CN" dirty="0"/>
          </a:p>
        </p:txBody>
      </p:sp>
      <p:pic>
        <p:nvPicPr>
          <p:cNvPr id="507908" name="Picture 4" descr="例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286000"/>
            <a:ext cx="1828800" cy="1746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7909" name="Picture 5" descr="例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286000"/>
            <a:ext cx="1828800" cy="1746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7910" name="Picture 6" descr="例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86000"/>
            <a:ext cx="1357313" cy="1752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07907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07907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07907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7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07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69988" y="122238"/>
            <a:ext cx="1838325" cy="6302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06883" name="Rectangle 3"/>
          <p:cNvSpPr>
            <a:spLocks noGrp="1"/>
          </p:cNvSpPr>
          <p:nvPr>
            <p:ph idx="1"/>
          </p:nvPr>
        </p:nvSpPr>
        <p:spPr>
          <a:xfrm>
            <a:off x="303213" y="1066800"/>
            <a:ext cx="8658225" cy="1820863"/>
          </a:xfrm>
        </p:spPr>
        <p:txBody>
          <a:bodyPr vert="horz" wrap="square" lIns="91440" tIns="45720" rIns="91440" bIns="45720" anchor="t" anchorCtr="0"/>
          <a:p>
            <a:pPr marL="0" eaLnBrk="1" hangingPunct="1">
              <a:lnSpc>
                <a:spcPct val="11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11.3</a:t>
            </a:r>
            <a:r>
              <a:rPr lang="en-US" altLang="zh-CN" dirty="0"/>
              <a:t> </a:t>
            </a:r>
            <a:r>
              <a:rPr lang="zh-CN" altLang="en-US" dirty="0"/>
              <a:t>画出</a:t>
            </a:r>
            <a:r>
              <a:rPr lang="en-US" altLang="zh-CN" dirty="0"/>
              <a:t>4</a:t>
            </a:r>
            <a:r>
              <a:rPr lang="zh-CN" altLang="en-US" dirty="0"/>
              <a:t>阶</a:t>
            </a:r>
            <a:r>
              <a:rPr lang="en-US" altLang="zh-CN" dirty="0"/>
              <a:t>3</a:t>
            </a:r>
            <a:r>
              <a:rPr lang="zh-CN" altLang="en-US" dirty="0"/>
              <a:t>条边的所有非同构的无向简单图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eaLnBrk="1" hangingPunct="1">
              <a:lnSpc>
                <a:spcPct val="115000"/>
              </a:lnSpc>
            </a:pPr>
            <a:r>
              <a:rPr lang="zh-CN" altLang="en-US" dirty="0"/>
              <a:t>解 总度数为</a:t>
            </a:r>
            <a:r>
              <a:rPr lang="en-US" altLang="zh-CN" dirty="0"/>
              <a:t>6, </a:t>
            </a:r>
            <a:r>
              <a:rPr lang="zh-CN" altLang="en-US" dirty="0"/>
              <a:t>分配给</a:t>
            </a:r>
            <a:r>
              <a:rPr lang="en-US" altLang="zh-CN" dirty="0"/>
              <a:t>4</a:t>
            </a:r>
            <a:r>
              <a:rPr lang="zh-CN" altLang="en-US" dirty="0"/>
              <a:t>个顶点</a:t>
            </a:r>
            <a:r>
              <a:rPr lang="en-US" altLang="zh-CN" dirty="0"/>
              <a:t>, </a:t>
            </a:r>
            <a:r>
              <a:rPr lang="zh-CN" altLang="en-US" dirty="0"/>
              <a:t>最大度为</a:t>
            </a:r>
            <a:r>
              <a:rPr lang="en-US" altLang="zh-CN" dirty="0"/>
              <a:t>3, </a:t>
            </a:r>
            <a:r>
              <a:rPr lang="zh-CN" altLang="en-US" dirty="0"/>
              <a:t>且奇度顶点数为偶数</a:t>
            </a:r>
            <a:r>
              <a:rPr lang="en-US" altLang="zh-CN" dirty="0"/>
              <a:t>,</a:t>
            </a:r>
            <a:r>
              <a:rPr lang="zh-CN" altLang="en-US" dirty="0"/>
              <a:t>有下述</a:t>
            </a:r>
            <a:r>
              <a:rPr lang="en-US" altLang="zh-CN" dirty="0"/>
              <a:t>3</a:t>
            </a:r>
            <a:r>
              <a:rPr lang="zh-CN" altLang="en-US" dirty="0"/>
              <a:t>个度数列</a:t>
            </a:r>
            <a:r>
              <a:rPr lang="en-US" altLang="zh-CN" dirty="0"/>
              <a:t>: (1) 1,1,1,3;(2)1,1,2,2;(3)0,2,2,2.</a:t>
            </a:r>
            <a:endParaRPr lang="en-US" altLang="zh-CN" dirty="0"/>
          </a:p>
          <a:p>
            <a:pPr marL="0" eaLnBrk="1" hangingPunct="1">
              <a:lnSpc>
                <a:spcPct val="115000"/>
              </a:lnSpc>
            </a:pPr>
            <a:endParaRPr lang="en-US" altLang="zh-CN" dirty="0"/>
          </a:p>
        </p:txBody>
      </p:sp>
      <p:grpSp>
        <p:nvGrpSpPr>
          <p:cNvPr id="2" name="Group 4"/>
          <p:cNvGrpSpPr/>
          <p:nvPr/>
        </p:nvGrpSpPr>
        <p:grpSpPr>
          <a:xfrm>
            <a:off x="1023938" y="3162300"/>
            <a:ext cx="1752600" cy="1447800"/>
            <a:chOff x="672" y="2544"/>
            <a:chExt cx="1104" cy="912"/>
          </a:xfrm>
        </p:grpSpPr>
        <p:sp>
          <p:nvSpPr>
            <p:cNvPr id="24582" name="Text Box 5"/>
            <p:cNvSpPr txBox="1"/>
            <p:nvPr/>
          </p:nvSpPr>
          <p:spPr>
            <a:xfrm>
              <a:off x="864" y="3168"/>
              <a:ext cx="72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1,1,1,3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24583" name="Picture 6" descr="例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72" y="2544"/>
              <a:ext cx="1104" cy="57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" name="Group 7"/>
          <p:cNvGrpSpPr/>
          <p:nvPr/>
        </p:nvGrpSpPr>
        <p:grpSpPr>
          <a:xfrm>
            <a:off x="3538538" y="3162300"/>
            <a:ext cx="1828800" cy="1447800"/>
            <a:chOff x="2256" y="2544"/>
            <a:chExt cx="1152" cy="912"/>
          </a:xfrm>
        </p:grpSpPr>
        <p:pic>
          <p:nvPicPr>
            <p:cNvPr id="24585" name="Picture 8" descr="例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6" y="2544"/>
              <a:ext cx="1152" cy="6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86" name="Text Box 9"/>
            <p:cNvSpPr txBox="1"/>
            <p:nvPr/>
          </p:nvSpPr>
          <p:spPr>
            <a:xfrm>
              <a:off x="2448" y="3168"/>
              <a:ext cx="72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1,1,2,2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0"/>
          <p:cNvGrpSpPr/>
          <p:nvPr/>
        </p:nvGrpSpPr>
        <p:grpSpPr>
          <a:xfrm>
            <a:off x="6129338" y="3128963"/>
            <a:ext cx="1878012" cy="1481137"/>
            <a:chOff x="3888" y="2523"/>
            <a:chExt cx="1183" cy="933"/>
          </a:xfrm>
        </p:grpSpPr>
        <p:pic>
          <p:nvPicPr>
            <p:cNvPr id="24588" name="Picture 11" descr="例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8" y="2523"/>
              <a:ext cx="1183" cy="61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89" name="Text Box 12"/>
            <p:cNvSpPr txBox="1"/>
            <p:nvPr/>
          </p:nvSpPr>
          <p:spPr>
            <a:xfrm>
              <a:off x="4128" y="3168"/>
              <a:ext cx="72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0,2,2,2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06883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06883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06883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charRg st="2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06883">
                                            <p:txEl>
                                              <p:charRg st="2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06883">
                                            <p:txEl>
                                              <p:charRg st="2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06883">
                                            <p:txEl>
                                              <p:charRg st="2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4843463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完全图与正则图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7667" name="Rectangle 3"/>
          <p:cNvSpPr>
            <a:spLocks noGrp="1"/>
          </p:cNvSpPr>
          <p:nvPr>
            <p:ph idx="1"/>
          </p:nvPr>
        </p:nvSpPr>
        <p:spPr>
          <a:xfrm>
            <a:off x="303213" y="1211263"/>
            <a:ext cx="8658225" cy="5043487"/>
          </a:xfrm>
        </p:spPr>
        <p:txBody>
          <a:bodyPr vert="horz" wrap="square" lIns="91440" tIns="45720" rIns="91440" bIns="45720" anchor="t" anchorCtr="0"/>
          <a:p>
            <a:pPr marL="0" indent="0"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11.6 </a:t>
            </a:r>
            <a:r>
              <a:rPr lang="zh-CN" altLang="en-US" dirty="0">
                <a:solidFill>
                  <a:srgbClr val="FF3300"/>
                </a:solidFill>
              </a:rPr>
              <a:t>无向完全图</a:t>
            </a:r>
            <a:r>
              <a:rPr lang="en-US" altLang="zh-CN" i="1" dirty="0">
                <a:solidFill>
                  <a:srgbClr val="FF3300"/>
                </a:solidFill>
              </a:rPr>
              <a:t>G</a:t>
            </a:r>
            <a:r>
              <a:rPr lang="en-US" altLang="zh-CN" dirty="0"/>
              <a:t>: </a:t>
            </a:r>
            <a:r>
              <a:rPr lang="zh-CN" altLang="en-US" dirty="0"/>
              <a:t>每对顶点之间都有一条边的无向简单图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en-US" altLang="zh-CN" i="1" dirty="0"/>
              <a:t> n </a:t>
            </a:r>
            <a:r>
              <a:rPr lang="zh-CN" altLang="en-US" dirty="0"/>
              <a:t>阶无向完全图记作</a:t>
            </a:r>
            <a:r>
              <a:rPr lang="en-US" altLang="zh-CN" i="1" dirty="0"/>
              <a:t>K</a:t>
            </a:r>
            <a:r>
              <a:rPr lang="en-US" altLang="zh-CN" i="1" baseline="-25000" dirty="0"/>
              <a:t>n</a:t>
            </a:r>
            <a:r>
              <a:rPr lang="en-US" altLang="zh-CN" dirty="0"/>
              <a:t>,    </a:t>
            </a:r>
            <a:endParaRPr lang="en-US" altLang="zh-CN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en-US" altLang="zh-CN" dirty="0"/>
              <a:t>    </a:t>
            </a:r>
            <a:r>
              <a:rPr lang="zh-CN" altLang="en-US" dirty="0"/>
              <a:t>顶点数 </a:t>
            </a:r>
            <a:r>
              <a:rPr lang="en-US" altLang="zh-CN" i="1" dirty="0"/>
              <a:t>n</a:t>
            </a:r>
            <a:r>
              <a:rPr lang="en-US" altLang="zh-CN" dirty="0"/>
              <a:t>, </a:t>
            </a:r>
            <a:r>
              <a:rPr lang="zh-CN" altLang="en-US" dirty="0"/>
              <a:t>边数 </a:t>
            </a:r>
            <a:r>
              <a:rPr lang="en-US" altLang="zh-CN" i="1" dirty="0"/>
              <a:t>m</a:t>
            </a:r>
            <a:r>
              <a:rPr lang="en-US" altLang="zh-CN" dirty="0"/>
              <a:t>=</a:t>
            </a:r>
            <a:r>
              <a:rPr lang="en-US" altLang="zh-CN" i="1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i="1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1)/2, </a:t>
            </a:r>
            <a:r>
              <a:rPr lang="en-US" altLang="zh-CN" i="1" dirty="0">
                <a:sym typeface="Symbol" panose="05050102010706020507" pitchFamily="18" charset="2"/>
              </a:rPr>
              <a:t></a:t>
            </a:r>
            <a:r>
              <a:rPr lang="en-US" altLang="zh-CN" dirty="0"/>
              <a:t>=</a:t>
            </a:r>
            <a:r>
              <a:rPr lang="en-US" altLang="zh-CN" i="1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=</a:t>
            </a:r>
            <a:r>
              <a:rPr lang="en-US" altLang="zh-CN" i="1" dirty="0"/>
              <a:t>n</a:t>
            </a:r>
            <a:r>
              <a:rPr lang="en-US" altLang="zh-CN" i="1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1.</a:t>
            </a:r>
            <a:endParaRPr lang="en-US" altLang="zh-CN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F3300"/>
                </a:solidFill>
              </a:rPr>
              <a:t>有向完全图</a:t>
            </a:r>
            <a:r>
              <a:rPr lang="en-US" altLang="zh-CN" i="1" dirty="0">
                <a:solidFill>
                  <a:srgbClr val="FF3300"/>
                </a:solidFill>
              </a:rPr>
              <a:t>D</a:t>
            </a:r>
            <a:r>
              <a:rPr lang="en-US" altLang="zh-CN" dirty="0"/>
              <a:t>: </a:t>
            </a:r>
            <a:r>
              <a:rPr lang="zh-CN" altLang="en-US" dirty="0"/>
              <a:t>每对顶点之间均有两条方向相反的边的有向简单图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en-US" altLang="zh-CN" dirty="0"/>
              <a:t>    </a:t>
            </a:r>
            <a:r>
              <a:rPr lang="zh-CN" altLang="en-US" dirty="0"/>
              <a:t>顶点数</a:t>
            </a:r>
            <a:r>
              <a:rPr lang="en-US" altLang="zh-CN" i="1" dirty="0"/>
              <a:t>n</a:t>
            </a:r>
            <a:r>
              <a:rPr lang="en-US" altLang="zh-CN" dirty="0"/>
              <a:t>, </a:t>
            </a:r>
            <a:r>
              <a:rPr lang="zh-CN" altLang="en-US" dirty="0"/>
              <a:t>边数</a:t>
            </a:r>
            <a:r>
              <a:rPr lang="en-US" altLang="zh-CN" i="1" dirty="0"/>
              <a:t>m</a:t>
            </a:r>
            <a:r>
              <a:rPr lang="en-US" altLang="zh-CN" dirty="0"/>
              <a:t>=</a:t>
            </a:r>
            <a:r>
              <a:rPr lang="en-US" altLang="zh-CN" i="1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i="1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1), </a:t>
            </a:r>
            <a:r>
              <a:rPr lang="en-US" altLang="zh-CN" i="1" dirty="0">
                <a:sym typeface="Symbol" panose="05050102010706020507" pitchFamily="18" charset="2"/>
              </a:rPr>
              <a:t></a:t>
            </a:r>
            <a:r>
              <a:rPr lang="en-US" altLang="zh-CN" i="1" baseline="30000" dirty="0">
                <a:sym typeface="Symbol" panose="05050102010706020507" pitchFamily="18" charset="2"/>
              </a:rPr>
              <a:t>+</a:t>
            </a:r>
            <a:r>
              <a:rPr lang="en-US" altLang="zh-CN" dirty="0"/>
              <a:t>=</a:t>
            </a:r>
            <a:r>
              <a:rPr lang="en-US" altLang="zh-CN" i="1" dirty="0">
                <a:sym typeface="Symbol" panose="05050102010706020507" pitchFamily="18" charset="2"/>
              </a:rPr>
              <a:t></a:t>
            </a:r>
            <a:r>
              <a:rPr lang="en-US" altLang="zh-CN" i="1" baseline="30000" dirty="0">
                <a:sym typeface="Symbol" panose="05050102010706020507" pitchFamily="18" charset="2"/>
              </a:rPr>
              <a:t>+</a:t>
            </a:r>
            <a:r>
              <a:rPr lang="en-US" altLang="zh-CN" dirty="0"/>
              <a:t>=</a:t>
            </a:r>
            <a:r>
              <a:rPr lang="en-US" altLang="zh-CN" i="1" dirty="0">
                <a:sym typeface="Symbol" panose="05050102010706020507" pitchFamily="18" charset="2"/>
              </a:rPr>
              <a:t></a:t>
            </a:r>
            <a:r>
              <a:rPr lang="en-US" altLang="zh-CN" i="1" baseline="30000" dirty="0">
                <a:sym typeface="Symbol" panose="05050102010706020507" pitchFamily="18" charset="2"/>
              </a:rPr>
              <a:t> </a:t>
            </a:r>
            <a:r>
              <a:rPr lang="en-US" altLang="zh-CN" dirty="0"/>
              <a:t>=</a:t>
            </a:r>
            <a:r>
              <a:rPr lang="en-US" altLang="zh-CN" i="1" dirty="0">
                <a:sym typeface="Symbol" panose="05050102010706020507" pitchFamily="18" charset="2"/>
              </a:rPr>
              <a:t></a:t>
            </a:r>
            <a:r>
              <a:rPr lang="en-US" altLang="zh-CN" i="1" baseline="30000" dirty="0">
                <a:sym typeface="Symbol" panose="05050102010706020507" pitchFamily="18" charset="2"/>
              </a:rPr>
              <a:t> </a:t>
            </a:r>
            <a:r>
              <a:rPr lang="en-US" altLang="zh-CN" dirty="0"/>
              <a:t>=</a:t>
            </a:r>
            <a:r>
              <a:rPr lang="en-US" altLang="zh-CN" i="1" dirty="0"/>
              <a:t>n</a:t>
            </a:r>
            <a:r>
              <a:rPr lang="en-US" altLang="zh-CN" i="1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1, </a:t>
            </a:r>
            <a:r>
              <a:rPr lang="en-US" altLang="zh-CN" i="1" dirty="0">
                <a:sym typeface="Symbol" panose="05050102010706020507" pitchFamily="18" charset="2"/>
              </a:rPr>
              <a:t></a:t>
            </a:r>
            <a:r>
              <a:rPr lang="en-US" altLang="zh-CN" dirty="0"/>
              <a:t>=</a:t>
            </a:r>
            <a:r>
              <a:rPr lang="en-US" altLang="zh-CN" i="1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=2(</a:t>
            </a:r>
            <a:r>
              <a:rPr lang="en-US" altLang="zh-CN" i="1" dirty="0"/>
              <a:t>n</a:t>
            </a:r>
            <a:r>
              <a:rPr lang="en-US" altLang="zh-CN" i="1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1).</a:t>
            </a:r>
            <a:endParaRPr lang="en-US" altLang="zh-CN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FF3300"/>
                </a:solidFill>
              </a:rPr>
              <a:t>N</a:t>
            </a:r>
            <a:r>
              <a:rPr lang="zh-CN" altLang="en-US" dirty="0">
                <a:solidFill>
                  <a:srgbClr val="FF3300"/>
                </a:solidFill>
              </a:rPr>
              <a:t>阶竞赛图</a:t>
            </a:r>
            <a:r>
              <a:rPr lang="en-US" altLang="zh-CN" i="1" dirty="0">
                <a:solidFill>
                  <a:srgbClr val="FF3300"/>
                </a:solidFill>
              </a:rPr>
              <a:t>D</a:t>
            </a:r>
            <a:r>
              <a:rPr lang="en-US" altLang="zh-CN" dirty="0"/>
              <a:t>: </a:t>
            </a:r>
            <a:r>
              <a:rPr lang="en-US" altLang="zh-CN" i="1" dirty="0">
                <a:solidFill>
                  <a:srgbClr val="FF3300"/>
                </a:solidFill>
              </a:rPr>
              <a:t>D</a:t>
            </a:r>
            <a:r>
              <a:rPr lang="zh-CN" altLang="en-US" i="1" dirty="0">
                <a:solidFill>
                  <a:srgbClr val="FF3300"/>
                </a:solidFill>
              </a:rPr>
              <a:t>为</a:t>
            </a:r>
            <a:r>
              <a:rPr lang="zh-CN" altLang="en-US" dirty="0"/>
              <a:t>有向简单图</a:t>
            </a:r>
            <a:r>
              <a:rPr lang="en-US" altLang="zh-CN" dirty="0"/>
              <a:t>,</a:t>
            </a:r>
            <a:r>
              <a:rPr lang="zh-CN" altLang="en-US" dirty="0"/>
              <a:t>且它的基图为</a:t>
            </a:r>
            <a:r>
              <a:rPr lang="en-US" altLang="zh-CN" i="1" dirty="0"/>
              <a:t>K</a:t>
            </a:r>
            <a:r>
              <a:rPr lang="en-US" altLang="zh-CN" i="1" baseline="-25000" dirty="0"/>
              <a:t>n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en-US" altLang="zh-CN" dirty="0"/>
              <a:t>    </a:t>
            </a:r>
            <a:r>
              <a:rPr lang="zh-CN" altLang="en-US" dirty="0"/>
              <a:t>顶点数</a:t>
            </a:r>
            <a:r>
              <a:rPr lang="en-US" altLang="zh-CN" i="1" dirty="0"/>
              <a:t>n</a:t>
            </a:r>
            <a:r>
              <a:rPr lang="en-US" altLang="zh-CN" dirty="0"/>
              <a:t>, </a:t>
            </a:r>
            <a:r>
              <a:rPr lang="zh-CN" altLang="en-US" dirty="0"/>
              <a:t>边数</a:t>
            </a:r>
            <a:r>
              <a:rPr lang="en-US" altLang="zh-CN" i="1" dirty="0"/>
              <a:t>m</a:t>
            </a:r>
            <a:r>
              <a:rPr lang="en-US" altLang="zh-CN" dirty="0"/>
              <a:t>=</a:t>
            </a:r>
            <a:r>
              <a:rPr lang="en-US" altLang="zh-CN" i="1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i="1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1)/2.</a:t>
            </a:r>
            <a:endParaRPr lang="en-US" altLang="zh-CN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11.7 </a:t>
            </a:r>
            <a:r>
              <a:rPr lang="en-US" altLang="zh-CN" i="1" dirty="0">
                <a:solidFill>
                  <a:srgbClr val="FF3300"/>
                </a:solidFill>
              </a:rPr>
              <a:t>k-</a:t>
            </a:r>
            <a:r>
              <a:rPr lang="zh-CN" altLang="en-US" dirty="0">
                <a:solidFill>
                  <a:srgbClr val="FF3300"/>
                </a:solidFill>
              </a:rPr>
              <a:t>正则图</a:t>
            </a:r>
            <a:r>
              <a:rPr lang="en-US" altLang="zh-CN" dirty="0"/>
              <a:t>: </a:t>
            </a:r>
            <a:r>
              <a:rPr lang="zh-CN" altLang="en-US" dirty="0"/>
              <a:t>每个顶点的度数均为 </a:t>
            </a:r>
            <a:r>
              <a:rPr lang="en-US" altLang="zh-CN" i="1" dirty="0"/>
              <a:t>k </a:t>
            </a:r>
            <a:r>
              <a:rPr lang="zh-CN" altLang="en-US" dirty="0"/>
              <a:t>的无向简单图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en-US" altLang="zh-CN" dirty="0"/>
              <a:t>    </a:t>
            </a:r>
            <a:r>
              <a:rPr lang="zh-CN" altLang="en-US" dirty="0"/>
              <a:t>顶点数 </a:t>
            </a:r>
            <a:r>
              <a:rPr lang="en-US" altLang="zh-CN" i="1" dirty="0"/>
              <a:t>n</a:t>
            </a:r>
            <a:r>
              <a:rPr lang="en-US" altLang="zh-CN" dirty="0"/>
              <a:t>, </a:t>
            </a:r>
            <a:r>
              <a:rPr lang="zh-CN" altLang="en-US" dirty="0"/>
              <a:t>边数 </a:t>
            </a:r>
            <a:r>
              <a:rPr lang="en-US" altLang="zh-CN" i="1" dirty="0"/>
              <a:t>m</a:t>
            </a:r>
            <a:r>
              <a:rPr lang="en-US" altLang="zh-CN" dirty="0"/>
              <a:t>=</a:t>
            </a:r>
            <a:r>
              <a:rPr lang="en-US" altLang="zh-CN" i="1" dirty="0"/>
              <a:t>kn</a:t>
            </a:r>
            <a:r>
              <a:rPr lang="en-US" altLang="zh-CN" dirty="0"/>
              <a:t>/2.</a:t>
            </a:r>
            <a:endParaRPr lang="en-US" altLang="zh-CN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97667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97667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97667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charRg st="34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497667">
                                            <p:txEl>
                                              <p:charRg st="34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497667">
                                            <p:txEl>
                                              <p:charRg st="34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497667">
                                            <p:txEl>
                                              <p:charRg st="34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charRg st="53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497667">
                                            <p:txEl>
                                              <p:charRg st="53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497667">
                                            <p:txEl>
                                              <p:charRg st="53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497667">
                                            <p:txEl>
                                              <p:charRg st="53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charRg st="88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497667">
                                            <p:txEl>
                                              <p:charRg st="88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497667">
                                            <p:txEl>
                                              <p:charRg st="88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497667">
                                            <p:txEl>
                                              <p:charRg st="88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charRg st="120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497667">
                                            <p:txEl>
                                              <p:charRg st="120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497667">
                                            <p:txEl>
                                              <p:charRg st="120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497667">
                                            <p:txEl>
                                              <p:charRg st="120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charRg st="173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497667">
                                            <p:txEl>
                                              <p:charRg st="173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497667">
                                            <p:txEl>
                                              <p:charRg st="173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497667">
                                            <p:txEl>
                                              <p:charRg st="173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charRg st="199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497667">
                                            <p:txEl>
                                              <p:charRg st="199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497667">
                                            <p:txEl>
                                              <p:charRg st="199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497667">
                                            <p:txEl>
                                              <p:charRg st="199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charRg st="223" end="2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497667">
                                            <p:txEl>
                                              <p:charRg st="223" end="2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497667">
                                            <p:txEl>
                                              <p:charRg st="223" end="25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497667">
                                            <p:txEl>
                                              <p:charRg st="223" end="25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charRg st="257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497667">
                                            <p:txEl>
                                              <p:charRg st="257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497667">
                                            <p:txEl>
                                              <p:charRg st="257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497667">
                                            <p:txEl>
                                              <p:charRg st="257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2225" y="1588"/>
            <a:ext cx="2919413" cy="7207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295400" y="1871663"/>
            <a:ext cx="1295400" cy="1785937"/>
            <a:chOff x="816" y="1467"/>
            <a:chExt cx="816" cy="1125"/>
          </a:xfrm>
        </p:grpSpPr>
        <p:pic>
          <p:nvPicPr>
            <p:cNvPr id="26629" name="Picture 4" descr="K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16" y="1467"/>
              <a:ext cx="816" cy="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30" name="Text Box 5"/>
            <p:cNvSpPr txBox="1"/>
            <p:nvPr/>
          </p:nvSpPr>
          <p:spPr>
            <a:xfrm>
              <a:off x="1008" y="2304"/>
              <a:ext cx="336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K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3</a:t>
              </a:r>
              <a:endParaRPr lang="en-US" altLang="zh-CN" sz="24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3" name="Group 6"/>
          <p:cNvGrpSpPr/>
          <p:nvPr/>
        </p:nvGrpSpPr>
        <p:grpSpPr>
          <a:xfrm>
            <a:off x="3429000" y="1752600"/>
            <a:ext cx="1493838" cy="1905000"/>
            <a:chOff x="2160" y="1392"/>
            <a:chExt cx="941" cy="1200"/>
          </a:xfrm>
        </p:grpSpPr>
        <p:pic>
          <p:nvPicPr>
            <p:cNvPr id="26632" name="Picture 7" descr="K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60" y="1392"/>
              <a:ext cx="941" cy="85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33" name="Text Box 8"/>
            <p:cNvSpPr txBox="1"/>
            <p:nvPr/>
          </p:nvSpPr>
          <p:spPr>
            <a:xfrm>
              <a:off x="2496" y="2304"/>
              <a:ext cx="336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K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5</a:t>
              </a:r>
              <a:endParaRPr lang="en-US" altLang="zh-CN" sz="24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4" name="Group 9"/>
          <p:cNvGrpSpPr/>
          <p:nvPr/>
        </p:nvGrpSpPr>
        <p:grpSpPr>
          <a:xfrm>
            <a:off x="5791200" y="1752600"/>
            <a:ext cx="2209800" cy="1981200"/>
            <a:chOff x="3648" y="1392"/>
            <a:chExt cx="1392" cy="1248"/>
          </a:xfrm>
        </p:grpSpPr>
        <p:pic>
          <p:nvPicPr>
            <p:cNvPr id="26635" name="Picture 10" descr="有向K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2" y="1392"/>
              <a:ext cx="960" cy="87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36" name="Text Box 11"/>
            <p:cNvSpPr txBox="1"/>
            <p:nvPr/>
          </p:nvSpPr>
          <p:spPr>
            <a:xfrm>
              <a:off x="3648" y="2352"/>
              <a:ext cx="1392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3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阶有向完全图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2"/>
          <p:cNvGrpSpPr/>
          <p:nvPr/>
        </p:nvGrpSpPr>
        <p:grpSpPr>
          <a:xfrm>
            <a:off x="1219200" y="4267200"/>
            <a:ext cx="1371600" cy="1905000"/>
            <a:chOff x="768" y="2688"/>
            <a:chExt cx="864" cy="1200"/>
          </a:xfrm>
        </p:grpSpPr>
        <p:pic>
          <p:nvPicPr>
            <p:cNvPr id="26638" name="Picture 13" descr="2正则图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8" y="2688"/>
              <a:ext cx="816" cy="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39" name="Text Box 14"/>
            <p:cNvSpPr txBox="1"/>
            <p:nvPr/>
          </p:nvSpPr>
          <p:spPr>
            <a:xfrm>
              <a:off x="768" y="3600"/>
              <a:ext cx="86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rPr>
                <a:t>正则图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15"/>
          <p:cNvGrpSpPr/>
          <p:nvPr/>
        </p:nvGrpSpPr>
        <p:grpSpPr>
          <a:xfrm>
            <a:off x="6172200" y="3962400"/>
            <a:ext cx="1600200" cy="2286000"/>
            <a:chOff x="3888" y="2496"/>
            <a:chExt cx="1008" cy="1440"/>
          </a:xfrm>
        </p:grpSpPr>
        <p:pic>
          <p:nvPicPr>
            <p:cNvPr id="26641" name="Picture 16" descr="4正则图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88" y="2496"/>
              <a:ext cx="929" cy="115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42" name="Text Box 17"/>
            <p:cNvSpPr txBox="1"/>
            <p:nvPr/>
          </p:nvSpPr>
          <p:spPr>
            <a:xfrm>
              <a:off x="4032" y="3648"/>
              <a:ext cx="86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rPr>
                <a:t>正则图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18"/>
          <p:cNvGrpSpPr/>
          <p:nvPr/>
        </p:nvGrpSpPr>
        <p:grpSpPr>
          <a:xfrm>
            <a:off x="3270250" y="4038600"/>
            <a:ext cx="1682750" cy="2133600"/>
            <a:chOff x="2060" y="2544"/>
            <a:chExt cx="1060" cy="1344"/>
          </a:xfrm>
        </p:grpSpPr>
        <p:sp>
          <p:nvSpPr>
            <p:cNvPr id="26644" name="Text Box 19"/>
            <p:cNvSpPr txBox="1"/>
            <p:nvPr/>
          </p:nvSpPr>
          <p:spPr>
            <a:xfrm>
              <a:off x="2208" y="3600"/>
              <a:ext cx="86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rPr>
                <a:t>正则图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26645" name="Picture 20" descr="彼德森图"/>
            <p:cNvPicPr>
              <a:picLocks noChangeAspect="1"/>
            </p:cNvPicPr>
            <p:nvPr/>
          </p:nvPicPr>
          <p:blipFill>
            <a:blip r:embed="rId6"/>
            <a:srcRect l="34821"/>
            <a:stretch>
              <a:fillRect/>
            </a:stretch>
          </p:blipFill>
          <p:spPr>
            <a:xfrm>
              <a:off x="2060" y="2544"/>
              <a:ext cx="1060" cy="95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831975" y="61913"/>
            <a:ext cx="1657350" cy="6604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子图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01763" name="Rectangle 3"/>
          <p:cNvSpPr>
            <a:spLocks noGrp="1"/>
          </p:cNvSpPr>
          <p:nvPr>
            <p:ph idx="1"/>
          </p:nvPr>
        </p:nvSpPr>
        <p:spPr>
          <a:xfrm>
            <a:off x="242888" y="1204913"/>
            <a:ext cx="8658225" cy="5291137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lnSpc>
                <a:spcPct val="115000"/>
              </a:lnSpc>
            </a:pPr>
            <a:r>
              <a:rPr lang="zh-CN" altLang="en-US" dirty="0">
                <a:solidFill>
                  <a:srgbClr val="FF0066"/>
                </a:solidFill>
              </a:rPr>
              <a:t>定义</a:t>
            </a:r>
            <a:r>
              <a:rPr lang="en-US" altLang="zh-CN" dirty="0">
                <a:solidFill>
                  <a:srgbClr val="FF0066"/>
                </a:solidFill>
              </a:rPr>
              <a:t>11.8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&gt;, 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&gt;</a:t>
            </a:r>
            <a:r>
              <a:rPr lang="zh-CN" altLang="en-US" dirty="0"/>
              <a:t>是两个图</a:t>
            </a:r>
            <a:r>
              <a:rPr lang="en-US" altLang="zh-CN" dirty="0"/>
              <a:t>(</a:t>
            </a:r>
            <a:r>
              <a:rPr lang="zh-CN" altLang="en-US" dirty="0"/>
              <a:t>同为无向</a:t>
            </a:r>
            <a:r>
              <a:rPr lang="en-US" altLang="zh-CN" dirty="0"/>
              <a:t>,</a:t>
            </a:r>
            <a:r>
              <a:rPr lang="zh-CN" altLang="en-US" dirty="0"/>
              <a:t>或同为有向图</a:t>
            </a:r>
            <a:r>
              <a:rPr lang="en-US" altLang="zh-CN" dirty="0"/>
              <a:t>).</a:t>
            </a:r>
            <a:endParaRPr lang="en-US" altLang="zh-CN" dirty="0"/>
          </a:p>
          <a:p>
            <a:pPr marL="0" algn="just" eaLnBrk="1" hangingPunct="1">
              <a:lnSpc>
                <a:spcPct val="115000"/>
              </a:lnSpc>
            </a:pPr>
            <a:r>
              <a:rPr lang="en-US" altLang="zh-CN" dirty="0"/>
              <a:t>   </a:t>
            </a:r>
            <a:r>
              <a:rPr lang="zh-CN" altLang="en-US" dirty="0"/>
              <a:t>若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>
                <a:sym typeface="Symbol" panose="05050102010706020507" pitchFamily="18" charset="2"/>
              </a:rPr>
              <a:t>V</a:t>
            </a:r>
            <a:r>
              <a:rPr lang="zh-CN" altLang="en-US" dirty="0"/>
              <a:t>且</a:t>
            </a:r>
            <a:r>
              <a:rPr lang="en-US" altLang="zh-CN" i="1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>
                <a:sym typeface="Symbol" panose="05050102010706020507" pitchFamily="18" charset="2"/>
              </a:rPr>
              <a:t>E,</a:t>
            </a:r>
            <a:r>
              <a:rPr lang="en-US" altLang="zh-CN" dirty="0"/>
              <a:t> </a:t>
            </a:r>
            <a:r>
              <a:rPr lang="zh-CN" altLang="en-US" dirty="0"/>
              <a:t>则称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3300"/>
                </a:solidFill>
              </a:rPr>
              <a:t>子图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zh-CN" altLang="en-US" dirty="0"/>
              <a:t>为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3300"/>
                </a:solidFill>
              </a:rPr>
              <a:t>母图</a:t>
            </a:r>
            <a:r>
              <a:rPr lang="en-US" altLang="zh-CN" dirty="0"/>
              <a:t>, </a:t>
            </a:r>
            <a:r>
              <a:rPr lang="zh-CN" altLang="en-US" dirty="0"/>
              <a:t>记作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/>
              <a:t>G.</a:t>
            </a:r>
            <a:endParaRPr lang="en-US" altLang="zh-CN" dirty="0"/>
          </a:p>
          <a:p>
            <a:pPr marL="0" algn="just" eaLnBrk="1" hangingPunct="1">
              <a:lnSpc>
                <a:spcPct val="115000"/>
              </a:lnSpc>
            </a:pPr>
            <a:r>
              <a:rPr lang="en-US" altLang="zh-CN" dirty="0"/>
              <a:t>   </a:t>
            </a:r>
            <a:r>
              <a:rPr lang="zh-CN" altLang="en-US" dirty="0"/>
              <a:t>若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</a:t>
            </a:r>
            <a:r>
              <a:rPr lang="en-US" altLang="zh-CN" i="1" dirty="0"/>
              <a:t>V</a:t>
            </a:r>
            <a:r>
              <a:rPr lang="zh-CN" altLang="en-US" dirty="0"/>
              <a:t>或</a:t>
            </a:r>
            <a:r>
              <a:rPr lang="en-US" altLang="zh-CN" i="1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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zh-CN" altLang="en-US" dirty="0"/>
              <a:t>称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3300"/>
                </a:solidFill>
              </a:rPr>
              <a:t>真子图</a:t>
            </a:r>
            <a:r>
              <a:rPr lang="en-US" altLang="zh-CN" dirty="0">
                <a:solidFill>
                  <a:srgbClr val="FF3300"/>
                </a:solidFill>
              </a:rPr>
              <a:t>.</a:t>
            </a:r>
            <a:endParaRPr lang="en-US" altLang="zh-CN" dirty="0">
              <a:solidFill>
                <a:srgbClr val="FF3300"/>
              </a:solidFill>
            </a:endParaRPr>
          </a:p>
          <a:p>
            <a:pPr marL="0" algn="just"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dirty="0"/>
              <a:t>   </a:t>
            </a:r>
            <a:r>
              <a:rPr lang="zh-CN" altLang="en-US" dirty="0"/>
              <a:t>若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/>
              <a:t>G </a:t>
            </a:r>
            <a:r>
              <a:rPr lang="zh-CN" altLang="en-US" dirty="0"/>
              <a:t>且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=</a:t>
            </a:r>
            <a:r>
              <a:rPr lang="en-US" altLang="zh-CN" i="1" dirty="0"/>
              <a:t>V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3300"/>
                </a:solidFill>
              </a:rPr>
              <a:t>生成子图</a:t>
            </a:r>
            <a:r>
              <a:rPr lang="en-US" altLang="zh-CN" dirty="0">
                <a:solidFill>
                  <a:srgbClr val="FF3300"/>
                </a:solidFill>
              </a:rPr>
              <a:t>.</a:t>
            </a:r>
            <a:endParaRPr lang="en-US" altLang="zh-CN" dirty="0">
              <a:solidFill>
                <a:srgbClr val="FF3300"/>
              </a:solidFill>
            </a:endParaRPr>
          </a:p>
          <a:p>
            <a:pPr marL="0" algn="just" eaLnBrk="1" hangingPunct="1">
              <a:lnSpc>
                <a:spcPct val="115000"/>
              </a:lnSpc>
            </a:pP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/>
              <a:t>V</a:t>
            </a:r>
            <a:r>
              <a:rPr lang="zh-CN" altLang="en-US" dirty="0"/>
              <a:t>且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,</a:t>
            </a:r>
            <a:r>
              <a:rPr lang="en-US" altLang="zh-CN" dirty="0"/>
              <a:t> </a:t>
            </a:r>
            <a:r>
              <a:rPr lang="zh-CN" altLang="en-US" dirty="0"/>
              <a:t>以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为顶点集</a:t>
            </a:r>
            <a:r>
              <a:rPr lang="en-US" altLang="zh-CN" dirty="0"/>
              <a:t>, </a:t>
            </a:r>
            <a:r>
              <a:rPr lang="zh-CN" altLang="en-US" dirty="0"/>
              <a:t>以两端点都在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中的所有边为边集的</a:t>
            </a:r>
            <a:r>
              <a:rPr lang="en-US" altLang="zh-CN" i="1" dirty="0"/>
              <a:t>G</a:t>
            </a:r>
            <a:r>
              <a:rPr lang="zh-CN" altLang="en-US" dirty="0"/>
              <a:t>的子图称作</a:t>
            </a:r>
            <a:r>
              <a:rPr lang="en-US" altLang="zh-CN" i="1" dirty="0">
                <a:solidFill>
                  <a:srgbClr val="FF3300"/>
                </a:solidFill>
              </a:rPr>
              <a:t>V</a:t>
            </a:r>
            <a:r>
              <a:rPr lang="en-US" altLang="zh-CN" dirty="0">
                <a:solidFill>
                  <a:srgbClr val="FF3300"/>
                </a:solidFill>
                <a:sym typeface="Symbol" panose="05050102010706020507" pitchFamily="18" charset="2"/>
              </a:rPr>
              <a:t></a:t>
            </a:r>
            <a:r>
              <a:rPr lang="zh-CN" altLang="en-US" dirty="0">
                <a:solidFill>
                  <a:srgbClr val="FF3300"/>
                </a:solidFill>
              </a:rPr>
              <a:t>的导出子图</a:t>
            </a:r>
            <a:r>
              <a:rPr lang="en-US" altLang="zh-CN" dirty="0"/>
              <a:t>, </a:t>
            </a:r>
            <a:r>
              <a:rPr lang="zh-CN" altLang="en-US" dirty="0"/>
              <a:t>记作</a:t>
            </a:r>
            <a:r>
              <a:rPr lang="en-US" altLang="zh-CN" i="1" dirty="0"/>
              <a:t>G</a:t>
            </a:r>
            <a:r>
              <a:rPr lang="en-US" altLang="zh-CN" dirty="0"/>
              <a:t>[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].</a:t>
            </a:r>
            <a:endParaRPr lang="en-US" altLang="zh-CN" dirty="0"/>
          </a:p>
          <a:p>
            <a:pPr marL="0" eaLnBrk="1" hangingPunct="1">
              <a:lnSpc>
                <a:spcPct val="115000"/>
              </a:lnSpc>
            </a:pP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/>
              <a:t>E</a:t>
            </a:r>
            <a:r>
              <a:rPr lang="zh-CN" altLang="en-US" dirty="0"/>
              <a:t>且</a:t>
            </a:r>
            <a:r>
              <a:rPr lang="en-US" altLang="zh-CN" i="1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,</a:t>
            </a:r>
            <a:r>
              <a:rPr lang="en-US" altLang="zh-CN" dirty="0"/>
              <a:t> </a:t>
            </a:r>
            <a:r>
              <a:rPr lang="zh-CN" altLang="en-US" dirty="0"/>
              <a:t>以</a:t>
            </a:r>
            <a:r>
              <a:rPr lang="en-US" altLang="zh-CN" i="1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为边集</a:t>
            </a:r>
            <a:r>
              <a:rPr lang="en-US" altLang="zh-CN" dirty="0"/>
              <a:t>, </a:t>
            </a:r>
            <a:r>
              <a:rPr lang="zh-CN" altLang="en-US" dirty="0"/>
              <a:t>以</a:t>
            </a:r>
            <a:r>
              <a:rPr lang="en-US" altLang="zh-CN" i="1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中边关联的所有顶点为顶点集的</a:t>
            </a:r>
            <a:r>
              <a:rPr lang="en-US" altLang="zh-CN" i="1" dirty="0"/>
              <a:t>G</a:t>
            </a:r>
            <a:r>
              <a:rPr lang="zh-CN" altLang="en-US" dirty="0"/>
              <a:t>的子图称作</a:t>
            </a:r>
            <a:r>
              <a:rPr lang="en-US" altLang="zh-CN" i="1" dirty="0">
                <a:solidFill>
                  <a:srgbClr val="FF3300"/>
                </a:solidFill>
              </a:rPr>
              <a:t>E</a:t>
            </a:r>
            <a:r>
              <a:rPr lang="en-US" altLang="zh-CN" dirty="0">
                <a:solidFill>
                  <a:srgbClr val="FF3300"/>
                </a:solidFill>
                <a:sym typeface="Symbol" panose="05050102010706020507" pitchFamily="18" charset="2"/>
              </a:rPr>
              <a:t></a:t>
            </a:r>
            <a:r>
              <a:rPr lang="zh-CN" altLang="en-US" dirty="0">
                <a:solidFill>
                  <a:srgbClr val="FF3300"/>
                </a:solidFill>
              </a:rPr>
              <a:t>的导出子图</a:t>
            </a:r>
            <a:r>
              <a:rPr lang="en-US" altLang="zh-CN" dirty="0"/>
              <a:t>, </a:t>
            </a:r>
            <a:r>
              <a:rPr lang="zh-CN" altLang="en-US" dirty="0"/>
              <a:t>记作</a:t>
            </a:r>
            <a:r>
              <a:rPr lang="en-US" altLang="zh-CN" i="1" dirty="0"/>
              <a:t>G</a:t>
            </a:r>
            <a:r>
              <a:rPr lang="en-US" altLang="zh-CN" dirty="0"/>
              <a:t>[</a:t>
            </a:r>
            <a:r>
              <a:rPr lang="en-US" altLang="zh-CN" i="1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].</a:t>
            </a:r>
            <a:endParaRPr lang="en-US" altLang="zh-CN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01763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01763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01763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charRg st="46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01763">
                                            <p:txEl>
                                              <p:charRg st="46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01763">
                                            <p:txEl>
                                              <p:charRg st="46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01763">
                                            <p:txEl>
                                              <p:charRg st="46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charRg st="89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01763">
                                            <p:txEl>
                                              <p:charRg st="89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01763">
                                            <p:txEl>
                                              <p:charRg st="89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01763">
                                            <p:txEl>
                                              <p:charRg st="89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charRg st="115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01763">
                                            <p:txEl>
                                              <p:charRg st="115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01763">
                                            <p:txEl>
                                              <p:charRg st="115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01763">
                                            <p:txEl>
                                              <p:charRg st="115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charRg st="144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01763">
                                            <p:txEl>
                                              <p:charRg st="144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01763">
                                            <p:txEl>
                                              <p:charRg st="144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01763">
                                            <p:txEl>
                                              <p:charRg st="144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>
                                            <p:txEl>
                                              <p:charRg st="208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01763">
                                            <p:txEl>
                                              <p:charRg st="208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01763">
                                            <p:txEl>
                                              <p:charRg st="208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01763">
                                            <p:txEl>
                                              <p:charRg st="208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152400"/>
            <a:ext cx="1778000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02787" name="Rectangle 3"/>
          <p:cNvSpPr>
            <a:spLocks noGrp="1"/>
          </p:cNvSpPr>
          <p:nvPr>
            <p:ph idx="1"/>
          </p:nvPr>
        </p:nvSpPr>
        <p:spPr>
          <a:xfrm>
            <a:off x="685800" y="4524375"/>
            <a:ext cx="7772400" cy="1828800"/>
          </a:xfrm>
        </p:spPr>
        <p:txBody>
          <a:bodyPr vert="horz" wrap="square" lIns="91440" tIns="45720" rIns="91440" bIns="45720" anchor="t" anchorCtr="0"/>
          <a:p>
            <a:pPr marL="0" eaLnBrk="1" hangingPunct="1"/>
            <a:r>
              <a:rPr lang="en-US" altLang="zh-CN" dirty="0"/>
              <a:t>(1),(2),(3)</a:t>
            </a:r>
            <a:r>
              <a:rPr lang="zh-CN" altLang="en-US" dirty="0"/>
              <a:t>是</a:t>
            </a:r>
            <a:r>
              <a:rPr lang="en-US" altLang="zh-CN" dirty="0"/>
              <a:t>(1)</a:t>
            </a:r>
            <a:r>
              <a:rPr lang="zh-CN" altLang="en-US" dirty="0"/>
              <a:t>的子图</a:t>
            </a:r>
            <a:r>
              <a:rPr lang="en-US" altLang="zh-CN" dirty="0"/>
              <a:t>, (2),(3)</a:t>
            </a:r>
            <a:r>
              <a:rPr lang="zh-CN" altLang="en-US" dirty="0"/>
              <a:t>是真子图</a:t>
            </a:r>
            <a:r>
              <a:rPr lang="en-US" altLang="zh-CN" dirty="0"/>
              <a:t>, (1)</a:t>
            </a:r>
            <a:r>
              <a:rPr lang="zh-CN" altLang="en-US" dirty="0"/>
              <a:t>是母图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eaLnBrk="1" hangingPunct="1"/>
            <a:r>
              <a:rPr lang="en-US" altLang="zh-CN" dirty="0"/>
              <a:t>(1),(3)</a:t>
            </a:r>
            <a:r>
              <a:rPr lang="zh-CN" altLang="en-US" dirty="0"/>
              <a:t>是</a:t>
            </a:r>
            <a:r>
              <a:rPr lang="en-US" altLang="zh-CN" dirty="0"/>
              <a:t>(1)</a:t>
            </a:r>
            <a:r>
              <a:rPr lang="zh-CN" altLang="en-US" dirty="0"/>
              <a:t>的生成子图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eaLnBrk="1" hangingPunct="1"/>
            <a:r>
              <a:rPr lang="en-US" altLang="zh-CN" dirty="0"/>
              <a:t>(2)</a:t>
            </a:r>
            <a:r>
              <a:rPr lang="zh-CN" altLang="en-US" dirty="0"/>
              <a:t>是</a:t>
            </a:r>
            <a:r>
              <a:rPr lang="en-US" altLang="zh-CN" dirty="0"/>
              <a:t>{</a:t>
            </a:r>
            <a:r>
              <a:rPr lang="en-US" altLang="zh-CN" i="1" dirty="0"/>
              <a:t>d,e,f </a:t>
            </a:r>
            <a:r>
              <a:rPr lang="en-US" altLang="zh-CN" dirty="0"/>
              <a:t>}</a:t>
            </a:r>
            <a:r>
              <a:rPr lang="zh-CN" altLang="en-US" dirty="0"/>
              <a:t>的导出子图</a:t>
            </a:r>
            <a:r>
              <a:rPr lang="en-US" altLang="zh-CN" dirty="0"/>
              <a:t>, </a:t>
            </a:r>
            <a:r>
              <a:rPr lang="zh-CN" altLang="en-US" dirty="0"/>
              <a:t>也是</a:t>
            </a:r>
            <a:r>
              <a:rPr lang="en-US" altLang="zh-CN" dirty="0"/>
              <a:t>{</a:t>
            </a:r>
            <a:r>
              <a:rPr lang="en-US" altLang="zh-CN" i="1" dirty="0"/>
              <a:t>e</a:t>
            </a:r>
            <a:r>
              <a:rPr lang="en-US" altLang="zh-CN" baseline="-25000" dirty="0"/>
              <a:t>5</a:t>
            </a:r>
            <a:r>
              <a:rPr lang="en-US" altLang="zh-CN" dirty="0"/>
              <a:t>, </a:t>
            </a:r>
            <a:r>
              <a:rPr lang="en-US" altLang="zh-CN" i="1" dirty="0"/>
              <a:t>e</a:t>
            </a:r>
            <a:r>
              <a:rPr lang="en-US" altLang="zh-CN" baseline="-25000" dirty="0"/>
              <a:t>6</a:t>
            </a:r>
            <a:r>
              <a:rPr lang="en-US" altLang="zh-CN" dirty="0"/>
              <a:t>, </a:t>
            </a:r>
            <a:r>
              <a:rPr lang="en-US" altLang="zh-CN" i="1" dirty="0"/>
              <a:t>e</a:t>
            </a:r>
            <a:r>
              <a:rPr lang="en-US" altLang="zh-CN" baseline="-25000" dirty="0"/>
              <a:t>7</a:t>
            </a:r>
            <a:r>
              <a:rPr lang="en-US" altLang="zh-CN" dirty="0"/>
              <a:t>}</a:t>
            </a:r>
            <a:r>
              <a:rPr lang="zh-CN" altLang="en-US" dirty="0"/>
              <a:t>导出子图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eaLnBrk="1" hangingPunct="1"/>
            <a:r>
              <a:rPr lang="en-US" altLang="zh-CN" dirty="0"/>
              <a:t>(3)</a:t>
            </a:r>
            <a:r>
              <a:rPr lang="zh-CN" altLang="en-US" dirty="0"/>
              <a:t>是</a:t>
            </a:r>
            <a:r>
              <a:rPr lang="en-US" altLang="zh-CN" dirty="0"/>
              <a:t>{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e</a:t>
            </a:r>
            <a:r>
              <a:rPr lang="en-US" altLang="zh-CN" baseline="-25000" dirty="0"/>
              <a:t>3</a:t>
            </a:r>
            <a:r>
              <a:rPr lang="en-US" altLang="zh-CN" dirty="0"/>
              <a:t>, </a:t>
            </a:r>
            <a:r>
              <a:rPr lang="en-US" altLang="zh-CN" i="1" dirty="0"/>
              <a:t>e</a:t>
            </a:r>
            <a:r>
              <a:rPr lang="en-US" altLang="zh-CN" baseline="-25000" dirty="0"/>
              <a:t>5</a:t>
            </a:r>
            <a:r>
              <a:rPr lang="en-US" altLang="zh-CN" dirty="0"/>
              <a:t>, </a:t>
            </a:r>
            <a:r>
              <a:rPr lang="en-US" altLang="zh-CN" i="1" dirty="0"/>
              <a:t>e</a:t>
            </a:r>
            <a:r>
              <a:rPr lang="en-US" altLang="zh-CN" baseline="-25000" dirty="0"/>
              <a:t>7</a:t>
            </a:r>
            <a:r>
              <a:rPr lang="en-US" altLang="zh-CN" dirty="0"/>
              <a:t>}</a:t>
            </a:r>
            <a:r>
              <a:rPr lang="zh-CN" altLang="en-US" dirty="0"/>
              <a:t>的导出子图</a:t>
            </a:r>
            <a:r>
              <a:rPr lang="en-US" altLang="zh-CN" dirty="0"/>
              <a:t>.</a:t>
            </a:r>
            <a:endParaRPr lang="en-US" altLang="zh-CN" dirty="0"/>
          </a:p>
        </p:txBody>
      </p:sp>
      <p:grpSp>
        <p:nvGrpSpPr>
          <p:cNvPr id="28677" name="Group 4"/>
          <p:cNvGrpSpPr/>
          <p:nvPr/>
        </p:nvGrpSpPr>
        <p:grpSpPr>
          <a:xfrm>
            <a:off x="1219200" y="1323975"/>
            <a:ext cx="6934200" cy="2971800"/>
            <a:chOff x="768" y="1056"/>
            <a:chExt cx="4368" cy="1872"/>
          </a:xfrm>
        </p:grpSpPr>
        <p:grpSp>
          <p:nvGrpSpPr>
            <p:cNvPr id="28678" name="Group 5"/>
            <p:cNvGrpSpPr/>
            <p:nvPr/>
          </p:nvGrpSpPr>
          <p:grpSpPr>
            <a:xfrm>
              <a:off x="768" y="1056"/>
              <a:ext cx="4368" cy="1584"/>
              <a:chOff x="768" y="1056"/>
              <a:chExt cx="4368" cy="1584"/>
            </a:xfrm>
          </p:grpSpPr>
          <p:sp>
            <p:nvSpPr>
              <p:cNvPr id="28679" name="Text Box 6"/>
              <p:cNvSpPr txBox="1"/>
              <p:nvPr/>
            </p:nvSpPr>
            <p:spPr>
              <a:xfrm>
                <a:off x="1248" y="1056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0" name="Text Box 7"/>
              <p:cNvSpPr txBox="1"/>
              <p:nvPr/>
            </p:nvSpPr>
            <p:spPr>
              <a:xfrm>
                <a:off x="4080" y="1056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1" name="Text Box 8"/>
              <p:cNvSpPr txBox="1"/>
              <p:nvPr/>
            </p:nvSpPr>
            <p:spPr>
              <a:xfrm>
                <a:off x="768" y="1536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2" name="Text Box 9"/>
              <p:cNvSpPr txBox="1"/>
              <p:nvPr/>
            </p:nvSpPr>
            <p:spPr>
              <a:xfrm>
                <a:off x="3600" y="1536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28683" name="Picture 10" descr="子图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43" y="1296"/>
                <a:ext cx="4001" cy="115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684" name="Text Box 11"/>
              <p:cNvSpPr txBox="1"/>
              <p:nvPr/>
            </p:nvSpPr>
            <p:spPr>
              <a:xfrm>
                <a:off x="3936" y="2352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5" name="Text Box 12"/>
              <p:cNvSpPr txBox="1"/>
              <p:nvPr/>
            </p:nvSpPr>
            <p:spPr>
              <a:xfrm>
                <a:off x="1104" y="2352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6" name="Text Box 13"/>
              <p:cNvSpPr txBox="1"/>
              <p:nvPr/>
            </p:nvSpPr>
            <p:spPr>
              <a:xfrm>
                <a:off x="4512" y="2352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7" name="Text Box 14"/>
              <p:cNvSpPr txBox="1"/>
              <p:nvPr/>
            </p:nvSpPr>
            <p:spPr>
              <a:xfrm>
                <a:off x="2736" y="2352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8" name="Text Box 15"/>
              <p:cNvSpPr txBox="1"/>
              <p:nvPr/>
            </p:nvSpPr>
            <p:spPr>
              <a:xfrm>
                <a:off x="1680" y="2352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9" name="Text Box 16"/>
              <p:cNvSpPr txBox="1"/>
              <p:nvPr/>
            </p:nvSpPr>
            <p:spPr>
              <a:xfrm>
                <a:off x="4896" y="1824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90" name="Text Box 17"/>
              <p:cNvSpPr txBox="1"/>
              <p:nvPr/>
            </p:nvSpPr>
            <p:spPr>
              <a:xfrm>
                <a:off x="3168" y="1824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91" name="Text Box 18"/>
              <p:cNvSpPr txBox="1"/>
              <p:nvPr/>
            </p:nvSpPr>
            <p:spPr>
              <a:xfrm>
                <a:off x="2112" y="1824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92" name="Text Box 19"/>
              <p:cNvSpPr txBox="1"/>
              <p:nvPr/>
            </p:nvSpPr>
            <p:spPr>
              <a:xfrm>
                <a:off x="4416" y="1344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f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93" name="Text Box 20"/>
              <p:cNvSpPr txBox="1"/>
              <p:nvPr/>
            </p:nvSpPr>
            <p:spPr>
              <a:xfrm>
                <a:off x="2688" y="1344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f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94" name="Text Box 21"/>
              <p:cNvSpPr txBox="1"/>
              <p:nvPr/>
            </p:nvSpPr>
            <p:spPr>
              <a:xfrm>
                <a:off x="1632" y="1344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f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95" name="Text Box 22"/>
              <p:cNvSpPr txBox="1"/>
              <p:nvPr/>
            </p:nvSpPr>
            <p:spPr>
              <a:xfrm>
                <a:off x="3696" y="1248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96" name="Text Box 23"/>
              <p:cNvSpPr txBox="1"/>
              <p:nvPr/>
            </p:nvSpPr>
            <p:spPr>
              <a:xfrm>
                <a:off x="864" y="1248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97" name="Text Box 24"/>
              <p:cNvSpPr txBox="1"/>
              <p:nvPr/>
            </p:nvSpPr>
            <p:spPr>
              <a:xfrm>
                <a:off x="1344" y="1440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98" name="Text Box 25"/>
              <p:cNvSpPr txBox="1"/>
              <p:nvPr/>
            </p:nvSpPr>
            <p:spPr>
              <a:xfrm>
                <a:off x="816" y="1872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99" name="Text Box 26"/>
              <p:cNvSpPr txBox="1"/>
              <p:nvPr/>
            </p:nvSpPr>
            <p:spPr>
              <a:xfrm>
                <a:off x="3648" y="1872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0" name="Text Box 27"/>
              <p:cNvSpPr txBox="1"/>
              <p:nvPr/>
            </p:nvSpPr>
            <p:spPr>
              <a:xfrm>
                <a:off x="1296" y="2352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1" name="Text Box 28"/>
              <p:cNvSpPr txBox="1"/>
              <p:nvPr/>
            </p:nvSpPr>
            <p:spPr>
              <a:xfrm>
                <a:off x="1680" y="1824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2" name="Text Box 29"/>
              <p:cNvSpPr txBox="1"/>
              <p:nvPr/>
            </p:nvSpPr>
            <p:spPr>
              <a:xfrm>
                <a:off x="2544" y="1824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3" name="Text Box 30"/>
              <p:cNvSpPr txBox="1"/>
              <p:nvPr/>
            </p:nvSpPr>
            <p:spPr>
              <a:xfrm>
                <a:off x="4272" y="1824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4" name="Text Box 31"/>
              <p:cNvSpPr txBox="1"/>
              <p:nvPr/>
            </p:nvSpPr>
            <p:spPr>
              <a:xfrm>
                <a:off x="1776" y="1584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5" name="Text Box 32"/>
              <p:cNvSpPr txBox="1"/>
              <p:nvPr/>
            </p:nvSpPr>
            <p:spPr>
              <a:xfrm>
                <a:off x="2880" y="1584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6" name="Text Box 33"/>
              <p:cNvSpPr txBox="1"/>
              <p:nvPr/>
            </p:nvSpPr>
            <p:spPr>
              <a:xfrm>
                <a:off x="1824" y="2064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7" name="Text Box 34"/>
              <p:cNvSpPr txBox="1"/>
              <p:nvPr/>
            </p:nvSpPr>
            <p:spPr>
              <a:xfrm>
                <a:off x="2928" y="2064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8" name="Text Box 35"/>
              <p:cNvSpPr txBox="1"/>
              <p:nvPr/>
            </p:nvSpPr>
            <p:spPr>
              <a:xfrm>
                <a:off x="4656" y="2064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8709" name="Text Box 36"/>
            <p:cNvSpPr txBox="1"/>
            <p:nvPr/>
          </p:nvSpPr>
          <p:spPr>
            <a:xfrm>
              <a:off x="1296" y="2640"/>
              <a:ext cx="336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(1)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0" name="Text Box 37"/>
            <p:cNvSpPr txBox="1"/>
            <p:nvPr/>
          </p:nvSpPr>
          <p:spPr>
            <a:xfrm>
              <a:off x="2736" y="2640"/>
              <a:ext cx="336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(2)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1" name="Text Box 38"/>
            <p:cNvSpPr txBox="1"/>
            <p:nvPr/>
          </p:nvSpPr>
          <p:spPr>
            <a:xfrm>
              <a:off x="4176" y="2640"/>
              <a:ext cx="336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(3)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02787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02787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02787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>
                                            <p:txEl>
                                              <p:charRg st="4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02787">
                                            <p:txEl>
                                              <p:charRg st="4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02787">
                                            <p:txEl>
                                              <p:charRg st="4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02787">
                                            <p:txEl>
                                              <p:charRg st="4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>
                                            <p:txEl>
                                              <p:charRg st="5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02787">
                                            <p:txEl>
                                              <p:charRg st="5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02787">
                                            <p:txEl>
                                              <p:charRg st="5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02787">
                                            <p:txEl>
                                              <p:charRg st="5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>
                                            <p:txEl>
                                              <p:charRg st="9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02787">
                                            <p:txEl>
                                              <p:charRg st="9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02787">
                                            <p:txEl>
                                              <p:charRg st="9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02787">
                                            <p:txEl>
                                              <p:charRg st="98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69988" y="182563"/>
            <a:ext cx="2259013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补图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482600" y="1144588"/>
            <a:ext cx="7848600" cy="1014412"/>
            <a:chOff x="304" y="721"/>
            <a:chExt cx="4944" cy="639"/>
          </a:xfrm>
        </p:grpSpPr>
        <p:graphicFrame>
          <p:nvGraphicFramePr>
            <p:cNvPr id="29701" name="Object 4"/>
            <p:cNvGraphicFramePr/>
            <p:nvPr/>
          </p:nvGraphicFramePr>
          <p:xfrm>
            <a:off x="3827" y="721"/>
            <a:ext cx="235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177800" imgH="189865" progId="Equation.3">
                    <p:embed/>
                  </p:oleObj>
                </mc:Choice>
                <mc:Fallback>
                  <p:oleObj name="" r:id="rId1" imgW="177800" imgH="189865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27" y="721"/>
                          <a:ext cx="235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02" name="Group 7"/>
            <p:cNvGrpSpPr/>
            <p:nvPr/>
          </p:nvGrpSpPr>
          <p:grpSpPr>
            <a:xfrm>
              <a:off x="304" y="721"/>
              <a:ext cx="4944" cy="639"/>
              <a:chOff x="384" y="1152"/>
              <a:chExt cx="4944" cy="639"/>
            </a:xfrm>
          </p:grpSpPr>
          <p:sp>
            <p:nvSpPr>
              <p:cNvPr id="29703" name="Text Box 3"/>
              <p:cNvSpPr txBox="1"/>
              <p:nvPr/>
            </p:nvSpPr>
            <p:spPr>
              <a:xfrm>
                <a:off x="384" y="1152"/>
                <a:ext cx="4944" cy="639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11.9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设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=&lt;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&gt;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阶无向简单图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记    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=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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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, 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称                       为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的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补图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9704" name="Object 5"/>
              <p:cNvGraphicFramePr/>
              <p:nvPr/>
            </p:nvGraphicFramePr>
            <p:xfrm>
              <a:off x="668" y="1491"/>
              <a:ext cx="1108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2" name="" r:id="rId3" imgW="836930" imgH="215900" progId="Equation.3">
                      <p:embed/>
                    </p:oleObj>
                  </mc:Choice>
                  <mc:Fallback>
                    <p:oleObj name="" r:id="rId3" imgW="836930" imgH="215900" progId="Equation.3">
                      <p:embed/>
                      <p:pic>
                        <p:nvPicPr>
                          <p:cNvPr id="0" name="图片 3081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668" y="1491"/>
                            <a:ext cx="1108" cy="28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49"/>
          <p:cNvGrpSpPr/>
          <p:nvPr/>
        </p:nvGrpSpPr>
        <p:grpSpPr>
          <a:xfrm>
            <a:off x="4572000" y="2106613"/>
            <a:ext cx="2484438" cy="2971800"/>
            <a:chOff x="3335" y="1327"/>
            <a:chExt cx="1565" cy="1872"/>
          </a:xfrm>
        </p:grpSpPr>
        <p:sp>
          <p:nvSpPr>
            <p:cNvPr id="29706" name="Text Box 12"/>
            <p:cNvSpPr txBox="1"/>
            <p:nvPr/>
          </p:nvSpPr>
          <p:spPr>
            <a:xfrm>
              <a:off x="3844" y="1327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7" name="Text Box 14"/>
            <p:cNvSpPr txBox="1"/>
            <p:nvPr/>
          </p:nvSpPr>
          <p:spPr>
            <a:xfrm>
              <a:off x="3364" y="1807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29708" name="Picture 15" descr="子图"/>
            <p:cNvPicPr>
              <a:picLocks noChangeAspect="1"/>
            </p:cNvPicPr>
            <p:nvPr/>
          </p:nvPicPr>
          <p:blipFill>
            <a:blip r:embed="rId5"/>
            <a:srcRect l="65683" b="-3540"/>
            <a:stretch>
              <a:fillRect/>
            </a:stretch>
          </p:blipFill>
          <p:spPr>
            <a:xfrm>
              <a:off x="3335" y="1567"/>
              <a:ext cx="1373" cy="11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09" name="Text Box 16"/>
            <p:cNvSpPr txBox="1"/>
            <p:nvPr/>
          </p:nvSpPr>
          <p:spPr>
            <a:xfrm>
              <a:off x="3700" y="2623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0" name="Text Box 18"/>
            <p:cNvSpPr txBox="1"/>
            <p:nvPr/>
          </p:nvSpPr>
          <p:spPr>
            <a:xfrm>
              <a:off x="4276" y="2623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1" name="Text Box 21"/>
            <p:cNvSpPr txBox="1"/>
            <p:nvPr/>
          </p:nvSpPr>
          <p:spPr>
            <a:xfrm>
              <a:off x="4660" y="2095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2" name="Text Box 24"/>
            <p:cNvSpPr txBox="1"/>
            <p:nvPr/>
          </p:nvSpPr>
          <p:spPr>
            <a:xfrm>
              <a:off x="4180" y="1615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f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3" name="Text Box 27"/>
            <p:cNvSpPr txBox="1"/>
            <p:nvPr/>
          </p:nvSpPr>
          <p:spPr>
            <a:xfrm>
              <a:off x="3460" y="1519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e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4" name="Text Box 31"/>
            <p:cNvSpPr txBox="1"/>
            <p:nvPr/>
          </p:nvSpPr>
          <p:spPr>
            <a:xfrm>
              <a:off x="3412" y="2143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e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5" name="Text Box 35"/>
            <p:cNvSpPr txBox="1"/>
            <p:nvPr/>
          </p:nvSpPr>
          <p:spPr>
            <a:xfrm>
              <a:off x="4036" y="2095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e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6" name="Text Box 40"/>
            <p:cNvSpPr txBox="1"/>
            <p:nvPr/>
          </p:nvSpPr>
          <p:spPr>
            <a:xfrm>
              <a:off x="4420" y="2335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e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7" name="Text Box 43"/>
            <p:cNvSpPr txBox="1"/>
            <p:nvPr/>
          </p:nvSpPr>
          <p:spPr>
            <a:xfrm>
              <a:off x="3940" y="2911"/>
              <a:ext cx="336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(2)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48"/>
          <p:cNvGrpSpPr/>
          <p:nvPr/>
        </p:nvGrpSpPr>
        <p:grpSpPr>
          <a:xfrm>
            <a:off x="1504950" y="2286000"/>
            <a:ext cx="2524125" cy="2971800"/>
            <a:chOff x="532" y="1327"/>
            <a:chExt cx="1590" cy="1872"/>
          </a:xfrm>
        </p:grpSpPr>
        <p:sp>
          <p:nvSpPr>
            <p:cNvPr id="29719" name="Text Box 23"/>
            <p:cNvSpPr txBox="1"/>
            <p:nvPr/>
          </p:nvSpPr>
          <p:spPr>
            <a:xfrm>
              <a:off x="1876" y="2095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9720" name="Group 44"/>
            <p:cNvGrpSpPr/>
            <p:nvPr/>
          </p:nvGrpSpPr>
          <p:grpSpPr>
            <a:xfrm>
              <a:off x="532" y="1327"/>
              <a:ext cx="1440" cy="1872"/>
              <a:chOff x="532" y="1327"/>
              <a:chExt cx="1440" cy="1872"/>
            </a:xfrm>
          </p:grpSpPr>
          <p:sp>
            <p:nvSpPr>
              <p:cNvPr id="29721" name="Text Box 11"/>
              <p:cNvSpPr txBox="1"/>
              <p:nvPr/>
            </p:nvSpPr>
            <p:spPr>
              <a:xfrm>
                <a:off x="1012" y="1327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22" name="Text Box 13"/>
              <p:cNvSpPr txBox="1"/>
              <p:nvPr/>
            </p:nvSpPr>
            <p:spPr>
              <a:xfrm>
                <a:off x="532" y="1807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23" name="Text Box 17"/>
              <p:cNvSpPr txBox="1"/>
              <p:nvPr/>
            </p:nvSpPr>
            <p:spPr>
              <a:xfrm>
                <a:off x="868" y="2623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24" name="Text Box 20"/>
              <p:cNvSpPr txBox="1"/>
              <p:nvPr/>
            </p:nvSpPr>
            <p:spPr>
              <a:xfrm>
                <a:off x="1444" y="2623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25" name="Text Box 26"/>
              <p:cNvSpPr txBox="1"/>
              <p:nvPr/>
            </p:nvSpPr>
            <p:spPr>
              <a:xfrm>
                <a:off x="1396" y="1615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f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26" name="Text Box 28"/>
              <p:cNvSpPr txBox="1"/>
              <p:nvPr/>
            </p:nvSpPr>
            <p:spPr>
              <a:xfrm>
                <a:off x="628" y="1519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27" name="Text Box 29"/>
              <p:cNvSpPr txBox="1"/>
              <p:nvPr/>
            </p:nvSpPr>
            <p:spPr>
              <a:xfrm>
                <a:off x="1108" y="1711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28" name="Text Box 30"/>
              <p:cNvSpPr txBox="1"/>
              <p:nvPr/>
            </p:nvSpPr>
            <p:spPr>
              <a:xfrm>
                <a:off x="580" y="2143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29" name="Text Box 32"/>
              <p:cNvSpPr txBox="1"/>
              <p:nvPr/>
            </p:nvSpPr>
            <p:spPr>
              <a:xfrm>
                <a:off x="1060" y="2623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30" name="Text Box 33"/>
              <p:cNvSpPr txBox="1"/>
              <p:nvPr/>
            </p:nvSpPr>
            <p:spPr>
              <a:xfrm>
                <a:off x="1444" y="2095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31" name="Text Box 36"/>
              <p:cNvSpPr txBox="1"/>
              <p:nvPr/>
            </p:nvSpPr>
            <p:spPr>
              <a:xfrm>
                <a:off x="1540" y="1855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32" name="Text Box 38"/>
              <p:cNvSpPr txBox="1"/>
              <p:nvPr/>
            </p:nvSpPr>
            <p:spPr>
              <a:xfrm>
                <a:off x="1588" y="2335"/>
                <a:ext cx="384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33" name="Text Box 41"/>
              <p:cNvSpPr txBox="1"/>
              <p:nvPr/>
            </p:nvSpPr>
            <p:spPr>
              <a:xfrm>
                <a:off x="1060" y="2911"/>
                <a:ext cx="336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(1)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9734" name="Picture 47" descr="子图"/>
            <p:cNvPicPr>
              <a:picLocks noChangeAspect="1"/>
            </p:cNvPicPr>
            <p:nvPr/>
          </p:nvPicPr>
          <p:blipFill>
            <a:blip r:embed="rId5"/>
            <a:srcRect r="64958"/>
            <a:stretch>
              <a:fillRect/>
            </a:stretch>
          </p:blipFill>
          <p:spPr>
            <a:xfrm>
              <a:off x="720" y="1554"/>
              <a:ext cx="1402" cy="1158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5205413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从图中删边、 点集合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5075" name="Rectangle 3"/>
          <p:cNvSpPr>
            <a:spLocks noGrp="1"/>
          </p:cNvSpPr>
          <p:nvPr>
            <p:ph idx="1"/>
          </p:nvPr>
        </p:nvSpPr>
        <p:spPr>
          <a:xfrm>
            <a:off x="290513" y="1247775"/>
            <a:ext cx="8610600" cy="4346575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11.10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G=&lt;V,E&gt;</a:t>
            </a:r>
            <a:r>
              <a:rPr lang="zh-CN" altLang="en-US" dirty="0"/>
              <a:t>为无向图</a:t>
            </a:r>
            <a:r>
              <a:rPr lang="zh-CN" altLang="en-US" i="1" dirty="0"/>
              <a:t>。</a:t>
            </a:r>
            <a:endParaRPr lang="zh-CN" altLang="en-US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dirty="0"/>
              <a:t> 记 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e</a:t>
            </a:r>
            <a:r>
              <a:rPr lang="en-US" altLang="zh-CN" dirty="0"/>
              <a:t> : </a:t>
            </a:r>
            <a:r>
              <a:rPr lang="zh-CN" altLang="en-US" dirty="0"/>
              <a:t>从</a:t>
            </a:r>
            <a:r>
              <a:rPr lang="en-US" altLang="zh-CN" i="1" dirty="0"/>
              <a:t>G</a:t>
            </a:r>
            <a:r>
              <a:rPr lang="zh-CN" altLang="en-US" dirty="0"/>
              <a:t>中删除</a:t>
            </a:r>
            <a:r>
              <a:rPr lang="en-US" altLang="zh-CN" i="1" dirty="0"/>
              <a:t>e</a:t>
            </a:r>
            <a:endParaRPr lang="en-US" altLang="zh-CN" dirty="0"/>
          </a:p>
          <a:p>
            <a:pPr marL="0" algn="just" eaLnBrk="1" hangingPunct="1">
              <a:lnSpc>
                <a:spcPct val="120000"/>
              </a:lnSpc>
            </a:pPr>
            <a:r>
              <a:rPr lang="en-US" altLang="zh-CN" dirty="0"/>
              <a:t>      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E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: </a:t>
            </a:r>
            <a:r>
              <a:rPr lang="zh-CN" altLang="en-US" dirty="0"/>
              <a:t>从</a:t>
            </a:r>
            <a:r>
              <a:rPr lang="en-US" altLang="zh-CN" i="1" dirty="0"/>
              <a:t>G</a:t>
            </a:r>
            <a:r>
              <a:rPr lang="zh-CN" altLang="en-US" dirty="0"/>
              <a:t>中删除</a:t>
            </a:r>
            <a:r>
              <a:rPr lang="en-US" altLang="zh-CN" i="1" dirty="0"/>
              <a:t>E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中所有边</a:t>
            </a:r>
            <a:endParaRPr lang="zh-CN" altLang="en-US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i="1" dirty="0"/>
              <a:t>      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v</a:t>
            </a:r>
            <a:r>
              <a:rPr lang="en-US" altLang="zh-CN" dirty="0"/>
              <a:t>: </a:t>
            </a:r>
            <a:r>
              <a:rPr lang="zh-CN" altLang="en-US" dirty="0"/>
              <a:t>从</a:t>
            </a:r>
            <a:r>
              <a:rPr lang="en-US" altLang="zh-CN" i="1" dirty="0"/>
              <a:t>G</a:t>
            </a:r>
            <a:r>
              <a:rPr lang="zh-CN" altLang="en-US" dirty="0"/>
              <a:t>中删除</a:t>
            </a:r>
            <a:r>
              <a:rPr lang="en-US" altLang="zh-CN" i="1" dirty="0"/>
              <a:t>v</a:t>
            </a:r>
            <a:r>
              <a:rPr lang="zh-CN" altLang="en-US" dirty="0"/>
              <a:t>及关联的边</a:t>
            </a:r>
            <a:endParaRPr lang="zh-CN" altLang="en-US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dirty="0"/>
              <a:t>      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i="1" dirty="0"/>
              <a:t>V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: </a:t>
            </a:r>
            <a:r>
              <a:rPr lang="zh-CN" altLang="en-US" dirty="0"/>
              <a:t>从</a:t>
            </a:r>
            <a:r>
              <a:rPr lang="en-US" altLang="zh-CN" i="1" dirty="0"/>
              <a:t>G</a:t>
            </a:r>
            <a:r>
              <a:rPr lang="zh-CN" altLang="en-US" dirty="0"/>
              <a:t>中删除</a:t>
            </a:r>
            <a:r>
              <a:rPr lang="en-US" altLang="zh-CN" i="1" dirty="0"/>
              <a:t>V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中所有的顶点及关联的边</a:t>
            </a:r>
            <a:endParaRPr lang="zh-CN" altLang="en-US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i="1" dirty="0"/>
              <a:t>      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\ </a:t>
            </a:r>
            <a:r>
              <a:rPr lang="en-US" altLang="zh-CN" i="1" dirty="0"/>
              <a:t>e</a:t>
            </a:r>
            <a:r>
              <a:rPr lang="en-US" altLang="zh-CN" dirty="0"/>
              <a:t> : </a:t>
            </a:r>
            <a:r>
              <a:rPr lang="zh-CN" altLang="en-US" dirty="0"/>
              <a:t>从</a:t>
            </a:r>
            <a:r>
              <a:rPr lang="en-US" altLang="zh-CN" i="1" dirty="0"/>
              <a:t>G</a:t>
            </a:r>
            <a:r>
              <a:rPr lang="zh-CN" altLang="en-US" dirty="0"/>
              <a:t>中删除</a:t>
            </a:r>
            <a:r>
              <a:rPr lang="en-US" altLang="zh-CN" i="1" dirty="0"/>
              <a:t>e</a:t>
            </a:r>
            <a:r>
              <a:rPr lang="zh-CN" altLang="en-US" dirty="0"/>
              <a:t>后将</a:t>
            </a:r>
            <a:r>
              <a:rPr lang="en-US" altLang="zh-CN" i="1" dirty="0"/>
              <a:t>e</a:t>
            </a:r>
            <a:r>
              <a:rPr lang="zh-CN" altLang="en-US" dirty="0"/>
              <a:t>的两个端点用一个新的顶点代替</a:t>
            </a:r>
            <a:r>
              <a:rPr lang="en-US" altLang="zh-CN" i="1" dirty="0"/>
              <a:t>.</a:t>
            </a:r>
            <a:endParaRPr lang="en-US" altLang="zh-CN" dirty="0"/>
          </a:p>
          <a:p>
            <a:pPr marL="0" algn="just" eaLnBrk="1" hangingPunct="1">
              <a:lnSpc>
                <a:spcPct val="120000"/>
              </a:lnSpc>
            </a:pPr>
            <a:r>
              <a:rPr lang="en-US" altLang="zh-CN" dirty="0"/>
              <a:t>      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+(</a:t>
            </a:r>
            <a:r>
              <a:rPr lang="en-US" altLang="zh-CN" i="1" dirty="0">
                <a:sym typeface="Symbol" panose="05050102010706020507" pitchFamily="18" charset="2"/>
              </a:rPr>
              <a:t>u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i="1" dirty="0"/>
              <a:t>v)</a:t>
            </a:r>
            <a:r>
              <a:rPr lang="en-US" altLang="zh-CN" dirty="0"/>
              <a:t>: </a:t>
            </a:r>
            <a:r>
              <a:rPr lang="zh-CN" altLang="en-US" dirty="0"/>
              <a:t>在</a:t>
            </a:r>
            <a:r>
              <a:rPr lang="en-US" altLang="zh-CN" i="1" dirty="0">
                <a:sym typeface="Symbol" panose="05050102010706020507" pitchFamily="18" charset="2"/>
              </a:rPr>
              <a:t>u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i="1" dirty="0"/>
              <a:t>v</a:t>
            </a:r>
            <a:r>
              <a:rPr lang="zh-CN" altLang="en-US" dirty="0"/>
              <a:t>之间加一条边</a:t>
            </a:r>
            <a:endParaRPr lang="zh-CN" alt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1507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1507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1507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15075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15075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15075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charRg st="38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15075">
                                            <p:txEl>
                                              <p:charRg st="38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15075">
                                            <p:txEl>
                                              <p:charRg st="38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15075">
                                            <p:txEl>
                                              <p:charRg st="38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charRg st="64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15075">
                                            <p:txEl>
                                              <p:charRg st="64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15075">
                                            <p:txEl>
                                              <p:charRg st="64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15075">
                                            <p:txEl>
                                              <p:charRg st="64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charRg st="8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15075">
                                            <p:txEl>
                                              <p:charRg st="8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15075">
                                            <p:txEl>
                                              <p:charRg st="8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15075">
                                            <p:txEl>
                                              <p:charRg st="8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charRg st="120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15075">
                                            <p:txEl>
                                              <p:charRg st="120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15075">
                                            <p:txEl>
                                              <p:charRg st="120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15075">
                                            <p:txEl>
                                              <p:charRg st="120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>
                                            <p:txEl>
                                              <p:charRg st="159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515075">
                                            <p:txEl>
                                              <p:charRg st="159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515075">
                                            <p:txEl>
                                              <p:charRg st="159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515075">
                                            <p:txEl>
                                              <p:charRg st="159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92263" y="152400"/>
            <a:ext cx="1416050" cy="6302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例子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18"/>
          <p:cNvGrpSpPr/>
          <p:nvPr/>
        </p:nvGrpSpPr>
        <p:grpSpPr>
          <a:xfrm>
            <a:off x="1023938" y="1204913"/>
            <a:ext cx="3097212" cy="1419225"/>
            <a:chOff x="748" y="1434"/>
            <a:chExt cx="1951" cy="894"/>
          </a:xfrm>
        </p:grpSpPr>
        <p:sp>
          <p:nvSpPr>
            <p:cNvPr id="31749" name="Text Box 19"/>
            <p:cNvSpPr txBox="1"/>
            <p:nvPr/>
          </p:nvSpPr>
          <p:spPr>
            <a:xfrm>
              <a:off x="1565" y="1434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1750" name="Group 20"/>
            <p:cNvGrpSpPr/>
            <p:nvPr/>
          </p:nvGrpSpPr>
          <p:grpSpPr>
            <a:xfrm>
              <a:off x="748" y="1480"/>
              <a:ext cx="1951" cy="848"/>
              <a:chOff x="748" y="1478"/>
              <a:chExt cx="1951" cy="848"/>
            </a:xfrm>
          </p:grpSpPr>
          <p:sp>
            <p:nvSpPr>
              <p:cNvPr id="31751" name="Text Box 21"/>
              <p:cNvSpPr txBox="1"/>
              <p:nvPr/>
            </p:nvSpPr>
            <p:spPr>
              <a:xfrm>
                <a:off x="1202" y="1478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52" name="AutoShape 22"/>
              <p:cNvSpPr/>
              <p:nvPr/>
            </p:nvSpPr>
            <p:spPr>
              <a:xfrm>
                <a:off x="2381" y="2113"/>
                <a:ext cx="91" cy="90"/>
              </a:xfrm>
              <a:prstGeom prst="octagon">
                <a:avLst>
                  <a:gd name="adj" fmla="val 29287"/>
                </a:avLst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53" name="AutoShape 23"/>
              <p:cNvSpPr/>
              <p:nvPr/>
            </p:nvSpPr>
            <p:spPr>
              <a:xfrm>
                <a:off x="975" y="1584"/>
                <a:ext cx="91" cy="90"/>
              </a:xfrm>
              <a:prstGeom prst="octagon">
                <a:avLst>
                  <a:gd name="adj" fmla="val 29287"/>
                </a:avLst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54" name="AutoShape 24"/>
              <p:cNvSpPr/>
              <p:nvPr/>
            </p:nvSpPr>
            <p:spPr>
              <a:xfrm>
                <a:off x="1383" y="1584"/>
                <a:ext cx="91" cy="90"/>
              </a:xfrm>
              <a:prstGeom prst="octagon">
                <a:avLst>
                  <a:gd name="adj" fmla="val 29287"/>
                </a:avLst>
              </a:prstGeom>
              <a:solidFill>
                <a:schemeClr val="bg2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55" name="AutoShape 25"/>
              <p:cNvSpPr/>
              <p:nvPr/>
            </p:nvSpPr>
            <p:spPr>
              <a:xfrm>
                <a:off x="976" y="2128"/>
                <a:ext cx="91" cy="90"/>
              </a:xfrm>
              <a:prstGeom prst="octagon">
                <a:avLst>
                  <a:gd name="adj" fmla="val 29287"/>
                </a:avLst>
              </a:prstGeom>
              <a:solidFill>
                <a:schemeClr val="bg2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56" name="AutoShape 26"/>
              <p:cNvSpPr/>
              <p:nvPr/>
            </p:nvSpPr>
            <p:spPr>
              <a:xfrm>
                <a:off x="1792" y="1584"/>
                <a:ext cx="91" cy="90"/>
              </a:xfrm>
              <a:prstGeom prst="octagon">
                <a:avLst>
                  <a:gd name="adj" fmla="val 29287"/>
                </a:avLst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57" name="AutoShape 27"/>
              <p:cNvSpPr/>
              <p:nvPr/>
            </p:nvSpPr>
            <p:spPr>
              <a:xfrm>
                <a:off x="1383" y="2128"/>
                <a:ext cx="91" cy="90"/>
              </a:xfrm>
              <a:prstGeom prst="octagon">
                <a:avLst>
                  <a:gd name="adj" fmla="val 29287"/>
                </a:avLst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58" name="Line 28"/>
              <p:cNvSpPr/>
              <p:nvPr/>
            </p:nvSpPr>
            <p:spPr>
              <a:xfrm flipH="1" flipV="1">
                <a:off x="1020" y="1674"/>
                <a:ext cx="1" cy="45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1759" name="AutoShape 29"/>
              <p:cNvSpPr/>
              <p:nvPr/>
            </p:nvSpPr>
            <p:spPr>
              <a:xfrm>
                <a:off x="1792" y="2128"/>
                <a:ext cx="91" cy="90"/>
              </a:xfrm>
              <a:prstGeom prst="octagon">
                <a:avLst>
                  <a:gd name="adj" fmla="val 29287"/>
                </a:avLst>
              </a:prstGeom>
              <a:solidFill>
                <a:schemeClr val="bg2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0" name="Line 30"/>
              <p:cNvSpPr/>
              <p:nvPr/>
            </p:nvSpPr>
            <p:spPr>
              <a:xfrm flipH="1" flipV="1">
                <a:off x="1429" y="1674"/>
                <a:ext cx="1" cy="45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1761" name="Line 31"/>
              <p:cNvSpPr/>
              <p:nvPr/>
            </p:nvSpPr>
            <p:spPr>
              <a:xfrm flipH="1" flipV="1">
                <a:off x="1837" y="1674"/>
                <a:ext cx="1" cy="45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1762" name="Line 32"/>
              <p:cNvSpPr/>
              <p:nvPr/>
            </p:nvSpPr>
            <p:spPr>
              <a:xfrm flipV="1">
                <a:off x="1021" y="1674"/>
                <a:ext cx="816" cy="45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1763" name="Line 33"/>
              <p:cNvSpPr/>
              <p:nvPr/>
            </p:nvSpPr>
            <p:spPr>
              <a:xfrm>
                <a:off x="1066" y="2173"/>
                <a:ext cx="72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1764" name="Line 34"/>
              <p:cNvSpPr/>
              <p:nvPr/>
            </p:nvSpPr>
            <p:spPr>
              <a:xfrm>
                <a:off x="1474" y="1629"/>
                <a:ext cx="31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1765" name="Line 35"/>
              <p:cNvSpPr/>
              <p:nvPr/>
            </p:nvSpPr>
            <p:spPr>
              <a:xfrm flipV="1">
                <a:off x="1882" y="2159"/>
                <a:ext cx="499" cy="1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1766" name="Text Box 36"/>
              <p:cNvSpPr txBox="1"/>
              <p:nvPr/>
            </p:nvSpPr>
            <p:spPr>
              <a:xfrm>
                <a:off x="748" y="1493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1600" i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7" name="Text Box 37"/>
              <p:cNvSpPr txBox="1"/>
              <p:nvPr/>
            </p:nvSpPr>
            <p:spPr>
              <a:xfrm>
                <a:off x="1836" y="1493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8" name="Text Box 38"/>
              <p:cNvSpPr txBox="1"/>
              <p:nvPr/>
            </p:nvSpPr>
            <p:spPr>
              <a:xfrm>
                <a:off x="748" y="2052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69" name="Text Box 39"/>
              <p:cNvSpPr txBox="1"/>
              <p:nvPr/>
            </p:nvSpPr>
            <p:spPr>
              <a:xfrm>
                <a:off x="1428" y="1947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0" name="Text Box 40"/>
              <p:cNvSpPr txBox="1"/>
              <p:nvPr/>
            </p:nvSpPr>
            <p:spPr>
              <a:xfrm>
                <a:off x="1882" y="1992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1" name="Text Box 41"/>
              <p:cNvSpPr txBox="1"/>
              <p:nvPr/>
            </p:nvSpPr>
            <p:spPr>
              <a:xfrm>
                <a:off x="2472" y="1992"/>
                <a:ext cx="22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8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2" name="Text Box 42"/>
              <p:cNvSpPr txBox="1"/>
              <p:nvPr/>
            </p:nvSpPr>
            <p:spPr>
              <a:xfrm>
                <a:off x="839" y="1751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1600" i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3" name="Text Box 43"/>
              <p:cNvSpPr txBox="1"/>
              <p:nvPr/>
            </p:nvSpPr>
            <p:spPr>
              <a:xfrm>
                <a:off x="1111" y="1796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1600" i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4" name="Text Box 44"/>
              <p:cNvSpPr txBox="1"/>
              <p:nvPr/>
            </p:nvSpPr>
            <p:spPr>
              <a:xfrm>
                <a:off x="1247" y="1660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5" name="Text Box 45"/>
              <p:cNvSpPr txBox="1"/>
              <p:nvPr/>
            </p:nvSpPr>
            <p:spPr>
              <a:xfrm>
                <a:off x="1837" y="1751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6" name="Text Box 46"/>
              <p:cNvSpPr txBox="1"/>
              <p:nvPr/>
            </p:nvSpPr>
            <p:spPr>
              <a:xfrm>
                <a:off x="1111" y="2114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7" name="Text Box 47"/>
              <p:cNvSpPr txBox="1"/>
              <p:nvPr/>
            </p:nvSpPr>
            <p:spPr>
              <a:xfrm>
                <a:off x="1519" y="2114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78" name="Text Box 48"/>
              <p:cNvSpPr txBox="1"/>
              <p:nvPr/>
            </p:nvSpPr>
            <p:spPr>
              <a:xfrm>
                <a:off x="2110" y="1977"/>
                <a:ext cx="317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16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8</a:t>
                </a:r>
                <a:endParaRPr lang="en-US" altLang="zh-CN" sz="16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1779" name="Rectangle 49"/>
          <p:cNvSpPr/>
          <p:nvPr/>
        </p:nvSpPr>
        <p:spPr>
          <a:xfrm>
            <a:off x="542925" y="1384300"/>
            <a:ext cx="506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6147" name="Rectangle 51"/>
          <p:cNvSpPr/>
          <p:nvPr/>
        </p:nvSpPr>
        <p:spPr>
          <a:xfrm>
            <a:off x="4456113" y="1277938"/>
            <a:ext cx="985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: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83"/>
          <p:cNvGrpSpPr/>
          <p:nvPr/>
        </p:nvGrpSpPr>
        <p:grpSpPr>
          <a:xfrm>
            <a:off x="5413375" y="1228725"/>
            <a:ext cx="3097213" cy="1419225"/>
            <a:chOff x="3410" y="759"/>
            <a:chExt cx="1951" cy="894"/>
          </a:xfrm>
        </p:grpSpPr>
        <p:sp>
          <p:nvSpPr>
            <p:cNvPr id="31782" name="Text Box 53"/>
            <p:cNvSpPr txBox="1"/>
            <p:nvPr/>
          </p:nvSpPr>
          <p:spPr>
            <a:xfrm>
              <a:off x="4227" y="759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83" name="Text Box 55"/>
            <p:cNvSpPr txBox="1"/>
            <p:nvPr/>
          </p:nvSpPr>
          <p:spPr>
            <a:xfrm>
              <a:off x="3864" y="805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84" name="AutoShape 56"/>
            <p:cNvSpPr/>
            <p:nvPr/>
          </p:nvSpPr>
          <p:spPr>
            <a:xfrm>
              <a:off x="5043" y="1440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5" name="AutoShape 57"/>
            <p:cNvSpPr/>
            <p:nvPr/>
          </p:nvSpPr>
          <p:spPr>
            <a:xfrm>
              <a:off x="3637" y="911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6" name="AutoShape 58"/>
            <p:cNvSpPr/>
            <p:nvPr/>
          </p:nvSpPr>
          <p:spPr>
            <a:xfrm>
              <a:off x="4045" y="911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7" name="AutoShape 59"/>
            <p:cNvSpPr/>
            <p:nvPr/>
          </p:nvSpPr>
          <p:spPr>
            <a:xfrm>
              <a:off x="3638" y="1455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8" name="AutoShape 60"/>
            <p:cNvSpPr/>
            <p:nvPr/>
          </p:nvSpPr>
          <p:spPr>
            <a:xfrm>
              <a:off x="4454" y="911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89" name="AutoShape 61"/>
            <p:cNvSpPr/>
            <p:nvPr/>
          </p:nvSpPr>
          <p:spPr>
            <a:xfrm>
              <a:off x="4045" y="1455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90" name="AutoShape 63"/>
            <p:cNvSpPr/>
            <p:nvPr/>
          </p:nvSpPr>
          <p:spPr>
            <a:xfrm>
              <a:off x="4454" y="1455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91" name="Line 64"/>
            <p:cNvSpPr/>
            <p:nvPr/>
          </p:nvSpPr>
          <p:spPr>
            <a:xfrm flipH="1" flipV="1">
              <a:off x="4091" y="1001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92" name="Line 65"/>
            <p:cNvSpPr/>
            <p:nvPr/>
          </p:nvSpPr>
          <p:spPr>
            <a:xfrm flipH="1" flipV="1">
              <a:off x="4499" y="1001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93" name="Line 66"/>
            <p:cNvSpPr/>
            <p:nvPr/>
          </p:nvSpPr>
          <p:spPr>
            <a:xfrm flipV="1">
              <a:off x="3683" y="1001"/>
              <a:ext cx="816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94" name="Line 67"/>
            <p:cNvSpPr/>
            <p:nvPr/>
          </p:nvSpPr>
          <p:spPr>
            <a:xfrm>
              <a:off x="3728" y="1500"/>
              <a:ext cx="72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95" name="Line 68"/>
            <p:cNvSpPr/>
            <p:nvPr/>
          </p:nvSpPr>
          <p:spPr>
            <a:xfrm>
              <a:off x="4136" y="956"/>
              <a:ext cx="31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96" name="Line 69"/>
            <p:cNvSpPr/>
            <p:nvPr/>
          </p:nvSpPr>
          <p:spPr>
            <a:xfrm flipV="1">
              <a:off x="4544" y="1486"/>
              <a:ext cx="499" cy="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797" name="Text Box 70"/>
            <p:cNvSpPr txBox="1"/>
            <p:nvPr/>
          </p:nvSpPr>
          <p:spPr>
            <a:xfrm>
              <a:off x="3410" y="820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98" name="Text Box 71"/>
            <p:cNvSpPr txBox="1"/>
            <p:nvPr/>
          </p:nvSpPr>
          <p:spPr>
            <a:xfrm>
              <a:off x="4498" y="820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99" name="Text Box 72"/>
            <p:cNvSpPr txBox="1"/>
            <p:nvPr/>
          </p:nvSpPr>
          <p:spPr>
            <a:xfrm>
              <a:off x="3410" y="1379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00" name="Text Box 73"/>
            <p:cNvSpPr txBox="1"/>
            <p:nvPr/>
          </p:nvSpPr>
          <p:spPr>
            <a:xfrm>
              <a:off x="4090" y="1274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01" name="Text Box 74"/>
            <p:cNvSpPr txBox="1"/>
            <p:nvPr/>
          </p:nvSpPr>
          <p:spPr>
            <a:xfrm>
              <a:off x="4544" y="1319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02" name="Text Box 75"/>
            <p:cNvSpPr txBox="1"/>
            <p:nvPr/>
          </p:nvSpPr>
          <p:spPr>
            <a:xfrm>
              <a:off x="5134" y="1319"/>
              <a:ext cx="22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03" name="Text Box 77"/>
            <p:cNvSpPr txBox="1"/>
            <p:nvPr/>
          </p:nvSpPr>
          <p:spPr>
            <a:xfrm>
              <a:off x="3773" y="1123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04" name="Text Box 78"/>
            <p:cNvSpPr txBox="1"/>
            <p:nvPr/>
          </p:nvSpPr>
          <p:spPr>
            <a:xfrm>
              <a:off x="3909" y="987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05" name="Text Box 79"/>
            <p:cNvSpPr txBox="1"/>
            <p:nvPr/>
          </p:nvSpPr>
          <p:spPr>
            <a:xfrm>
              <a:off x="4499" y="1078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06" name="Text Box 80"/>
            <p:cNvSpPr txBox="1"/>
            <p:nvPr/>
          </p:nvSpPr>
          <p:spPr>
            <a:xfrm>
              <a:off x="3773" y="1441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07" name="Text Box 81"/>
            <p:cNvSpPr txBox="1"/>
            <p:nvPr/>
          </p:nvSpPr>
          <p:spPr>
            <a:xfrm>
              <a:off x="4181" y="1441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08" name="Text Box 82"/>
            <p:cNvSpPr txBox="1"/>
            <p:nvPr/>
          </p:nvSpPr>
          <p:spPr>
            <a:xfrm>
              <a:off x="4772" y="1304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6180" name="Rectangle 84"/>
          <p:cNvSpPr/>
          <p:nvPr/>
        </p:nvSpPr>
        <p:spPr>
          <a:xfrm>
            <a:off x="303213" y="2767013"/>
            <a:ext cx="14636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{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,e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}: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" name="Group 116"/>
          <p:cNvGrpSpPr/>
          <p:nvPr/>
        </p:nvGrpSpPr>
        <p:grpSpPr>
          <a:xfrm>
            <a:off x="1655763" y="2767013"/>
            <a:ext cx="3097212" cy="1419225"/>
            <a:chOff x="1403" y="1857"/>
            <a:chExt cx="1951" cy="894"/>
          </a:xfrm>
        </p:grpSpPr>
        <p:sp>
          <p:nvSpPr>
            <p:cNvPr id="31811" name="Text Box 86"/>
            <p:cNvSpPr txBox="1"/>
            <p:nvPr/>
          </p:nvSpPr>
          <p:spPr>
            <a:xfrm>
              <a:off x="2220" y="1857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12" name="Text Box 88"/>
            <p:cNvSpPr txBox="1"/>
            <p:nvPr/>
          </p:nvSpPr>
          <p:spPr>
            <a:xfrm>
              <a:off x="1857" y="1903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13" name="AutoShape 89"/>
            <p:cNvSpPr/>
            <p:nvPr/>
          </p:nvSpPr>
          <p:spPr>
            <a:xfrm>
              <a:off x="3036" y="2538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14" name="AutoShape 90"/>
            <p:cNvSpPr/>
            <p:nvPr/>
          </p:nvSpPr>
          <p:spPr>
            <a:xfrm>
              <a:off x="1630" y="2009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15" name="AutoShape 91"/>
            <p:cNvSpPr/>
            <p:nvPr/>
          </p:nvSpPr>
          <p:spPr>
            <a:xfrm>
              <a:off x="2038" y="2009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16" name="AutoShape 92"/>
            <p:cNvSpPr/>
            <p:nvPr/>
          </p:nvSpPr>
          <p:spPr>
            <a:xfrm>
              <a:off x="1631" y="2553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17" name="AutoShape 93"/>
            <p:cNvSpPr/>
            <p:nvPr/>
          </p:nvSpPr>
          <p:spPr>
            <a:xfrm>
              <a:off x="2447" y="2009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18" name="AutoShape 94"/>
            <p:cNvSpPr/>
            <p:nvPr/>
          </p:nvSpPr>
          <p:spPr>
            <a:xfrm>
              <a:off x="2038" y="2553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19" name="Line 95"/>
            <p:cNvSpPr/>
            <p:nvPr/>
          </p:nvSpPr>
          <p:spPr>
            <a:xfrm flipH="1" flipV="1">
              <a:off x="1675" y="2099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20" name="AutoShape 96"/>
            <p:cNvSpPr/>
            <p:nvPr/>
          </p:nvSpPr>
          <p:spPr>
            <a:xfrm>
              <a:off x="2447" y="2553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21" name="Line 97"/>
            <p:cNvSpPr/>
            <p:nvPr/>
          </p:nvSpPr>
          <p:spPr>
            <a:xfrm flipH="1" flipV="1">
              <a:off x="2084" y="2099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22" name="Line 100"/>
            <p:cNvSpPr/>
            <p:nvPr/>
          </p:nvSpPr>
          <p:spPr>
            <a:xfrm>
              <a:off x="1721" y="2598"/>
              <a:ext cx="72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23" name="Line 101"/>
            <p:cNvSpPr/>
            <p:nvPr/>
          </p:nvSpPr>
          <p:spPr>
            <a:xfrm>
              <a:off x="2129" y="2054"/>
              <a:ext cx="31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24" name="Line 102"/>
            <p:cNvSpPr/>
            <p:nvPr/>
          </p:nvSpPr>
          <p:spPr>
            <a:xfrm flipV="1">
              <a:off x="2537" y="2584"/>
              <a:ext cx="499" cy="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25" name="Text Box 103"/>
            <p:cNvSpPr txBox="1"/>
            <p:nvPr/>
          </p:nvSpPr>
          <p:spPr>
            <a:xfrm>
              <a:off x="1403" y="1918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26" name="Text Box 104"/>
            <p:cNvSpPr txBox="1"/>
            <p:nvPr/>
          </p:nvSpPr>
          <p:spPr>
            <a:xfrm>
              <a:off x="2491" y="1918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27" name="Text Box 105"/>
            <p:cNvSpPr txBox="1"/>
            <p:nvPr/>
          </p:nvSpPr>
          <p:spPr>
            <a:xfrm>
              <a:off x="1403" y="2477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28" name="Text Box 106"/>
            <p:cNvSpPr txBox="1"/>
            <p:nvPr/>
          </p:nvSpPr>
          <p:spPr>
            <a:xfrm>
              <a:off x="2083" y="2372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29" name="Text Box 107"/>
            <p:cNvSpPr txBox="1"/>
            <p:nvPr/>
          </p:nvSpPr>
          <p:spPr>
            <a:xfrm>
              <a:off x="2537" y="2417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30" name="Text Box 108"/>
            <p:cNvSpPr txBox="1"/>
            <p:nvPr/>
          </p:nvSpPr>
          <p:spPr>
            <a:xfrm>
              <a:off x="3127" y="2417"/>
              <a:ext cx="22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31" name="Text Box 109"/>
            <p:cNvSpPr txBox="1"/>
            <p:nvPr/>
          </p:nvSpPr>
          <p:spPr>
            <a:xfrm>
              <a:off x="1494" y="2176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32" name="Text Box 111"/>
            <p:cNvSpPr txBox="1"/>
            <p:nvPr/>
          </p:nvSpPr>
          <p:spPr>
            <a:xfrm>
              <a:off x="1902" y="2085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33" name="Text Box 113"/>
            <p:cNvSpPr txBox="1"/>
            <p:nvPr/>
          </p:nvSpPr>
          <p:spPr>
            <a:xfrm>
              <a:off x="1766" y="2539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34" name="Text Box 114"/>
            <p:cNvSpPr txBox="1"/>
            <p:nvPr/>
          </p:nvSpPr>
          <p:spPr>
            <a:xfrm>
              <a:off x="2174" y="2539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35" name="Text Box 115"/>
            <p:cNvSpPr txBox="1"/>
            <p:nvPr/>
          </p:nvSpPr>
          <p:spPr>
            <a:xfrm>
              <a:off x="2765" y="2402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6213" name="Rectangle 117"/>
          <p:cNvSpPr/>
          <p:nvPr/>
        </p:nvSpPr>
        <p:spPr>
          <a:xfrm>
            <a:off x="4451350" y="2767013"/>
            <a:ext cx="9858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: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177"/>
          <p:cNvGrpSpPr/>
          <p:nvPr/>
        </p:nvGrpSpPr>
        <p:grpSpPr>
          <a:xfrm>
            <a:off x="5473700" y="2827338"/>
            <a:ext cx="3097213" cy="1320800"/>
            <a:chOff x="3448" y="1781"/>
            <a:chExt cx="1951" cy="832"/>
          </a:xfrm>
        </p:grpSpPr>
        <p:sp>
          <p:nvSpPr>
            <p:cNvPr id="31838" name="Text Box 147"/>
            <p:cNvSpPr txBox="1"/>
            <p:nvPr/>
          </p:nvSpPr>
          <p:spPr>
            <a:xfrm>
              <a:off x="4265" y="1781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39" name="Text Box 149"/>
            <p:cNvSpPr txBox="1"/>
            <p:nvPr/>
          </p:nvSpPr>
          <p:spPr>
            <a:xfrm>
              <a:off x="3902" y="1827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40" name="AutoShape 150"/>
            <p:cNvSpPr/>
            <p:nvPr/>
          </p:nvSpPr>
          <p:spPr>
            <a:xfrm>
              <a:off x="5081" y="2462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41" name="AutoShape 151"/>
            <p:cNvSpPr/>
            <p:nvPr/>
          </p:nvSpPr>
          <p:spPr>
            <a:xfrm>
              <a:off x="3675" y="1933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42" name="AutoShape 152"/>
            <p:cNvSpPr/>
            <p:nvPr/>
          </p:nvSpPr>
          <p:spPr>
            <a:xfrm>
              <a:off x="4083" y="1933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43" name="AutoShape 153"/>
            <p:cNvSpPr/>
            <p:nvPr/>
          </p:nvSpPr>
          <p:spPr>
            <a:xfrm>
              <a:off x="3676" y="2477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44" name="AutoShape 154"/>
            <p:cNvSpPr/>
            <p:nvPr/>
          </p:nvSpPr>
          <p:spPr>
            <a:xfrm>
              <a:off x="4492" y="1933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45" name="Line 156"/>
            <p:cNvSpPr/>
            <p:nvPr/>
          </p:nvSpPr>
          <p:spPr>
            <a:xfrm flipH="1" flipV="1">
              <a:off x="3720" y="2023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46" name="AutoShape 157"/>
            <p:cNvSpPr/>
            <p:nvPr/>
          </p:nvSpPr>
          <p:spPr>
            <a:xfrm>
              <a:off x="4492" y="2477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47" name="Line 159"/>
            <p:cNvSpPr/>
            <p:nvPr/>
          </p:nvSpPr>
          <p:spPr>
            <a:xfrm flipH="1" flipV="1">
              <a:off x="4537" y="2023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48" name="Line 160"/>
            <p:cNvSpPr/>
            <p:nvPr/>
          </p:nvSpPr>
          <p:spPr>
            <a:xfrm flipV="1">
              <a:off x="3721" y="2023"/>
              <a:ext cx="816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49" name="Line 162"/>
            <p:cNvSpPr/>
            <p:nvPr/>
          </p:nvSpPr>
          <p:spPr>
            <a:xfrm>
              <a:off x="4174" y="1978"/>
              <a:ext cx="31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50" name="Line 163"/>
            <p:cNvSpPr/>
            <p:nvPr/>
          </p:nvSpPr>
          <p:spPr>
            <a:xfrm flipV="1">
              <a:off x="4582" y="2508"/>
              <a:ext cx="499" cy="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51" name="Text Box 164"/>
            <p:cNvSpPr txBox="1"/>
            <p:nvPr/>
          </p:nvSpPr>
          <p:spPr>
            <a:xfrm>
              <a:off x="3448" y="1842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52" name="Text Box 165"/>
            <p:cNvSpPr txBox="1"/>
            <p:nvPr/>
          </p:nvSpPr>
          <p:spPr>
            <a:xfrm>
              <a:off x="4536" y="1842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53" name="Text Box 166"/>
            <p:cNvSpPr txBox="1"/>
            <p:nvPr/>
          </p:nvSpPr>
          <p:spPr>
            <a:xfrm>
              <a:off x="3448" y="2401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54" name="Text Box 168"/>
            <p:cNvSpPr txBox="1"/>
            <p:nvPr/>
          </p:nvSpPr>
          <p:spPr>
            <a:xfrm>
              <a:off x="4582" y="2341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55" name="Text Box 169"/>
            <p:cNvSpPr txBox="1"/>
            <p:nvPr/>
          </p:nvSpPr>
          <p:spPr>
            <a:xfrm>
              <a:off x="5172" y="2341"/>
              <a:ext cx="22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56" name="Text Box 170"/>
            <p:cNvSpPr txBox="1"/>
            <p:nvPr/>
          </p:nvSpPr>
          <p:spPr>
            <a:xfrm>
              <a:off x="3539" y="2100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57" name="Text Box 171"/>
            <p:cNvSpPr txBox="1"/>
            <p:nvPr/>
          </p:nvSpPr>
          <p:spPr>
            <a:xfrm>
              <a:off x="3811" y="2145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58" name="Text Box 173"/>
            <p:cNvSpPr txBox="1"/>
            <p:nvPr/>
          </p:nvSpPr>
          <p:spPr>
            <a:xfrm>
              <a:off x="4537" y="2100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59" name="Text Box 176"/>
            <p:cNvSpPr txBox="1"/>
            <p:nvPr/>
          </p:nvSpPr>
          <p:spPr>
            <a:xfrm>
              <a:off x="4810" y="2326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6274" name="Rectangle 178"/>
          <p:cNvSpPr/>
          <p:nvPr/>
        </p:nvSpPr>
        <p:spPr>
          <a:xfrm>
            <a:off x="663575" y="4673600"/>
            <a:ext cx="10556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\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: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" name="Group 210"/>
          <p:cNvGrpSpPr/>
          <p:nvPr/>
        </p:nvGrpSpPr>
        <p:grpSpPr>
          <a:xfrm>
            <a:off x="1444625" y="4295775"/>
            <a:ext cx="3097213" cy="1298575"/>
            <a:chOff x="1100" y="2652"/>
            <a:chExt cx="1951" cy="818"/>
          </a:xfrm>
        </p:grpSpPr>
        <p:sp>
          <p:nvSpPr>
            <p:cNvPr id="31862" name="Text Box 180"/>
            <p:cNvSpPr txBox="1"/>
            <p:nvPr/>
          </p:nvSpPr>
          <p:spPr>
            <a:xfrm>
              <a:off x="1917" y="2652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63" name="Text Box 182"/>
            <p:cNvSpPr txBox="1"/>
            <p:nvPr/>
          </p:nvSpPr>
          <p:spPr>
            <a:xfrm>
              <a:off x="1554" y="2698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64" name="AutoShape 183"/>
            <p:cNvSpPr/>
            <p:nvPr/>
          </p:nvSpPr>
          <p:spPr>
            <a:xfrm>
              <a:off x="2733" y="3333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65" name="AutoShape 184"/>
            <p:cNvSpPr/>
            <p:nvPr/>
          </p:nvSpPr>
          <p:spPr>
            <a:xfrm>
              <a:off x="1327" y="2804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66" name="AutoShape 185"/>
            <p:cNvSpPr/>
            <p:nvPr/>
          </p:nvSpPr>
          <p:spPr>
            <a:xfrm>
              <a:off x="1735" y="2804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67" name="AutoShape 187"/>
            <p:cNvSpPr/>
            <p:nvPr/>
          </p:nvSpPr>
          <p:spPr>
            <a:xfrm>
              <a:off x="2144" y="2804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68" name="AutoShape 188"/>
            <p:cNvSpPr/>
            <p:nvPr/>
          </p:nvSpPr>
          <p:spPr>
            <a:xfrm>
              <a:off x="1735" y="3348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69" name="Line 189"/>
            <p:cNvSpPr/>
            <p:nvPr/>
          </p:nvSpPr>
          <p:spPr>
            <a:xfrm flipH="1" flipV="1">
              <a:off x="1372" y="2894"/>
              <a:ext cx="372" cy="4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70" name="AutoShape 190"/>
            <p:cNvSpPr/>
            <p:nvPr/>
          </p:nvSpPr>
          <p:spPr>
            <a:xfrm>
              <a:off x="2144" y="3348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71" name="Line 191"/>
            <p:cNvSpPr/>
            <p:nvPr/>
          </p:nvSpPr>
          <p:spPr>
            <a:xfrm flipH="1" flipV="1">
              <a:off x="1781" y="2894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72" name="Line 192"/>
            <p:cNvSpPr/>
            <p:nvPr/>
          </p:nvSpPr>
          <p:spPr>
            <a:xfrm flipH="1" flipV="1">
              <a:off x="2189" y="2894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73" name="Line 193"/>
            <p:cNvSpPr/>
            <p:nvPr/>
          </p:nvSpPr>
          <p:spPr>
            <a:xfrm flipV="1">
              <a:off x="1819" y="2894"/>
              <a:ext cx="370" cy="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74" name="Line 194"/>
            <p:cNvSpPr/>
            <p:nvPr/>
          </p:nvSpPr>
          <p:spPr>
            <a:xfrm flipV="1">
              <a:off x="1782" y="3393"/>
              <a:ext cx="362" cy="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75" name="Line 195"/>
            <p:cNvSpPr/>
            <p:nvPr/>
          </p:nvSpPr>
          <p:spPr>
            <a:xfrm>
              <a:off x="1826" y="2849"/>
              <a:ext cx="31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76" name="Line 196"/>
            <p:cNvSpPr/>
            <p:nvPr/>
          </p:nvSpPr>
          <p:spPr>
            <a:xfrm flipV="1">
              <a:off x="2234" y="3379"/>
              <a:ext cx="499" cy="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77" name="Text Box 197"/>
            <p:cNvSpPr txBox="1"/>
            <p:nvPr/>
          </p:nvSpPr>
          <p:spPr>
            <a:xfrm>
              <a:off x="1100" y="2713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78" name="Text Box 198"/>
            <p:cNvSpPr txBox="1"/>
            <p:nvPr/>
          </p:nvSpPr>
          <p:spPr>
            <a:xfrm>
              <a:off x="2188" y="2713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79" name="Text Box 200"/>
            <p:cNvSpPr txBox="1"/>
            <p:nvPr/>
          </p:nvSpPr>
          <p:spPr>
            <a:xfrm>
              <a:off x="1578" y="3258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80" name="Text Box 201"/>
            <p:cNvSpPr txBox="1"/>
            <p:nvPr/>
          </p:nvSpPr>
          <p:spPr>
            <a:xfrm>
              <a:off x="2234" y="3212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81" name="Text Box 202"/>
            <p:cNvSpPr txBox="1"/>
            <p:nvPr/>
          </p:nvSpPr>
          <p:spPr>
            <a:xfrm>
              <a:off x="2824" y="3212"/>
              <a:ext cx="22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82" name="Text Box 203"/>
            <p:cNvSpPr txBox="1"/>
            <p:nvPr/>
          </p:nvSpPr>
          <p:spPr>
            <a:xfrm>
              <a:off x="1327" y="2955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83" name="Text Box 204"/>
            <p:cNvSpPr txBox="1"/>
            <p:nvPr/>
          </p:nvSpPr>
          <p:spPr>
            <a:xfrm>
              <a:off x="1819" y="2955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84" name="Text Box 205"/>
            <p:cNvSpPr txBox="1"/>
            <p:nvPr/>
          </p:nvSpPr>
          <p:spPr>
            <a:xfrm>
              <a:off x="1599" y="2880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85" name="Text Box 206"/>
            <p:cNvSpPr txBox="1"/>
            <p:nvPr/>
          </p:nvSpPr>
          <p:spPr>
            <a:xfrm>
              <a:off x="2189" y="2971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86" name="Text Box 208"/>
            <p:cNvSpPr txBox="1"/>
            <p:nvPr/>
          </p:nvSpPr>
          <p:spPr>
            <a:xfrm>
              <a:off x="1881" y="3221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87" name="Text Box 209"/>
            <p:cNvSpPr txBox="1"/>
            <p:nvPr/>
          </p:nvSpPr>
          <p:spPr>
            <a:xfrm>
              <a:off x="2462" y="3197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6307" name="Rectangle 211"/>
          <p:cNvSpPr/>
          <p:nvPr/>
        </p:nvSpPr>
        <p:spPr>
          <a:xfrm>
            <a:off x="4392613" y="4632325"/>
            <a:ext cx="1201737" cy="4810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00000"/>
              </a:lnSpc>
            </a:pP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+(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):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Group 246"/>
          <p:cNvGrpSpPr/>
          <p:nvPr/>
        </p:nvGrpSpPr>
        <p:grpSpPr>
          <a:xfrm>
            <a:off x="5473700" y="4330700"/>
            <a:ext cx="3097213" cy="1539875"/>
            <a:chOff x="3486" y="2728"/>
            <a:chExt cx="1951" cy="970"/>
          </a:xfrm>
        </p:grpSpPr>
        <p:sp>
          <p:nvSpPr>
            <p:cNvPr id="31890" name="Text Box 213"/>
            <p:cNvSpPr txBox="1"/>
            <p:nvPr/>
          </p:nvSpPr>
          <p:spPr>
            <a:xfrm>
              <a:off x="4303" y="2804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91" name="Text Box 215"/>
            <p:cNvSpPr txBox="1"/>
            <p:nvPr/>
          </p:nvSpPr>
          <p:spPr>
            <a:xfrm>
              <a:off x="4040" y="2728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92" name="AutoShape 216"/>
            <p:cNvSpPr/>
            <p:nvPr/>
          </p:nvSpPr>
          <p:spPr>
            <a:xfrm>
              <a:off x="5119" y="3485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93" name="AutoShape 217"/>
            <p:cNvSpPr/>
            <p:nvPr/>
          </p:nvSpPr>
          <p:spPr>
            <a:xfrm>
              <a:off x="3713" y="2956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94" name="AutoShape 218"/>
            <p:cNvSpPr/>
            <p:nvPr/>
          </p:nvSpPr>
          <p:spPr>
            <a:xfrm>
              <a:off x="4121" y="2956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95" name="AutoShape 219"/>
            <p:cNvSpPr/>
            <p:nvPr/>
          </p:nvSpPr>
          <p:spPr>
            <a:xfrm>
              <a:off x="3714" y="3500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96" name="AutoShape 220"/>
            <p:cNvSpPr/>
            <p:nvPr/>
          </p:nvSpPr>
          <p:spPr>
            <a:xfrm>
              <a:off x="4530" y="2956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97" name="AutoShape 221"/>
            <p:cNvSpPr/>
            <p:nvPr/>
          </p:nvSpPr>
          <p:spPr>
            <a:xfrm>
              <a:off x="4121" y="3500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98" name="Line 222"/>
            <p:cNvSpPr/>
            <p:nvPr/>
          </p:nvSpPr>
          <p:spPr>
            <a:xfrm flipH="1" flipV="1">
              <a:off x="3758" y="3046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899" name="AutoShape 223"/>
            <p:cNvSpPr/>
            <p:nvPr/>
          </p:nvSpPr>
          <p:spPr>
            <a:xfrm>
              <a:off x="4530" y="3500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900" name="Line 224"/>
            <p:cNvSpPr/>
            <p:nvPr/>
          </p:nvSpPr>
          <p:spPr>
            <a:xfrm flipH="1" flipV="1">
              <a:off x="4167" y="3046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901" name="Line 225"/>
            <p:cNvSpPr/>
            <p:nvPr/>
          </p:nvSpPr>
          <p:spPr>
            <a:xfrm flipH="1" flipV="1">
              <a:off x="4575" y="3046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902" name="Line 226"/>
            <p:cNvSpPr/>
            <p:nvPr/>
          </p:nvSpPr>
          <p:spPr>
            <a:xfrm flipV="1">
              <a:off x="3759" y="3046"/>
              <a:ext cx="816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903" name="Line 227"/>
            <p:cNvSpPr/>
            <p:nvPr/>
          </p:nvSpPr>
          <p:spPr>
            <a:xfrm>
              <a:off x="3804" y="3545"/>
              <a:ext cx="72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904" name="Line 228"/>
            <p:cNvSpPr/>
            <p:nvPr/>
          </p:nvSpPr>
          <p:spPr>
            <a:xfrm>
              <a:off x="4212" y="3001"/>
              <a:ext cx="31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905" name="Line 229"/>
            <p:cNvSpPr/>
            <p:nvPr/>
          </p:nvSpPr>
          <p:spPr>
            <a:xfrm flipV="1">
              <a:off x="4620" y="3531"/>
              <a:ext cx="499" cy="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906" name="Text Box 230"/>
            <p:cNvSpPr txBox="1"/>
            <p:nvPr/>
          </p:nvSpPr>
          <p:spPr>
            <a:xfrm>
              <a:off x="3486" y="2865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07" name="Text Box 231"/>
            <p:cNvSpPr txBox="1"/>
            <p:nvPr/>
          </p:nvSpPr>
          <p:spPr>
            <a:xfrm>
              <a:off x="4574" y="2865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08" name="Text Box 232"/>
            <p:cNvSpPr txBox="1"/>
            <p:nvPr/>
          </p:nvSpPr>
          <p:spPr>
            <a:xfrm>
              <a:off x="3486" y="3424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09" name="Text Box 233"/>
            <p:cNvSpPr txBox="1"/>
            <p:nvPr/>
          </p:nvSpPr>
          <p:spPr>
            <a:xfrm>
              <a:off x="4166" y="3319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10" name="Text Box 234"/>
            <p:cNvSpPr txBox="1"/>
            <p:nvPr/>
          </p:nvSpPr>
          <p:spPr>
            <a:xfrm>
              <a:off x="4620" y="3364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11" name="Text Box 235"/>
            <p:cNvSpPr txBox="1"/>
            <p:nvPr/>
          </p:nvSpPr>
          <p:spPr>
            <a:xfrm>
              <a:off x="5210" y="3364"/>
              <a:ext cx="22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12" name="Text Box 236"/>
            <p:cNvSpPr txBox="1"/>
            <p:nvPr/>
          </p:nvSpPr>
          <p:spPr>
            <a:xfrm>
              <a:off x="3577" y="3123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13" name="Text Box 237"/>
            <p:cNvSpPr txBox="1"/>
            <p:nvPr/>
          </p:nvSpPr>
          <p:spPr>
            <a:xfrm>
              <a:off x="3849" y="3168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14" name="Text Box 238"/>
            <p:cNvSpPr txBox="1"/>
            <p:nvPr/>
          </p:nvSpPr>
          <p:spPr>
            <a:xfrm>
              <a:off x="3985" y="3032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15" name="Text Box 239"/>
            <p:cNvSpPr txBox="1"/>
            <p:nvPr/>
          </p:nvSpPr>
          <p:spPr>
            <a:xfrm>
              <a:off x="4575" y="3123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16" name="Text Box 240"/>
            <p:cNvSpPr txBox="1"/>
            <p:nvPr/>
          </p:nvSpPr>
          <p:spPr>
            <a:xfrm>
              <a:off x="3849" y="3486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17" name="Text Box 241"/>
            <p:cNvSpPr txBox="1"/>
            <p:nvPr/>
          </p:nvSpPr>
          <p:spPr>
            <a:xfrm>
              <a:off x="4257" y="3486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18" name="Text Box 242"/>
            <p:cNvSpPr txBox="1"/>
            <p:nvPr/>
          </p:nvSpPr>
          <p:spPr>
            <a:xfrm>
              <a:off x="4848" y="3349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19" name="Text Box 243"/>
            <p:cNvSpPr txBox="1"/>
            <p:nvPr/>
          </p:nvSpPr>
          <p:spPr>
            <a:xfrm>
              <a:off x="3813" y="2781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20" name="Line 244"/>
            <p:cNvSpPr/>
            <p:nvPr/>
          </p:nvSpPr>
          <p:spPr>
            <a:xfrm>
              <a:off x="3812" y="2993"/>
              <a:ext cx="31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80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16180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80"/>
                                        <p:tgtEl>
                                          <p:spTgt spid="516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80"/>
                                        <p:tgtEl>
                                          <p:spTgt spid="516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80"/>
                                        <p:tgtEl>
                                          <p:spTgt spid="516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4" dur="80"/>
                                        <p:tgtEl>
                                          <p:spTgt spid="5162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5" dur="80"/>
                                        <p:tgtEl>
                                          <p:spTgt spid="516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80"/>
                                        <p:tgtEl>
                                          <p:spTgt spid="516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30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51630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51630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51630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147" grpId="0"/>
      <p:bldP spid="516213" grpId="0"/>
      <p:bldP spid="51627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23975" y="61913"/>
            <a:ext cx="3729038" cy="7207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11.2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通路与回路</a:t>
            </a:r>
            <a:endParaRPr kumimoji="1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517124" name="Rectangle 4"/>
          <p:cNvSpPr>
            <a:spLocks noGrp="1"/>
          </p:cNvSpPr>
          <p:nvPr>
            <p:ph idx="1"/>
          </p:nvPr>
        </p:nvSpPr>
        <p:spPr>
          <a:xfrm>
            <a:off x="341313" y="963613"/>
            <a:ext cx="8559800" cy="5230812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chemeClr val="hlink"/>
                </a:solidFill>
              </a:rPr>
              <a:t>定义</a:t>
            </a:r>
            <a:r>
              <a:rPr lang="en-US" altLang="zh-CN" sz="2200" dirty="0">
                <a:solidFill>
                  <a:schemeClr val="hlink"/>
                </a:solidFill>
              </a:rPr>
              <a:t>11.11</a:t>
            </a:r>
            <a:r>
              <a:rPr lang="en-US" altLang="zh-CN" sz="2200" dirty="0"/>
              <a:t> </a:t>
            </a:r>
            <a:r>
              <a:rPr lang="zh-CN" altLang="en-US" sz="2200" dirty="0"/>
              <a:t>给定图</a:t>
            </a:r>
            <a:r>
              <a:rPr lang="en-US" altLang="zh-CN" sz="2200" i="1" dirty="0"/>
              <a:t>G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</a:t>
            </a:r>
            <a:r>
              <a:rPr lang="zh-CN" altLang="en-US" sz="2200" dirty="0"/>
              <a:t>为无向标定图</a:t>
            </a:r>
            <a:r>
              <a:rPr lang="en-US" altLang="zh-CN" sz="2200" dirty="0"/>
              <a:t>, </a:t>
            </a:r>
            <a:r>
              <a:rPr lang="en-US" altLang="zh-CN" sz="2200" i="1" dirty="0"/>
              <a:t>G</a:t>
            </a:r>
            <a:r>
              <a:rPr lang="zh-CN" altLang="en-US" sz="2200" dirty="0"/>
              <a:t>中顶点与边的交替序列</a:t>
            </a:r>
            <a:r>
              <a:rPr lang="zh-CN" altLang="en-US" sz="2200" i="1" dirty="0">
                <a:sym typeface="Symbol" panose="05050102010706020507" pitchFamily="18" charset="2"/>
              </a:rPr>
              <a:t></a:t>
            </a:r>
            <a:r>
              <a:rPr lang="en-US" altLang="zh-CN" sz="2200" dirty="0"/>
              <a:t>=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0</a:t>
            </a:r>
            <a:r>
              <a:rPr lang="en-US" altLang="zh-CN" sz="2200" i="1" dirty="0"/>
              <a:t>e</a:t>
            </a:r>
            <a:r>
              <a:rPr lang="en-US" altLang="zh-CN" sz="2200" baseline="-25000" dirty="0"/>
              <a:t>1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1</a:t>
            </a:r>
            <a:r>
              <a:rPr lang="en-US" altLang="zh-CN" sz="2200" i="1" dirty="0"/>
              <a:t>e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…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l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l</a:t>
            </a:r>
            <a:r>
              <a:rPr lang="en-US" altLang="zh-CN" sz="2200" dirty="0"/>
              <a:t>. </a:t>
            </a:r>
            <a:r>
              <a:rPr lang="zh-CN" altLang="en-US" sz="2200" dirty="0"/>
              <a:t>其中</a:t>
            </a:r>
            <a:r>
              <a:rPr lang="en-US" altLang="zh-CN" sz="2200" dirty="0">
                <a:sym typeface="Symbol" panose="05050102010706020507" pitchFamily="18" charset="2"/>
              </a:rPr>
              <a:t>1</a:t>
            </a:r>
            <a:r>
              <a:rPr lang="en-US" altLang="zh-CN" sz="2200" i="1" dirty="0">
                <a:sym typeface="Symbol" panose="05050102010706020507" pitchFamily="18" charset="2"/>
              </a:rPr>
              <a:t>i</a:t>
            </a:r>
            <a:r>
              <a:rPr lang="en-US" altLang="zh-CN" sz="2200" dirty="0">
                <a:sym typeface="Symbol" panose="05050102010706020507" pitchFamily="18" charset="2"/>
              </a:rPr>
              <a:t></a:t>
            </a:r>
            <a:r>
              <a:rPr lang="en-US" altLang="zh-CN" sz="2200" i="1" dirty="0">
                <a:sym typeface="Symbol" panose="05050102010706020507" pitchFamily="18" charset="2"/>
              </a:rPr>
              <a:t>l</a:t>
            </a:r>
            <a:r>
              <a:rPr lang="en-US" altLang="zh-CN" sz="2200" dirty="0">
                <a:sym typeface="Symbol" panose="05050102010706020507" pitchFamily="18" charset="2"/>
              </a:rPr>
              <a:t>, </a:t>
            </a:r>
            <a:r>
              <a:rPr lang="en-US" altLang="zh-CN" sz="2200" i="1" dirty="0"/>
              <a:t>e</a:t>
            </a:r>
            <a:r>
              <a:rPr lang="en-US" altLang="zh-CN" sz="2200" i="1" baseline="-25000" dirty="0"/>
              <a:t>i</a:t>
            </a:r>
            <a:r>
              <a:rPr lang="en-US" altLang="zh-CN" sz="2200" dirty="0">
                <a:sym typeface="Symbol" panose="05050102010706020507" pitchFamily="18" charset="2"/>
              </a:rPr>
              <a:t>=(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</a:t>
            </a:r>
            <a:r>
              <a:rPr lang="en-US" altLang="zh-CN" sz="2200" baseline="-25000" dirty="0">
                <a:sym typeface="Symbol" panose="05050102010706020507" pitchFamily="18" charset="2"/>
              </a:rPr>
              <a:t>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i</a:t>
            </a:r>
            <a:r>
              <a:rPr lang="en-US" altLang="zh-CN" sz="2200" dirty="0"/>
              <a:t>), </a:t>
            </a:r>
            <a:r>
              <a:rPr lang="zh-CN" altLang="en-US" sz="2200" dirty="0"/>
              <a:t>则称</a:t>
            </a:r>
            <a:r>
              <a:rPr lang="zh-CN" altLang="en-US" sz="2200" i="1" dirty="0">
                <a:sym typeface="Symbol" panose="05050102010706020507" pitchFamily="18" charset="2"/>
              </a:rPr>
              <a:t></a:t>
            </a:r>
            <a:r>
              <a:rPr lang="zh-CN" altLang="en-US" sz="2200" dirty="0"/>
              <a:t>为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0</a:t>
            </a:r>
            <a:r>
              <a:rPr lang="zh-CN" altLang="en-US" sz="2200" dirty="0"/>
              <a:t>到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l</a:t>
            </a:r>
            <a:r>
              <a:rPr lang="zh-CN" altLang="en-US" sz="2200" dirty="0"/>
              <a:t>的</a:t>
            </a:r>
            <a:r>
              <a:rPr lang="zh-CN" altLang="en-US" sz="2200" dirty="0">
                <a:solidFill>
                  <a:schemeClr val="hlink"/>
                </a:solidFill>
              </a:rPr>
              <a:t>通路</a:t>
            </a:r>
            <a:r>
              <a:rPr lang="en-US" altLang="zh-CN" sz="2200" dirty="0"/>
              <a:t>,</a:t>
            </a:r>
            <a:endParaRPr lang="en-US" altLang="zh-CN" sz="2200" dirty="0"/>
          </a:p>
          <a:p>
            <a:pPr marL="0" indent="0" eaLnBrk="1" hangingPunct="1">
              <a:lnSpc>
                <a:spcPct val="115000"/>
              </a:lnSpc>
            </a:pPr>
            <a:r>
              <a:rPr lang="en-US" altLang="zh-CN" sz="2200" dirty="0"/>
              <a:t>   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0</a:t>
            </a:r>
            <a:r>
              <a:rPr lang="zh-CN" altLang="en-US" sz="2200" dirty="0"/>
              <a:t>和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l</a:t>
            </a:r>
            <a:r>
              <a:rPr lang="zh-CN" altLang="en-US" sz="2200" dirty="0"/>
              <a:t>分别为通路的</a:t>
            </a:r>
            <a:r>
              <a:rPr lang="zh-CN" altLang="en-US" sz="2200" dirty="0">
                <a:solidFill>
                  <a:schemeClr val="hlink"/>
                </a:solidFill>
              </a:rPr>
              <a:t>起点</a:t>
            </a:r>
            <a:r>
              <a:rPr lang="zh-CN" altLang="en-US" sz="2200" dirty="0"/>
              <a:t>和</a:t>
            </a:r>
            <a:r>
              <a:rPr lang="zh-CN" altLang="en-US" sz="2200" dirty="0">
                <a:solidFill>
                  <a:schemeClr val="hlink"/>
                </a:solidFill>
              </a:rPr>
              <a:t>终点</a:t>
            </a:r>
            <a:r>
              <a:rPr lang="en-US" altLang="zh-CN" sz="2200" dirty="0"/>
              <a:t>, </a:t>
            </a:r>
            <a:r>
              <a:rPr lang="en-US" altLang="zh-CN" sz="2200" i="1" dirty="0"/>
              <a:t>l</a:t>
            </a:r>
            <a:r>
              <a:rPr lang="en-US" altLang="zh-CN" sz="2200" dirty="0"/>
              <a:t>(</a:t>
            </a:r>
            <a:r>
              <a:rPr lang="zh-CN" altLang="en-US" sz="2200" dirty="0"/>
              <a:t>边的条数</a:t>
            </a:r>
            <a:r>
              <a:rPr lang="en-US" altLang="zh-CN" sz="2200" dirty="0"/>
              <a:t>)</a:t>
            </a:r>
            <a:r>
              <a:rPr lang="zh-CN" altLang="en-US" sz="2200" dirty="0"/>
              <a:t>为通路的</a:t>
            </a:r>
            <a:r>
              <a:rPr lang="zh-CN" altLang="en-US" sz="2200" dirty="0">
                <a:solidFill>
                  <a:schemeClr val="hlink"/>
                </a:solidFill>
              </a:rPr>
              <a:t>长度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indent="0" eaLnBrk="1" hangingPunct="1">
              <a:lnSpc>
                <a:spcPct val="115000"/>
              </a:lnSpc>
            </a:pPr>
            <a:r>
              <a:rPr lang="en-US" altLang="zh-CN" sz="2200" dirty="0"/>
              <a:t>  </a:t>
            </a:r>
            <a:r>
              <a:rPr lang="zh-CN" altLang="en-US" sz="2200" dirty="0"/>
              <a:t>又若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0</a:t>
            </a:r>
            <a:r>
              <a:rPr lang="en-US" altLang="zh-CN" sz="2200" dirty="0"/>
              <a:t>=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l</a:t>
            </a:r>
            <a:r>
              <a:rPr lang="en-US" altLang="zh-CN" sz="2200" dirty="0"/>
              <a:t>, </a:t>
            </a:r>
            <a:r>
              <a:rPr lang="zh-CN" altLang="en-US" sz="2200" dirty="0"/>
              <a:t>则称</a:t>
            </a:r>
            <a:r>
              <a:rPr lang="zh-CN" altLang="en-US" sz="2200" i="1" dirty="0">
                <a:sym typeface="Symbol" panose="05050102010706020507" pitchFamily="18" charset="2"/>
              </a:rPr>
              <a:t></a:t>
            </a:r>
            <a:r>
              <a:rPr lang="zh-CN" altLang="en-US" sz="2200" dirty="0"/>
              <a:t>为</a:t>
            </a:r>
            <a:r>
              <a:rPr lang="zh-CN" altLang="en-US" sz="2200" dirty="0">
                <a:solidFill>
                  <a:schemeClr val="hlink"/>
                </a:solidFill>
              </a:rPr>
              <a:t>回路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indent="0" eaLnBrk="1" hangingPunct="1">
              <a:lnSpc>
                <a:spcPct val="115000"/>
              </a:lnSpc>
            </a:pPr>
            <a:r>
              <a:rPr lang="en-US" altLang="zh-CN" sz="2200" dirty="0"/>
              <a:t>  </a:t>
            </a:r>
            <a:r>
              <a:rPr lang="zh-CN" altLang="en-US" sz="2200" dirty="0"/>
              <a:t>若通路中所有边各异</a:t>
            </a:r>
            <a:r>
              <a:rPr lang="en-US" altLang="zh-CN" sz="2200" dirty="0"/>
              <a:t>, </a:t>
            </a:r>
            <a:r>
              <a:rPr lang="zh-CN" altLang="en-US" sz="2200" dirty="0"/>
              <a:t>则称为</a:t>
            </a:r>
            <a:r>
              <a:rPr lang="zh-CN" altLang="en-US" sz="2200" dirty="0">
                <a:solidFill>
                  <a:schemeClr val="hlink"/>
                </a:solidFill>
              </a:rPr>
              <a:t>简单通路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indent="0" eaLnBrk="1" hangingPunct="1">
              <a:lnSpc>
                <a:spcPct val="115000"/>
              </a:lnSpc>
            </a:pPr>
            <a:r>
              <a:rPr lang="en-US" altLang="zh-CN" sz="2200" dirty="0"/>
              <a:t>  </a:t>
            </a:r>
            <a:r>
              <a:rPr lang="zh-CN" altLang="en-US" sz="2200" dirty="0"/>
              <a:t>若回路中所有边各异</a:t>
            </a:r>
            <a:r>
              <a:rPr lang="en-US" altLang="zh-CN" sz="2200" dirty="0"/>
              <a:t>, </a:t>
            </a:r>
            <a:r>
              <a:rPr lang="zh-CN" altLang="en-US" sz="2200" dirty="0"/>
              <a:t>则称为</a:t>
            </a:r>
            <a:r>
              <a:rPr lang="zh-CN" altLang="en-US" sz="2200" dirty="0">
                <a:solidFill>
                  <a:schemeClr val="hlink"/>
                </a:solidFill>
              </a:rPr>
              <a:t>简单回路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indent="0" eaLnBrk="1" hangingPunct="1">
              <a:lnSpc>
                <a:spcPct val="115000"/>
              </a:lnSpc>
            </a:pPr>
            <a:r>
              <a:rPr lang="en-US" altLang="zh-CN" sz="2200" dirty="0"/>
              <a:t>   </a:t>
            </a:r>
            <a:r>
              <a:rPr lang="zh-CN" altLang="en-US" sz="2200" dirty="0"/>
              <a:t>否则称为</a:t>
            </a:r>
            <a:r>
              <a:rPr lang="zh-CN" altLang="en-US" sz="2200" dirty="0">
                <a:solidFill>
                  <a:schemeClr val="hlink"/>
                </a:solidFill>
              </a:rPr>
              <a:t>复杂通路</a:t>
            </a:r>
            <a:r>
              <a:rPr lang="en-US" altLang="zh-CN" sz="2200" dirty="0"/>
              <a:t>(</a:t>
            </a:r>
            <a:r>
              <a:rPr lang="zh-CN" altLang="en-US" sz="2200" dirty="0"/>
              <a:t>复杂回路</a:t>
            </a:r>
            <a:r>
              <a:rPr lang="en-US" altLang="zh-CN" sz="2200" dirty="0"/>
              <a:t>).</a:t>
            </a:r>
            <a:endParaRPr lang="en-US" altLang="zh-CN" sz="2200" dirty="0"/>
          </a:p>
          <a:p>
            <a:pPr marL="0" indent="0" eaLnBrk="1" hangingPunct="1">
              <a:lnSpc>
                <a:spcPct val="115000"/>
              </a:lnSpc>
            </a:pPr>
            <a:r>
              <a:rPr lang="en-US" altLang="zh-CN" sz="2200" dirty="0"/>
              <a:t>  </a:t>
            </a:r>
            <a:r>
              <a:rPr lang="zh-CN" altLang="en-US" sz="2200" dirty="0"/>
              <a:t>若通路</a:t>
            </a:r>
            <a:r>
              <a:rPr lang="zh-CN" altLang="en-US" sz="2200" i="1" dirty="0">
                <a:sym typeface="Symbol" panose="05050102010706020507" pitchFamily="18" charset="2"/>
              </a:rPr>
              <a:t></a:t>
            </a:r>
            <a:r>
              <a:rPr lang="zh-CN" altLang="en-US" sz="2200" dirty="0"/>
              <a:t>中所有顶点各异</a:t>
            </a:r>
            <a:r>
              <a:rPr lang="en-US" altLang="zh-CN" sz="2200" dirty="0"/>
              <a:t>, </a:t>
            </a:r>
            <a:r>
              <a:rPr lang="zh-CN" altLang="en-US" sz="2200" dirty="0"/>
              <a:t>则称</a:t>
            </a:r>
            <a:r>
              <a:rPr lang="zh-CN" altLang="en-US" sz="2200" i="1" dirty="0">
                <a:sym typeface="Symbol" panose="05050102010706020507" pitchFamily="18" charset="2"/>
              </a:rPr>
              <a:t></a:t>
            </a:r>
            <a:r>
              <a:rPr lang="zh-CN" altLang="en-US" sz="2200" dirty="0"/>
              <a:t>为</a:t>
            </a:r>
            <a:r>
              <a:rPr lang="zh-CN" altLang="en-US" sz="2200" dirty="0">
                <a:solidFill>
                  <a:schemeClr val="hlink"/>
                </a:solidFill>
              </a:rPr>
              <a:t>初级通路或路径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indent="0" eaLnBrk="1" hangingPunct="1">
              <a:lnSpc>
                <a:spcPct val="115000"/>
              </a:lnSpc>
            </a:pPr>
            <a:r>
              <a:rPr lang="en-US" altLang="zh-CN" sz="2200" dirty="0"/>
              <a:t>  </a:t>
            </a:r>
            <a:r>
              <a:rPr lang="zh-CN" altLang="en-US" sz="2200" dirty="0"/>
              <a:t>若回路中所有顶点</a:t>
            </a:r>
            <a:r>
              <a:rPr lang="en-US" altLang="zh-CN" sz="2200" dirty="0"/>
              <a:t>(</a:t>
            </a:r>
            <a:r>
              <a:rPr lang="zh-CN" altLang="en-US" sz="2200" dirty="0"/>
              <a:t>除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0</a:t>
            </a:r>
            <a:r>
              <a:rPr lang="en-US" altLang="zh-CN" sz="2200" dirty="0"/>
              <a:t>=</a:t>
            </a:r>
            <a:r>
              <a:rPr lang="en-US" altLang="zh-CN" sz="2200" i="1" dirty="0"/>
              <a:t>v</a:t>
            </a:r>
            <a:r>
              <a:rPr lang="en-US" altLang="zh-CN" sz="2200" i="1" baseline="-25000" dirty="0"/>
              <a:t>l</a:t>
            </a:r>
            <a:r>
              <a:rPr lang="en-US" altLang="zh-CN" sz="2200" dirty="0"/>
              <a:t>)</a:t>
            </a:r>
            <a:r>
              <a:rPr lang="zh-CN" altLang="en-US" sz="2200" dirty="0"/>
              <a:t>各异</a:t>
            </a:r>
            <a:r>
              <a:rPr lang="en-US" altLang="zh-CN" sz="2200" dirty="0"/>
              <a:t>, </a:t>
            </a:r>
            <a:r>
              <a:rPr lang="zh-CN" altLang="en-US" sz="2200" dirty="0"/>
              <a:t>则称</a:t>
            </a:r>
            <a:r>
              <a:rPr lang="zh-CN" altLang="en-US" sz="2200" i="1" dirty="0">
                <a:sym typeface="Symbol" panose="05050102010706020507" pitchFamily="18" charset="2"/>
              </a:rPr>
              <a:t></a:t>
            </a:r>
            <a:r>
              <a:rPr lang="zh-CN" altLang="en-US" sz="2200" dirty="0"/>
              <a:t>为</a:t>
            </a:r>
            <a:r>
              <a:rPr lang="zh-CN" altLang="en-US" sz="2200" dirty="0">
                <a:solidFill>
                  <a:schemeClr val="hlink"/>
                </a:solidFill>
              </a:rPr>
              <a:t>初级回路或圈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indent="0" eaLnBrk="1" hangingPunct="1">
              <a:lnSpc>
                <a:spcPct val="115000"/>
              </a:lnSpc>
            </a:pPr>
            <a:r>
              <a:rPr lang="en-US" altLang="zh-CN" sz="2200" dirty="0"/>
              <a:t>  </a:t>
            </a:r>
            <a:r>
              <a:rPr lang="zh-CN" altLang="en-US" sz="2200" dirty="0"/>
              <a:t>长度为奇数的圈称作</a:t>
            </a:r>
            <a:r>
              <a:rPr lang="zh-CN" altLang="en-US" sz="2200" dirty="0">
                <a:solidFill>
                  <a:schemeClr val="hlink"/>
                </a:solidFill>
              </a:rPr>
              <a:t>奇圈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indent="0" eaLnBrk="1" hangingPunct="1">
              <a:lnSpc>
                <a:spcPct val="115000"/>
              </a:lnSpc>
            </a:pPr>
            <a:r>
              <a:rPr lang="en-US" altLang="zh-CN" sz="2200" dirty="0"/>
              <a:t>  </a:t>
            </a:r>
            <a:r>
              <a:rPr lang="zh-CN" altLang="en-US" sz="2200" dirty="0"/>
              <a:t>长度为偶数的圈称作</a:t>
            </a:r>
            <a:r>
              <a:rPr lang="zh-CN" altLang="en-US" sz="2200" dirty="0">
                <a:solidFill>
                  <a:schemeClr val="hlink"/>
                </a:solidFill>
              </a:rPr>
              <a:t>偶圈</a:t>
            </a:r>
            <a:r>
              <a:rPr lang="en-US" altLang="zh-CN" sz="2200" dirty="0"/>
              <a:t>. </a:t>
            </a:r>
            <a:endParaRPr lang="en-US" altLang="zh-CN" sz="22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>
                                            <p:txEl>
                                              <p:charRg st="0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7124">
                                            <p:txEl>
                                              <p:charRg st="0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>
                                            <p:txEl>
                                              <p:charRg st="91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7124">
                                            <p:txEl>
                                              <p:charRg st="91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>
                                            <p:txEl>
                                              <p:charRg st="128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517124">
                                            <p:txEl>
                                              <p:charRg st="128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517124">
                                            <p:txEl>
                                              <p:charRg st="128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517124">
                                            <p:txEl>
                                              <p:charRg st="128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>
                                            <p:txEl>
                                              <p:charRg st="147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517124">
                                            <p:txEl>
                                              <p:charRg st="147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517124">
                                            <p:txEl>
                                              <p:charRg st="147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517124">
                                            <p:txEl>
                                              <p:charRg st="147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>
                                            <p:txEl>
                                              <p:charRg st="169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517124">
                                            <p:txEl>
                                              <p:charRg st="169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517124">
                                            <p:txEl>
                                              <p:charRg st="169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517124">
                                            <p:txEl>
                                              <p:charRg st="169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>
                                            <p:txEl>
                                              <p:charRg st="192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17124">
                                            <p:txEl>
                                              <p:charRg st="192" end="2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>
                                            <p:txEl>
                                              <p:charRg st="211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3" dur="80"/>
                                        <p:tgtEl>
                                          <p:spTgt spid="517124">
                                            <p:txEl>
                                              <p:charRg st="211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4" dur="80"/>
                                        <p:tgtEl>
                                          <p:spTgt spid="517124">
                                            <p:txEl>
                                              <p:charRg st="211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80"/>
                                        <p:tgtEl>
                                          <p:spTgt spid="517124">
                                            <p:txEl>
                                              <p:charRg st="211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>
                                            <p:txEl>
                                              <p:charRg st="240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0" dur="80"/>
                                        <p:tgtEl>
                                          <p:spTgt spid="517124">
                                            <p:txEl>
                                              <p:charRg st="240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1" dur="80"/>
                                        <p:tgtEl>
                                          <p:spTgt spid="517124">
                                            <p:txEl>
                                              <p:charRg st="240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80"/>
                                        <p:tgtEl>
                                          <p:spTgt spid="517124">
                                            <p:txEl>
                                              <p:charRg st="240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>
                                            <p:txEl>
                                              <p:charRg st="275" end="2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7" dur="80"/>
                                        <p:tgtEl>
                                          <p:spTgt spid="517124">
                                            <p:txEl>
                                              <p:charRg st="275" end="2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8" dur="80"/>
                                        <p:tgtEl>
                                          <p:spTgt spid="517124">
                                            <p:txEl>
                                              <p:charRg st="275" end="29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80"/>
                                        <p:tgtEl>
                                          <p:spTgt spid="517124">
                                            <p:txEl>
                                              <p:charRg st="275" end="29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>
                                            <p:txEl>
                                              <p:charRg st="290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4" dur="80"/>
                                        <p:tgtEl>
                                          <p:spTgt spid="517124">
                                            <p:txEl>
                                              <p:charRg st="290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5" dur="80"/>
                                        <p:tgtEl>
                                          <p:spTgt spid="517124">
                                            <p:txEl>
                                              <p:charRg st="290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80"/>
                                        <p:tgtEl>
                                          <p:spTgt spid="517124">
                                            <p:txEl>
                                              <p:charRg st="290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31938" y="182563"/>
            <a:ext cx="1597025" cy="5699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说明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1219" name="Rectangle 3"/>
          <p:cNvSpPr>
            <a:spLocks noGrp="1"/>
          </p:cNvSpPr>
          <p:nvPr>
            <p:ph idx="1"/>
          </p:nvPr>
        </p:nvSpPr>
        <p:spPr>
          <a:xfrm>
            <a:off x="482600" y="1323975"/>
            <a:ext cx="8058150" cy="4191000"/>
          </a:xfrm>
        </p:spPr>
        <p:txBody>
          <a:bodyPr vert="horz" wrap="square" lIns="91440" tIns="45720" rIns="91440" bIns="45720" anchor="t" anchorCtr="0"/>
          <a:p>
            <a:pPr marL="0" indent="0" algn="just" eaLnBrk="1" hangingPunct="1">
              <a:spcBef>
                <a:spcPct val="40000"/>
              </a:spcBef>
            </a:pPr>
            <a:r>
              <a:rPr lang="en-US" altLang="zh-CN" sz="2200" dirty="0"/>
              <a:t>(1) </a:t>
            </a:r>
            <a:r>
              <a:rPr lang="zh-CN" altLang="en-US" sz="2200" dirty="0"/>
              <a:t>表示方法</a:t>
            </a:r>
            <a:endParaRPr lang="zh-CN" altLang="en-US" sz="2200" dirty="0"/>
          </a:p>
          <a:p>
            <a:pPr marL="0" indent="0" algn="just" eaLnBrk="1" hangingPunct="1">
              <a:spcBef>
                <a:spcPct val="40000"/>
              </a:spcBef>
            </a:pPr>
            <a:r>
              <a:rPr lang="zh-CN" altLang="en-US" sz="2200" dirty="0"/>
              <a:t>    ① 按定义用顶点和边的交替序列</a:t>
            </a:r>
            <a:r>
              <a:rPr lang="en-US" altLang="zh-CN" sz="2200" dirty="0"/>
              <a:t>, </a:t>
            </a:r>
            <a:r>
              <a:rPr lang="en-US" altLang="zh-CN" sz="2200" i="1" dirty="0">
                <a:sym typeface="Symbol" panose="05050102010706020507" pitchFamily="18" charset="2"/>
              </a:rPr>
              <a:t></a:t>
            </a:r>
            <a:r>
              <a:rPr lang="en-US" altLang="zh-CN" sz="2200" dirty="0"/>
              <a:t>=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0</a:t>
            </a:r>
            <a:r>
              <a:rPr lang="en-US" altLang="zh-CN" sz="2200" i="1" dirty="0"/>
              <a:t>e</a:t>
            </a:r>
            <a:r>
              <a:rPr lang="en-US" altLang="zh-CN" sz="2200" baseline="-30000" dirty="0"/>
              <a:t>1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i="1" dirty="0"/>
              <a:t>e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…</a:t>
            </a:r>
            <a:r>
              <a:rPr lang="en-US" altLang="zh-CN" sz="2200" i="1" dirty="0"/>
              <a:t>e</a:t>
            </a:r>
            <a:r>
              <a:rPr lang="en-US" altLang="zh-CN" sz="2200" i="1" baseline="-30000" dirty="0"/>
              <a:t>l</a:t>
            </a:r>
            <a:r>
              <a:rPr lang="en-US" altLang="zh-CN" sz="2200" i="1" dirty="0"/>
              <a:t>v</a:t>
            </a:r>
            <a:r>
              <a:rPr lang="en-US" altLang="zh-CN" sz="2200" i="1" baseline="-30000" dirty="0"/>
              <a:t>l</a:t>
            </a:r>
            <a:endParaRPr lang="en-US" altLang="zh-CN" sz="2200" dirty="0"/>
          </a:p>
          <a:p>
            <a:pPr marL="0" indent="0" algn="just" eaLnBrk="1" hangingPunct="1">
              <a:spcBef>
                <a:spcPct val="40000"/>
              </a:spcBef>
            </a:pPr>
            <a:r>
              <a:rPr lang="en-US" altLang="zh-CN" sz="2200" dirty="0"/>
              <a:t>    ② </a:t>
            </a:r>
            <a:r>
              <a:rPr lang="zh-CN" altLang="en-US" sz="2200" dirty="0"/>
              <a:t>用边序列</a:t>
            </a:r>
            <a:r>
              <a:rPr lang="en-US" altLang="zh-CN" sz="2200" dirty="0"/>
              <a:t>, </a:t>
            </a:r>
            <a:r>
              <a:rPr lang="en-US" altLang="zh-CN" sz="2200" i="1" dirty="0">
                <a:sym typeface="Symbol" panose="05050102010706020507" pitchFamily="18" charset="2"/>
              </a:rPr>
              <a:t></a:t>
            </a:r>
            <a:r>
              <a:rPr lang="en-US" altLang="zh-CN" sz="2200" dirty="0"/>
              <a:t>=</a:t>
            </a:r>
            <a:r>
              <a:rPr lang="en-US" altLang="zh-CN" sz="2200" i="1" dirty="0"/>
              <a:t>e</a:t>
            </a:r>
            <a:r>
              <a:rPr lang="en-US" altLang="zh-CN" sz="2200" baseline="-30000" dirty="0"/>
              <a:t>1</a:t>
            </a:r>
            <a:r>
              <a:rPr lang="en-US" altLang="zh-CN" sz="2200" i="1" dirty="0"/>
              <a:t>e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…</a:t>
            </a:r>
            <a:r>
              <a:rPr lang="en-US" altLang="zh-CN" sz="2200" i="1" dirty="0"/>
              <a:t>e</a:t>
            </a:r>
            <a:r>
              <a:rPr lang="en-US" altLang="zh-CN" sz="2200" i="1" baseline="-30000" dirty="0"/>
              <a:t>l</a:t>
            </a:r>
            <a:endParaRPr lang="en-US" altLang="zh-CN" sz="2200" dirty="0"/>
          </a:p>
          <a:p>
            <a:pPr marL="0" indent="0" algn="just" eaLnBrk="1" hangingPunct="1">
              <a:spcBef>
                <a:spcPct val="40000"/>
              </a:spcBef>
            </a:pPr>
            <a:r>
              <a:rPr lang="en-US" altLang="zh-CN" sz="2200" dirty="0"/>
              <a:t>    ③ </a:t>
            </a:r>
            <a:r>
              <a:rPr lang="zh-CN" altLang="en-US" sz="2200" dirty="0"/>
              <a:t>简单图中</a:t>
            </a:r>
            <a:r>
              <a:rPr lang="en-US" altLang="zh-CN" sz="2200" dirty="0"/>
              <a:t>, </a:t>
            </a:r>
            <a:r>
              <a:rPr lang="zh-CN" altLang="en-US" sz="2200" dirty="0"/>
              <a:t>用顶点序列</a:t>
            </a:r>
            <a:r>
              <a:rPr lang="en-US" altLang="zh-CN" sz="2200" dirty="0"/>
              <a:t>, </a:t>
            </a:r>
            <a:r>
              <a:rPr lang="en-US" altLang="zh-CN" sz="2200" i="1" dirty="0">
                <a:sym typeface="Symbol" panose="05050102010706020507" pitchFamily="18" charset="2"/>
              </a:rPr>
              <a:t></a:t>
            </a:r>
            <a:r>
              <a:rPr lang="en-US" altLang="zh-CN" sz="2200" dirty="0"/>
              <a:t>=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0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…</a:t>
            </a:r>
            <a:r>
              <a:rPr lang="en-US" altLang="zh-CN" sz="2200" i="1" dirty="0"/>
              <a:t>v</a:t>
            </a:r>
            <a:r>
              <a:rPr lang="en-US" altLang="zh-CN" sz="2200" i="1" baseline="-30000" dirty="0"/>
              <a:t>l</a:t>
            </a:r>
            <a:endParaRPr lang="en-US" altLang="zh-CN" sz="2200" i="1" baseline="-30000" dirty="0"/>
          </a:p>
          <a:p>
            <a:pPr marL="0" indent="0" eaLnBrk="1" hangingPunct="1">
              <a:spcBef>
                <a:spcPct val="40000"/>
              </a:spcBef>
            </a:pPr>
            <a:r>
              <a:rPr lang="en-US" altLang="zh-CN" sz="2200" dirty="0"/>
              <a:t>(2) </a:t>
            </a:r>
            <a:r>
              <a:rPr lang="zh-CN" altLang="en-US" sz="2200" dirty="0"/>
              <a:t>在无向图中</a:t>
            </a:r>
            <a:r>
              <a:rPr lang="en-US" altLang="zh-CN" sz="2200" dirty="0"/>
              <a:t>, </a:t>
            </a:r>
            <a:r>
              <a:rPr lang="zh-CN" altLang="en-US" sz="2200" dirty="0"/>
              <a:t>长度为</a:t>
            </a:r>
            <a:r>
              <a:rPr lang="en-US" altLang="zh-CN" sz="2200" dirty="0"/>
              <a:t>1</a:t>
            </a:r>
            <a:r>
              <a:rPr lang="zh-CN" altLang="en-US" sz="2200" dirty="0"/>
              <a:t>的圈由环构成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indent="0" eaLnBrk="1" hangingPunct="1">
              <a:spcBef>
                <a:spcPct val="40000"/>
              </a:spcBef>
            </a:pPr>
            <a:r>
              <a:rPr lang="en-US" altLang="zh-CN" sz="2200" dirty="0"/>
              <a:t>    </a:t>
            </a:r>
            <a:r>
              <a:rPr lang="zh-CN" altLang="en-US" sz="2200" dirty="0"/>
              <a:t>长度为</a:t>
            </a:r>
            <a:r>
              <a:rPr lang="en-US" altLang="zh-CN" sz="2200" dirty="0"/>
              <a:t>2</a:t>
            </a:r>
            <a:r>
              <a:rPr lang="zh-CN" altLang="en-US" sz="2200" dirty="0"/>
              <a:t>的圈由两条平行边构成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indent="0" eaLnBrk="1" hangingPunct="1">
              <a:spcBef>
                <a:spcPct val="40000"/>
              </a:spcBef>
            </a:pPr>
            <a:r>
              <a:rPr lang="en-US" altLang="zh-CN" sz="2200" dirty="0"/>
              <a:t>    </a:t>
            </a:r>
            <a:r>
              <a:rPr lang="zh-CN" altLang="en-US" sz="2200" dirty="0"/>
              <a:t>在无向简单图中</a:t>
            </a:r>
            <a:r>
              <a:rPr lang="en-US" altLang="zh-CN" sz="2200" dirty="0"/>
              <a:t>, </a:t>
            </a:r>
            <a:r>
              <a:rPr lang="zh-CN" altLang="en-US" sz="2200" dirty="0"/>
              <a:t>所有圈的长度</a:t>
            </a:r>
            <a:r>
              <a:rPr lang="zh-CN" altLang="en-US" sz="2200" dirty="0">
                <a:sym typeface="Symbol" panose="05050102010706020507" pitchFamily="18" charset="2"/>
              </a:rPr>
              <a:t></a:t>
            </a:r>
            <a:r>
              <a:rPr lang="en-US" altLang="zh-CN" sz="2200" dirty="0"/>
              <a:t>3. </a:t>
            </a:r>
            <a:endParaRPr lang="en-US" altLang="zh-CN" sz="2200" dirty="0"/>
          </a:p>
          <a:p>
            <a:pPr marL="0" indent="0" eaLnBrk="1" hangingPunct="1">
              <a:spcBef>
                <a:spcPct val="40000"/>
              </a:spcBef>
            </a:pPr>
            <a:r>
              <a:rPr lang="en-US" altLang="zh-CN" sz="2200" dirty="0"/>
              <a:t>    </a:t>
            </a:r>
            <a:r>
              <a:rPr lang="zh-CN" altLang="en-US" sz="2200" dirty="0"/>
              <a:t>在有向图中</a:t>
            </a:r>
            <a:r>
              <a:rPr lang="en-US" altLang="zh-CN" sz="2200" dirty="0"/>
              <a:t>, </a:t>
            </a:r>
            <a:r>
              <a:rPr lang="zh-CN" altLang="en-US" sz="2200" dirty="0"/>
              <a:t>长度为</a:t>
            </a:r>
            <a:r>
              <a:rPr lang="en-US" altLang="zh-CN" sz="2200" dirty="0"/>
              <a:t>1</a:t>
            </a:r>
            <a:r>
              <a:rPr lang="zh-CN" altLang="en-US" sz="2200" dirty="0"/>
              <a:t>的圈由环构成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indent="0" eaLnBrk="1" hangingPunct="1">
              <a:spcBef>
                <a:spcPct val="40000"/>
              </a:spcBef>
            </a:pPr>
            <a:r>
              <a:rPr lang="en-US" altLang="zh-CN" sz="2200" dirty="0"/>
              <a:t>    </a:t>
            </a:r>
            <a:r>
              <a:rPr lang="zh-CN" altLang="en-US" sz="2200" dirty="0"/>
              <a:t>在有向简单图中</a:t>
            </a:r>
            <a:r>
              <a:rPr lang="en-US" altLang="zh-CN" sz="2200" dirty="0"/>
              <a:t>, </a:t>
            </a:r>
            <a:r>
              <a:rPr lang="zh-CN" altLang="en-US" sz="2200" dirty="0"/>
              <a:t>所有圈的长度</a:t>
            </a:r>
            <a:r>
              <a:rPr lang="zh-CN" altLang="en-US" sz="2200" dirty="0">
                <a:sym typeface="Symbol" panose="05050102010706020507" pitchFamily="18" charset="2"/>
              </a:rPr>
              <a:t></a:t>
            </a:r>
            <a:r>
              <a:rPr lang="en-US" altLang="zh-CN" sz="2200" dirty="0"/>
              <a:t>2.</a:t>
            </a:r>
            <a:endParaRPr lang="en-US" altLang="zh-CN" sz="22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2121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2121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2121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charRg st="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21219">
                                            <p:txEl>
                                              <p:charRg st="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21219">
                                            <p:txEl>
                                              <p:charRg st="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21219">
                                            <p:txEl>
                                              <p:charRg st="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charRg st="4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21219">
                                            <p:txEl>
                                              <p:charRg st="4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21219">
                                            <p:txEl>
                                              <p:charRg st="4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21219">
                                            <p:txEl>
                                              <p:charRg st="4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charRg st="68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21219">
                                            <p:txEl>
                                              <p:charRg st="68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21219">
                                            <p:txEl>
                                              <p:charRg st="68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21219">
                                            <p:txEl>
                                              <p:charRg st="68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charRg st="9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21219">
                                            <p:txEl>
                                              <p:charRg st="9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21219">
                                            <p:txEl>
                                              <p:charRg st="9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21219">
                                            <p:txEl>
                                              <p:charRg st="9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charRg st="120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21219">
                                            <p:txEl>
                                              <p:charRg st="120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21219">
                                            <p:txEl>
                                              <p:charRg st="120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21219">
                                            <p:txEl>
                                              <p:charRg st="120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charRg st="140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521219">
                                            <p:txEl>
                                              <p:charRg st="140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521219">
                                            <p:txEl>
                                              <p:charRg st="140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521219">
                                            <p:txEl>
                                              <p:charRg st="140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charRg st="164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521219">
                                            <p:txEl>
                                              <p:charRg st="164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521219">
                                            <p:txEl>
                                              <p:charRg st="164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521219">
                                            <p:txEl>
                                              <p:charRg st="164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charRg st="188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521219">
                                            <p:txEl>
                                              <p:charRg st="188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521219">
                                            <p:txEl>
                                              <p:charRg st="188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521219">
                                            <p:txEl>
                                              <p:charRg st="188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806575" y="123825"/>
            <a:ext cx="2138363" cy="60007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说明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</a:t>
            </a: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续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1" lang="en-US" altLang="zh-CN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2243" name="Rectangle 3"/>
          <p:cNvSpPr>
            <a:spLocks noGrp="1"/>
          </p:cNvSpPr>
          <p:nvPr>
            <p:ph idx="1"/>
          </p:nvPr>
        </p:nvSpPr>
        <p:spPr>
          <a:xfrm>
            <a:off x="242888" y="1066800"/>
            <a:ext cx="6624637" cy="498475"/>
          </a:xfrm>
        </p:spPr>
        <p:txBody>
          <a:bodyPr vert="horz" wrap="square" lIns="91440" tIns="45720" rIns="91440" bIns="45720" anchor="t" anchorCtr="0"/>
          <a:p>
            <a:pPr marL="533400" indent="-533400" eaLnBrk="1" hangingPunct="1"/>
            <a:r>
              <a:rPr lang="en-US" altLang="zh-CN" sz="2200" dirty="0"/>
              <a:t>(3) </a:t>
            </a:r>
            <a:r>
              <a:rPr lang="zh-CN" altLang="en-US" sz="2200" dirty="0"/>
              <a:t>初级通路</a:t>
            </a:r>
            <a:r>
              <a:rPr lang="en-US" altLang="zh-CN" sz="2200" dirty="0"/>
              <a:t>(</a:t>
            </a:r>
            <a:r>
              <a:rPr lang="zh-CN" altLang="en-US" sz="2200" dirty="0"/>
              <a:t>回路</a:t>
            </a:r>
            <a:r>
              <a:rPr lang="en-US" altLang="zh-CN" sz="2200" dirty="0"/>
              <a:t>)</a:t>
            </a:r>
            <a:r>
              <a:rPr lang="zh-CN" altLang="en-US" sz="2200" dirty="0"/>
              <a:t>是简单通路</a:t>
            </a:r>
            <a:r>
              <a:rPr lang="en-US" altLang="zh-CN" sz="2200" dirty="0"/>
              <a:t>(</a:t>
            </a:r>
            <a:r>
              <a:rPr lang="zh-CN" altLang="en-US" sz="2200" dirty="0"/>
              <a:t>回路</a:t>
            </a:r>
            <a:r>
              <a:rPr lang="en-US" altLang="zh-CN" sz="2200" dirty="0"/>
              <a:t>), </a:t>
            </a:r>
            <a:r>
              <a:rPr lang="zh-CN" altLang="en-US" sz="2200" dirty="0"/>
              <a:t>但反之不真</a:t>
            </a:r>
            <a:r>
              <a:rPr lang="en-US" altLang="zh-CN" sz="2200" dirty="0"/>
              <a:t>.</a:t>
            </a:r>
            <a:endParaRPr lang="en-US" altLang="zh-CN" sz="2200" dirty="0"/>
          </a:p>
        </p:txBody>
      </p:sp>
      <p:sp>
        <p:nvSpPr>
          <p:cNvPr id="522244" name="Text Box 4"/>
          <p:cNvSpPr txBox="1"/>
          <p:nvPr/>
        </p:nvSpPr>
        <p:spPr>
          <a:xfrm>
            <a:off x="752475" y="1865313"/>
            <a:ext cx="7848600" cy="2743200"/>
          </a:xfrm>
          <a:prstGeom prst="rect">
            <a:avLst/>
          </a:prstGeom>
          <a:solidFill>
            <a:srgbClr val="CCFFFF"/>
          </a:solidFill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293813" y="2286000"/>
            <a:ext cx="2401887" cy="685800"/>
            <a:chOff x="1008" y="2688"/>
            <a:chExt cx="1513" cy="432"/>
          </a:xfrm>
        </p:grpSpPr>
        <p:pic>
          <p:nvPicPr>
            <p:cNvPr id="34823" name="Picture 6" descr="初级通路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8" y="2688"/>
              <a:ext cx="1513" cy="7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24" name="Text Box 7"/>
            <p:cNvSpPr txBox="1"/>
            <p:nvPr/>
          </p:nvSpPr>
          <p:spPr>
            <a:xfrm>
              <a:off x="1296" y="2832"/>
              <a:ext cx="110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初级通路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1233488" y="3187700"/>
            <a:ext cx="2819400" cy="1143000"/>
            <a:chOff x="912" y="3264"/>
            <a:chExt cx="1776" cy="720"/>
          </a:xfrm>
        </p:grpSpPr>
        <p:pic>
          <p:nvPicPr>
            <p:cNvPr id="34826" name="Picture 9" descr="简单通路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8" y="3264"/>
              <a:ext cx="1513" cy="47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27" name="Text Box 10"/>
            <p:cNvSpPr txBox="1"/>
            <p:nvPr/>
          </p:nvSpPr>
          <p:spPr>
            <a:xfrm>
              <a:off x="912" y="3696"/>
              <a:ext cx="1776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非初级的简单通路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1"/>
          <p:cNvGrpSpPr/>
          <p:nvPr/>
        </p:nvGrpSpPr>
        <p:grpSpPr>
          <a:xfrm>
            <a:off x="4600575" y="2466975"/>
            <a:ext cx="1524000" cy="1709738"/>
            <a:chOff x="2928" y="2715"/>
            <a:chExt cx="960" cy="1077"/>
          </a:xfrm>
        </p:grpSpPr>
        <p:pic>
          <p:nvPicPr>
            <p:cNvPr id="34829" name="Picture 12" descr="初级回路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76" y="2715"/>
              <a:ext cx="720" cy="69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0" name="Text Box 13"/>
            <p:cNvSpPr txBox="1"/>
            <p:nvPr/>
          </p:nvSpPr>
          <p:spPr>
            <a:xfrm>
              <a:off x="2928" y="3504"/>
              <a:ext cx="96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初级回路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4"/>
          <p:cNvGrpSpPr/>
          <p:nvPr/>
        </p:nvGrpSpPr>
        <p:grpSpPr>
          <a:xfrm>
            <a:off x="6645275" y="2286000"/>
            <a:ext cx="1524000" cy="1965325"/>
            <a:chOff x="4080" y="2688"/>
            <a:chExt cx="960" cy="1238"/>
          </a:xfrm>
        </p:grpSpPr>
        <p:pic>
          <p:nvPicPr>
            <p:cNvPr id="34832" name="Picture 15" descr="简单回路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8" y="2688"/>
              <a:ext cx="720" cy="69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3" name="Text Box 16"/>
            <p:cNvSpPr txBox="1"/>
            <p:nvPr/>
          </p:nvSpPr>
          <p:spPr>
            <a:xfrm>
              <a:off x="4080" y="3408"/>
              <a:ext cx="960" cy="51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非初级的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简单回路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2224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2224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2224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2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3" grpId="0" build="p"/>
      <p:bldP spid="52224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358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25563" y="241300"/>
            <a:ext cx="4422775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通路与回路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</a:t>
            </a: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续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1" lang="en-US" altLang="zh-CN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3267" name="Rectangle 3"/>
          <p:cNvSpPr>
            <a:spLocks noGrp="1"/>
          </p:cNvSpPr>
          <p:nvPr>
            <p:ph idx="1"/>
          </p:nvPr>
        </p:nvSpPr>
        <p:spPr>
          <a:xfrm>
            <a:off x="182563" y="1101725"/>
            <a:ext cx="8434387" cy="5454650"/>
          </a:xfrm>
        </p:spPr>
        <p:txBody>
          <a:bodyPr vert="horz" wrap="square" lIns="91440" tIns="45720" rIns="91440" bIns="45720" anchor="t" anchorCtr="0"/>
          <a:p>
            <a:pPr marL="0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200" dirty="0">
                <a:solidFill>
                  <a:srgbClr val="FF3300"/>
                </a:solidFill>
              </a:rPr>
              <a:t>定理</a:t>
            </a:r>
            <a:r>
              <a:rPr lang="en-US" altLang="zh-CN" sz="2200" dirty="0">
                <a:solidFill>
                  <a:srgbClr val="FF3300"/>
                </a:solidFill>
              </a:rPr>
              <a:t>11.5</a:t>
            </a:r>
            <a:r>
              <a:rPr lang="en-US" altLang="zh-CN" sz="2200" dirty="0"/>
              <a:t>  </a:t>
            </a:r>
            <a:r>
              <a:rPr lang="zh-CN" altLang="en-US" sz="2200" dirty="0"/>
              <a:t>在</a:t>
            </a:r>
            <a:r>
              <a:rPr lang="en-US" altLang="zh-CN" sz="2200" i="1" dirty="0"/>
              <a:t>n</a:t>
            </a:r>
            <a:r>
              <a:rPr lang="zh-CN" altLang="en-US" sz="2200" dirty="0"/>
              <a:t>阶图</a:t>
            </a:r>
            <a:r>
              <a:rPr lang="en-US" altLang="zh-CN" sz="2200" i="1" dirty="0"/>
              <a:t>G</a:t>
            </a:r>
            <a:r>
              <a:rPr lang="zh-CN" altLang="en-US" sz="2200" dirty="0"/>
              <a:t>中</a:t>
            </a:r>
            <a:r>
              <a:rPr lang="en-US" altLang="zh-CN" sz="2200" dirty="0"/>
              <a:t>, </a:t>
            </a:r>
            <a:r>
              <a:rPr lang="zh-CN" altLang="en-US" sz="2200" dirty="0"/>
              <a:t>若从顶点</a:t>
            </a:r>
            <a:r>
              <a:rPr lang="en-US" altLang="zh-CN" sz="2200" i="1" dirty="0"/>
              <a:t>u</a:t>
            </a:r>
            <a:r>
              <a:rPr lang="zh-CN" altLang="en-US" sz="2200" dirty="0"/>
              <a:t>到</a:t>
            </a:r>
            <a:r>
              <a:rPr lang="en-US" altLang="zh-CN" sz="2200" i="1" dirty="0"/>
              <a:t>v</a:t>
            </a:r>
            <a:r>
              <a:rPr lang="en-US" altLang="zh-CN" sz="2200" dirty="0"/>
              <a:t>(</a:t>
            </a:r>
            <a:r>
              <a:rPr lang="en-US" altLang="zh-CN" sz="2200" i="1" dirty="0"/>
              <a:t>u</a:t>
            </a:r>
            <a:r>
              <a:rPr lang="en-US" altLang="zh-CN" sz="2200" dirty="0">
                <a:sym typeface="Symbol" panose="05050102010706020507" pitchFamily="18" charset="2"/>
              </a:rPr>
              <a:t></a:t>
            </a:r>
            <a:r>
              <a:rPr lang="en-US" altLang="zh-CN" sz="2200" i="1" dirty="0"/>
              <a:t>v</a:t>
            </a:r>
            <a:r>
              <a:rPr lang="en-US" altLang="zh-CN" sz="2200" dirty="0"/>
              <a:t>)</a:t>
            </a:r>
            <a:r>
              <a:rPr lang="zh-CN" altLang="en-US" sz="2200" dirty="0"/>
              <a:t>存在通路</a:t>
            </a:r>
            <a:r>
              <a:rPr lang="en-US" altLang="zh-CN" sz="2200" dirty="0"/>
              <a:t>, </a:t>
            </a:r>
            <a:r>
              <a:rPr lang="zh-CN" altLang="en-US" sz="2200" dirty="0"/>
              <a:t>则从</a:t>
            </a:r>
            <a:r>
              <a:rPr lang="en-US" altLang="zh-CN" sz="2200" i="1" dirty="0"/>
              <a:t>u</a:t>
            </a:r>
            <a:r>
              <a:rPr lang="zh-CN" altLang="en-US" sz="2200" dirty="0"/>
              <a:t>到</a:t>
            </a:r>
            <a:r>
              <a:rPr lang="en-US" altLang="zh-CN" sz="2200" i="1" dirty="0"/>
              <a:t>v</a:t>
            </a:r>
            <a:r>
              <a:rPr lang="zh-CN" altLang="en-US" sz="2200" dirty="0"/>
              <a:t>存在长度小于等于</a:t>
            </a:r>
            <a:r>
              <a:rPr lang="en-US" altLang="zh-CN" sz="2200" i="1" dirty="0"/>
              <a:t>n</a:t>
            </a:r>
            <a:r>
              <a:rPr lang="en-US" altLang="zh-CN" sz="2200" dirty="0">
                <a:sym typeface="Symbol" panose="05050102010706020507" pitchFamily="18" charset="2"/>
              </a:rPr>
              <a:t></a:t>
            </a:r>
            <a:r>
              <a:rPr lang="en-US" altLang="zh-CN" sz="2200" dirty="0"/>
              <a:t>1</a:t>
            </a:r>
            <a:r>
              <a:rPr lang="zh-CN" altLang="en-US" sz="2200" dirty="0"/>
              <a:t>的通路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200" dirty="0"/>
              <a:t>证  若通路中没有相同的顶点</a:t>
            </a:r>
            <a:r>
              <a:rPr lang="en-US" altLang="zh-CN" sz="2200" dirty="0"/>
              <a:t>(</a:t>
            </a:r>
            <a:r>
              <a:rPr lang="zh-CN" altLang="en-US" sz="2200" dirty="0"/>
              <a:t>即初级通路</a:t>
            </a:r>
            <a:r>
              <a:rPr lang="en-US" altLang="zh-CN" sz="2200" dirty="0"/>
              <a:t>), </a:t>
            </a:r>
            <a:r>
              <a:rPr lang="zh-CN" altLang="en-US" sz="2200" dirty="0"/>
              <a:t>长度必</a:t>
            </a:r>
            <a:r>
              <a:rPr lang="zh-CN" altLang="en-US" sz="2200" dirty="0">
                <a:sym typeface="Symbol" panose="05050102010706020507" pitchFamily="18" charset="2"/>
              </a:rPr>
              <a:t> </a:t>
            </a:r>
            <a:r>
              <a:rPr lang="en-US" altLang="zh-CN" sz="2200" i="1" dirty="0"/>
              <a:t>n</a:t>
            </a:r>
            <a:r>
              <a:rPr lang="en-US" altLang="zh-CN" sz="2200" dirty="0">
                <a:sym typeface="Symbol" panose="05050102010706020507" pitchFamily="18" charset="2"/>
              </a:rPr>
              <a:t></a:t>
            </a:r>
            <a:r>
              <a:rPr lang="en-US" altLang="zh-CN" sz="2200" dirty="0"/>
              <a:t>1.</a:t>
            </a:r>
            <a:endParaRPr lang="en-US" altLang="zh-CN" sz="2200" dirty="0"/>
          </a:p>
          <a:p>
            <a:pPr marL="0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200" dirty="0"/>
              <a:t>若有相同的顶点</a:t>
            </a:r>
            <a:r>
              <a:rPr lang="en-US" altLang="zh-CN" sz="2200" dirty="0"/>
              <a:t>, </a:t>
            </a:r>
            <a:r>
              <a:rPr lang="zh-CN" altLang="en-US" sz="2200" dirty="0"/>
              <a:t>删去这两个顶点之间的这一段</a:t>
            </a:r>
            <a:r>
              <a:rPr lang="en-US" altLang="zh-CN" sz="2200" dirty="0"/>
              <a:t>, </a:t>
            </a:r>
            <a:r>
              <a:rPr lang="zh-CN" altLang="en-US" sz="2200" dirty="0"/>
              <a:t>仍是</a:t>
            </a:r>
            <a:r>
              <a:rPr lang="en-US" altLang="zh-CN" sz="2200" i="1" dirty="0"/>
              <a:t>u</a:t>
            </a:r>
            <a:r>
              <a:rPr lang="zh-CN" altLang="en-US" sz="2200" dirty="0"/>
              <a:t>到</a:t>
            </a:r>
            <a:r>
              <a:rPr lang="en-US" altLang="zh-CN" sz="2200" i="1" dirty="0"/>
              <a:t>v</a:t>
            </a:r>
            <a:r>
              <a:rPr lang="zh-CN" altLang="en-US" sz="2200" dirty="0"/>
              <a:t>的通路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200" dirty="0"/>
              <a:t>重复进行</a:t>
            </a:r>
            <a:r>
              <a:rPr lang="en-US" altLang="zh-CN" sz="2200" dirty="0"/>
              <a:t>, </a:t>
            </a:r>
            <a:r>
              <a:rPr lang="zh-CN" altLang="en-US" sz="2200" dirty="0"/>
              <a:t>直到没有相同的顶点为止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200" dirty="0">
                <a:solidFill>
                  <a:srgbClr val="FF3300"/>
                </a:solidFill>
              </a:rPr>
              <a:t>推论</a:t>
            </a:r>
            <a:r>
              <a:rPr lang="zh-CN" altLang="en-US" sz="2200" dirty="0"/>
              <a:t>  在</a:t>
            </a:r>
            <a:r>
              <a:rPr lang="en-US" altLang="zh-CN" sz="2200" i="1" dirty="0"/>
              <a:t>n</a:t>
            </a:r>
            <a:r>
              <a:rPr lang="zh-CN" altLang="en-US" sz="2200" dirty="0"/>
              <a:t>阶图</a:t>
            </a:r>
            <a:r>
              <a:rPr lang="en-US" altLang="zh-CN" sz="2200" i="1" dirty="0"/>
              <a:t>G</a:t>
            </a:r>
            <a:r>
              <a:rPr lang="zh-CN" altLang="en-US" sz="2200" dirty="0"/>
              <a:t>中</a:t>
            </a:r>
            <a:r>
              <a:rPr lang="en-US" altLang="zh-CN" sz="2200" dirty="0"/>
              <a:t>, </a:t>
            </a:r>
            <a:r>
              <a:rPr lang="zh-CN" altLang="en-US" sz="2200" dirty="0"/>
              <a:t>若从顶点</a:t>
            </a:r>
            <a:r>
              <a:rPr lang="en-US" altLang="zh-CN" sz="2200" i="1" dirty="0"/>
              <a:t>u</a:t>
            </a:r>
            <a:r>
              <a:rPr lang="zh-CN" altLang="en-US" sz="2200" dirty="0"/>
              <a:t>到</a:t>
            </a:r>
            <a:r>
              <a:rPr lang="en-US" altLang="zh-CN" sz="2200" i="1" dirty="0"/>
              <a:t>v</a:t>
            </a:r>
            <a:r>
              <a:rPr lang="en-US" altLang="zh-CN" sz="2200" dirty="0"/>
              <a:t>(</a:t>
            </a:r>
            <a:r>
              <a:rPr lang="en-US" altLang="zh-CN" sz="2200" i="1" dirty="0"/>
              <a:t>u</a:t>
            </a:r>
            <a:r>
              <a:rPr lang="en-US" altLang="zh-CN" sz="2200" dirty="0">
                <a:sym typeface="Symbol" panose="05050102010706020507" pitchFamily="18" charset="2"/>
              </a:rPr>
              <a:t></a:t>
            </a:r>
            <a:r>
              <a:rPr lang="en-US" altLang="zh-CN" sz="2200" i="1" dirty="0"/>
              <a:t>v</a:t>
            </a:r>
            <a:r>
              <a:rPr lang="en-US" altLang="zh-CN" sz="2200" dirty="0"/>
              <a:t>)</a:t>
            </a:r>
            <a:r>
              <a:rPr lang="zh-CN" altLang="en-US" sz="2200" dirty="0"/>
              <a:t>存在通路</a:t>
            </a:r>
            <a:r>
              <a:rPr lang="en-US" altLang="zh-CN" sz="2200" dirty="0"/>
              <a:t>, </a:t>
            </a:r>
            <a:r>
              <a:rPr lang="zh-CN" altLang="en-US" sz="2200" dirty="0"/>
              <a:t>则从</a:t>
            </a:r>
            <a:r>
              <a:rPr lang="en-US" altLang="zh-CN" sz="2200" i="1" dirty="0"/>
              <a:t>u</a:t>
            </a:r>
            <a:r>
              <a:rPr lang="zh-CN" altLang="en-US" sz="2200" dirty="0"/>
              <a:t>到</a:t>
            </a:r>
            <a:r>
              <a:rPr lang="en-US" altLang="zh-CN" sz="2200" i="1" dirty="0"/>
              <a:t>v</a:t>
            </a:r>
            <a:r>
              <a:rPr lang="zh-CN" altLang="en-US" sz="2200" dirty="0"/>
              <a:t>一定存在长度小于或等于</a:t>
            </a:r>
            <a:r>
              <a:rPr lang="en-US" altLang="zh-CN" sz="2200" i="1" dirty="0"/>
              <a:t>n</a:t>
            </a:r>
            <a:r>
              <a:rPr lang="en-US" altLang="zh-CN" sz="2200" dirty="0">
                <a:sym typeface="Symbol" panose="05050102010706020507" pitchFamily="18" charset="2"/>
              </a:rPr>
              <a:t></a:t>
            </a:r>
            <a:r>
              <a:rPr lang="en-US" altLang="zh-CN" sz="2200" dirty="0"/>
              <a:t>1</a:t>
            </a:r>
            <a:r>
              <a:rPr lang="zh-CN" altLang="en-US" sz="2200" dirty="0"/>
              <a:t>的初级通路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200" dirty="0">
                <a:solidFill>
                  <a:srgbClr val="FF3300"/>
                </a:solidFill>
              </a:rPr>
              <a:t>定理</a:t>
            </a:r>
            <a:r>
              <a:rPr lang="en-US" altLang="zh-CN" sz="2200" dirty="0">
                <a:solidFill>
                  <a:srgbClr val="FF3300"/>
                </a:solidFill>
              </a:rPr>
              <a:t>11.6</a:t>
            </a:r>
            <a:r>
              <a:rPr lang="en-US" altLang="zh-CN" sz="2200" dirty="0"/>
              <a:t>  </a:t>
            </a:r>
            <a:r>
              <a:rPr lang="zh-CN" altLang="en-US" sz="2200" dirty="0"/>
              <a:t>在</a:t>
            </a:r>
            <a:r>
              <a:rPr lang="en-US" altLang="zh-CN" sz="2200" i="1" dirty="0"/>
              <a:t>n</a:t>
            </a:r>
            <a:r>
              <a:rPr lang="zh-CN" altLang="en-US" sz="2200" dirty="0"/>
              <a:t>阶图中</a:t>
            </a:r>
            <a:r>
              <a:rPr lang="en-US" altLang="zh-CN" sz="2200" dirty="0"/>
              <a:t>, </a:t>
            </a:r>
            <a:r>
              <a:rPr lang="zh-CN" altLang="en-US" sz="2200" dirty="0"/>
              <a:t>若存在</a:t>
            </a:r>
            <a:r>
              <a:rPr lang="en-US" altLang="zh-CN" sz="2200" i="1" dirty="0"/>
              <a:t>v</a:t>
            </a:r>
            <a:r>
              <a:rPr lang="zh-CN" altLang="en-US" sz="2200" dirty="0"/>
              <a:t>到自身的回路</a:t>
            </a:r>
            <a:r>
              <a:rPr lang="en-US" altLang="zh-CN" sz="2200" dirty="0"/>
              <a:t>, </a:t>
            </a:r>
            <a:r>
              <a:rPr lang="zh-CN" altLang="en-US" sz="2200" dirty="0"/>
              <a:t>则一定存在</a:t>
            </a:r>
            <a:r>
              <a:rPr lang="en-US" altLang="zh-CN" sz="2200" i="1" dirty="0"/>
              <a:t>v</a:t>
            </a:r>
            <a:r>
              <a:rPr lang="zh-CN" altLang="en-US" sz="2200" dirty="0"/>
              <a:t>到自身长度小于等于</a:t>
            </a:r>
            <a:r>
              <a:rPr lang="en-US" altLang="zh-CN" sz="2200" i="1" dirty="0"/>
              <a:t>n</a:t>
            </a:r>
            <a:r>
              <a:rPr lang="zh-CN" altLang="en-US" sz="2200" dirty="0"/>
              <a:t>的回路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z="2200" dirty="0">
                <a:solidFill>
                  <a:srgbClr val="FF3300"/>
                </a:solidFill>
              </a:rPr>
              <a:t>推论  </a:t>
            </a:r>
            <a:r>
              <a:rPr lang="zh-CN" altLang="en-US" sz="2200" dirty="0"/>
              <a:t>在</a:t>
            </a:r>
            <a:r>
              <a:rPr lang="en-US" altLang="zh-CN" sz="2200" i="1" dirty="0"/>
              <a:t>n</a:t>
            </a:r>
            <a:r>
              <a:rPr lang="zh-CN" altLang="en-US" sz="2200" dirty="0"/>
              <a:t>阶图中</a:t>
            </a:r>
            <a:r>
              <a:rPr lang="en-US" altLang="zh-CN" sz="2200" dirty="0"/>
              <a:t>, </a:t>
            </a:r>
            <a:r>
              <a:rPr lang="zh-CN" altLang="en-US" sz="2200" dirty="0"/>
              <a:t>若存在</a:t>
            </a:r>
            <a:r>
              <a:rPr lang="en-US" altLang="zh-CN" sz="2200" i="1" dirty="0"/>
              <a:t>v</a:t>
            </a:r>
            <a:r>
              <a:rPr lang="zh-CN" altLang="en-US" sz="2200" dirty="0"/>
              <a:t>到自身的简单回路</a:t>
            </a:r>
            <a:r>
              <a:rPr lang="en-US" altLang="zh-CN" sz="2200" dirty="0"/>
              <a:t>, </a:t>
            </a:r>
            <a:r>
              <a:rPr lang="zh-CN" altLang="en-US" sz="2200" dirty="0"/>
              <a:t>则一定存在</a:t>
            </a:r>
            <a:r>
              <a:rPr lang="en-US" altLang="zh-CN" sz="2200" i="1" dirty="0"/>
              <a:t>v</a:t>
            </a:r>
            <a:r>
              <a:rPr lang="zh-CN" altLang="en-US" sz="2200" dirty="0"/>
              <a:t>到自身长度小于等于</a:t>
            </a:r>
            <a:r>
              <a:rPr lang="en-US" altLang="zh-CN" sz="2200" i="1" dirty="0"/>
              <a:t>n</a:t>
            </a:r>
            <a:r>
              <a:rPr lang="zh-CN" altLang="en-US" sz="2200" dirty="0"/>
              <a:t>的初级回路</a:t>
            </a:r>
            <a:r>
              <a:rPr lang="en-US" altLang="zh-CN" sz="2200" dirty="0"/>
              <a:t>.</a:t>
            </a:r>
            <a:endParaRPr lang="en-US" altLang="zh-CN" sz="22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23267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23267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23267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charRg st="55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23267">
                                            <p:txEl>
                                              <p:charRg st="55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23267">
                                            <p:txEl>
                                              <p:charRg st="55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23267">
                                            <p:txEl>
                                              <p:charRg st="55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charRg st="88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23267">
                                            <p:txEl>
                                              <p:charRg st="88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23267">
                                            <p:txEl>
                                              <p:charRg st="88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23267">
                                            <p:txEl>
                                              <p:charRg st="88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charRg st="123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23267">
                                            <p:txEl>
                                              <p:charRg st="123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23267">
                                            <p:txEl>
                                              <p:charRg st="123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23267">
                                            <p:txEl>
                                              <p:charRg st="123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charRg st="142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23267">
                                            <p:txEl>
                                              <p:charRg st="142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23267">
                                            <p:txEl>
                                              <p:charRg st="142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23267">
                                            <p:txEl>
                                              <p:charRg st="142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charRg st="198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23267">
                                            <p:txEl>
                                              <p:charRg st="198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23267">
                                            <p:txEl>
                                              <p:charRg st="198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23267">
                                            <p:txEl>
                                              <p:charRg st="198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charRg st="246" end="2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523267">
                                            <p:txEl>
                                              <p:charRg st="246" end="2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523267">
                                            <p:txEl>
                                              <p:charRg st="246" end="29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523267">
                                            <p:txEl>
                                              <p:charRg st="246" end="29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24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3702050" cy="6302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11.3 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图的连通性</a:t>
            </a:r>
            <a:endParaRPr kumimoji="1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524291" name="Rectangle 3"/>
          <p:cNvSpPr>
            <a:spLocks noGrp="1"/>
          </p:cNvSpPr>
          <p:nvPr>
            <p:ph idx="1"/>
          </p:nvPr>
        </p:nvSpPr>
        <p:spPr>
          <a:xfrm>
            <a:off x="419100" y="1023938"/>
            <a:ext cx="8001000" cy="5291137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lnSpc>
                <a:spcPct val="120000"/>
              </a:lnSpc>
            </a:pPr>
            <a:r>
              <a:rPr lang="zh-CN" altLang="en-US" sz="2200" dirty="0">
                <a:solidFill>
                  <a:schemeClr val="hlink"/>
                </a:solidFill>
              </a:rPr>
              <a:t>定义</a:t>
            </a:r>
            <a:r>
              <a:rPr lang="en-US" altLang="zh-CN" sz="2200" dirty="0">
                <a:solidFill>
                  <a:schemeClr val="hlink"/>
                </a:solidFill>
              </a:rPr>
              <a:t>11.12</a:t>
            </a:r>
            <a:r>
              <a:rPr lang="zh-CN" altLang="en-US" sz="2200" dirty="0"/>
              <a:t>设无向图</a:t>
            </a:r>
            <a:r>
              <a:rPr lang="en-US" altLang="zh-CN" sz="2200" i="1" dirty="0"/>
              <a:t>G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&gt;, </a:t>
            </a:r>
            <a:r>
              <a:rPr lang="en-US" altLang="zh-CN" sz="2200" i="1" dirty="0"/>
              <a:t>u,v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>
                <a:sym typeface="Symbol" panose="05050102010706020507" pitchFamily="18" charset="2"/>
              </a:rPr>
              <a:t>V</a:t>
            </a:r>
            <a:endParaRPr lang="en-US" altLang="zh-CN" sz="2200" i="1" dirty="0"/>
          </a:p>
          <a:p>
            <a:pPr marL="0" algn="just" eaLnBrk="1" hangingPunct="1">
              <a:lnSpc>
                <a:spcPct val="120000"/>
              </a:lnSpc>
            </a:pPr>
            <a:r>
              <a:rPr lang="en-US" altLang="zh-CN" sz="2200" i="1" dirty="0">
                <a:solidFill>
                  <a:srgbClr val="FF3300"/>
                </a:solidFill>
                <a:sym typeface="Symbol" panose="05050102010706020507" pitchFamily="18" charset="2"/>
              </a:rPr>
              <a:t>u</a:t>
            </a:r>
            <a:r>
              <a:rPr lang="zh-CN" altLang="en-US" sz="2200" dirty="0">
                <a:solidFill>
                  <a:srgbClr val="FF3300"/>
                </a:solidFill>
                <a:sym typeface="Symbol" panose="05050102010706020507" pitchFamily="18" charset="2"/>
              </a:rPr>
              <a:t>与</a:t>
            </a: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zh-CN" altLang="en-US" sz="2200" dirty="0">
                <a:solidFill>
                  <a:srgbClr val="FF3300"/>
                </a:solidFill>
              </a:rPr>
              <a:t>连通</a:t>
            </a:r>
            <a:r>
              <a:rPr lang="en-US" altLang="zh-CN" sz="2200" dirty="0"/>
              <a:t>: </a:t>
            </a:r>
            <a:r>
              <a:rPr lang="zh-CN" altLang="en-US" sz="2200" dirty="0"/>
              <a:t>若</a:t>
            </a:r>
            <a:r>
              <a:rPr lang="en-US" altLang="zh-CN" sz="2200" i="1" dirty="0"/>
              <a:t>u</a:t>
            </a:r>
            <a:r>
              <a:rPr lang="zh-CN" altLang="en-US" sz="2200" dirty="0"/>
              <a:t>与</a:t>
            </a:r>
            <a:r>
              <a:rPr lang="en-US" altLang="zh-CN" sz="2200" i="1" dirty="0"/>
              <a:t>v</a:t>
            </a:r>
            <a:r>
              <a:rPr lang="zh-CN" altLang="en-US" sz="2200" dirty="0"/>
              <a:t>之间有通路</a:t>
            </a:r>
            <a:r>
              <a:rPr lang="en-US" altLang="zh-CN" sz="2200" dirty="0"/>
              <a:t>,</a:t>
            </a:r>
            <a:r>
              <a:rPr lang="zh-CN" altLang="en-US" sz="2200" dirty="0"/>
              <a:t>记为</a:t>
            </a:r>
            <a:r>
              <a:rPr lang="en-US" altLang="zh-CN" sz="2200" i="1" dirty="0"/>
              <a:t>u</a:t>
            </a:r>
            <a:r>
              <a:rPr lang="en-US" altLang="zh-CN" sz="2200" dirty="0">
                <a:sym typeface="Symbol" panose="05050102010706020507" pitchFamily="18" charset="2"/>
              </a:rPr>
              <a:t></a:t>
            </a:r>
            <a:r>
              <a:rPr lang="en-US" altLang="zh-CN" sz="2200" i="1" dirty="0"/>
              <a:t>v</a:t>
            </a:r>
            <a:r>
              <a:rPr lang="en-US" altLang="zh-CN" sz="2200" dirty="0"/>
              <a:t>.</a:t>
            </a:r>
            <a:r>
              <a:rPr lang="zh-CN" altLang="en-US" sz="2200" dirty="0"/>
              <a:t>规定</a:t>
            </a:r>
            <a:r>
              <a:rPr lang="en-US" altLang="zh-CN" sz="2200" i="1" dirty="0"/>
              <a:t>u</a:t>
            </a:r>
            <a:r>
              <a:rPr lang="en-US" altLang="zh-CN" sz="2200" dirty="0">
                <a:sym typeface="Symbol" panose="05050102010706020507" pitchFamily="18" charset="2"/>
              </a:rPr>
              <a:t></a:t>
            </a:r>
            <a:r>
              <a:rPr lang="en-US" altLang="zh-CN" sz="2200" dirty="0"/>
              <a:t> </a:t>
            </a:r>
            <a:r>
              <a:rPr lang="en-US" altLang="zh-CN" sz="2200" i="1" dirty="0"/>
              <a:t>u</a:t>
            </a:r>
            <a:r>
              <a:rPr lang="en-US" altLang="zh-CN" sz="2200" dirty="0"/>
              <a:t>.                         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sz="2200" dirty="0">
                <a:solidFill>
                  <a:srgbClr val="FF3300"/>
                </a:solidFill>
              </a:rPr>
              <a:t>连通关系 </a:t>
            </a:r>
            <a:r>
              <a:rPr lang="en-US" altLang="zh-CN" sz="2200" i="1" dirty="0"/>
              <a:t>R</a:t>
            </a:r>
            <a:r>
              <a:rPr lang="en-US" altLang="zh-CN" sz="2200" dirty="0"/>
              <a:t>={&lt;</a:t>
            </a:r>
            <a:r>
              <a:rPr lang="en-US" altLang="zh-CN" sz="2200" i="1" dirty="0"/>
              <a:t>u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dirty="0"/>
              <a:t>&gt;| </a:t>
            </a:r>
            <a:r>
              <a:rPr lang="en-US" altLang="zh-CN" sz="2200" i="1" dirty="0"/>
              <a:t>u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V</a:t>
            </a:r>
            <a:r>
              <a:rPr lang="zh-CN" altLang="en-US" sz="2200" dirty="0"/>
              <a:t>且</a:t>
            </a:r>
            <a:r>
              <a:rPr lang="en-US" altLang="zh-CN" sz="2200" i="1" dirty="0"/>
              <a:t>u</a:t>
            </a:r>
            <a:r>
              <a:rPr lang="en-US" altLang="zh-CN" sz="2200" dirty="0">
                <a:sym typeface="Symbol" panose="05050102010706020507" pitchFamily="18" charset="2"/>
              </a:rPr>
              <a:t> </a:t>
            </a:r>
            <a:r>
              <a:rPr lang="en-US" altLang="zh-CN" sz="2200" i="1" dirty="0"/>
              <a:t>v</a:t>
            </a:r>
            <a:r>
              <a:rPr lang="en-US" altLang="zh-CN" sz="2200" dirty="0"/>
              <a:t>}, 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</a:pPr>
            <a:r>
              <a:rPr lang="en-US" altLang="zh-CN" sz="2200" i="1" dirty="0"/>
              <a:t>    </a:t>
            </a:r>
            <a:r>
              <a:rPr lang="zh-CN" altLang="en-US" sz="2200" dirty="0"/>
              <a:t>则可验证</a:t>
            </a:r>
            <a:r>
              <a:rPr lang="en-US" altLang="zh-CN" sz="2200" i="1" dirty="0"/>
              <a:t>R</a:t>
            </a:r>
            <a:r>
              <a:rPr lang="zh-CN" altLang="en-US" sz="2200" dirty="0"/>
              <a:t>是等价关系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sz="2200" dirty="0">
                <a:solidFill>
                  <a:schemeClr val="hlink"/>
                </a:solidFill>
              </a:rPr>
              <a:t>定义</a:t>
            </a:r>
            <a:r>
              <a:rPr lang="en-US" altLang="zh-CN" sz="2200" dirty="0">
                <a:solidFill>
                  <a:schemeClr val="hlink"/>
                </a:solidFill>
              </a:rPr>
              <a:t>11.13 </a:t>
            </a:r>
            <a:r>
              <a:rPr lang="zh-CN" altLang="en-US" sz="2200" dirty="0">
                <a:solidFill>
                  <a:srgbClr val="FF3300"/>
                </a:solidFill>
              </a:rPr>
              <a:t>连通图</a:t>
            </a:r>
            <a:r>
              <a:rPr lang="en-US" altLang="zh-CN" sz="2200" dirty="0"/>
              <a:t>: </a:t>
            </a:r>
            <a:r>
              <a:rPr lang="zh-CN" altLang="en-US" sz="2200" dirty="0"/>
              <a:t>任意两点都连通的图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</a:pPr>
            <a:r>
              <a:rPr lang="en-US" altLang="zh-CN" sz="2200" dirty="0"/>
              <a:t> </a:t>
            </a:r>
            <a:r>
              <a:rPr lang="zh-CN" altLang="en-US" sz="2200" dirty="0"/>
              <a:t>规定平凡图是连通图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</a:pPr>
            <a:r>
              <a:rPr lang="en-US" altLang="zh-CN" sz="2200" dirty="0">
                <a:solidFill>
                  <a:schemeClr val="hlink"/>
                </a:solidFill>
              </a:rPr>
              <a:t> </a:t>
            </a:r>
            <a:r>
              <a:rPr lang="zh-CN" altLang="en-US" sz="2200" dirty="0">
                <a:solidFill>
                  <a:schemeClr val="hlink"/>
                </a:solidFill>
              </a:rPr>
              <a:t>非</a:t>
            </a:r>
            <a:r>
              <a:rPr lang="zh-CN" altLang="en-US" sz="2200" dirty="0">
                <a:solidFill>
                  <a:srgbClr val="FF3300"/>
                </a:solidFill>
              </a:rPr>
              <a:t>连通图</a:t>
            </a:r>
            <a:r>
              <a:rPr lang="en-US" altLang="zh-CN" sz="2200" dirty="0">
                <a:solidFill>
                  <a:srgbClr val="FF3300"/>
                </a:solidFill>
              </a:rPr>
              <a:t>:</a:t>
            </a:r>
            <a:r>
              <a:rPr lang="zh-CN" altLang="en-US" sz="2200" dirty="0"/>
              <a:t>不是连通图的图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sz="2200" dirty="0">
                <a:solidFill>
                  <a:schemeClr val="hlink"/>
                </a:solidFill>
              </a:rPr>
              <a:t>定义</a:t>
            </a:r>
            <a:r>
              <a:rPr lang="en-US" altLang="zh-CN" sz="2200" dirty="0">
                <a:solidFill>
                  <a:schemeClr val="hlink"/>
                </a:solidFill>
              </a:rPr>
              <a:t>11.14 </a:t>
            </a:r>
            <a:r>
              <a:rPr lang="zh-CN" altLang="en-US" sz="2200" dirty="0">
                <a:solidFill>
                  <a:srgbClr val="FF3300"/>
                </a:solidFill>
              </a:rPr>
              <a:t>连通分支</a:t>
            </a:r>
            <a:r>
              <a:rPr lang="en-US" altLang="zh-CN" sz="2200" dirty="0"/>
              <a:t>:</a:t>
            </a:r>
            <a:r>
              <a:rPr lang="zh-CN" altLang="en-US" sz="2200" dirty="0"/>
              <a:t>设</a:t>
            </a:r>
            <a:r>
              <a:rPr lang="en-US" altLang="zh-CN" sz="2200" i="1" dirty="0"/>
              <a:t>V</a:t>
            </a:r>
            <a:r>
              <a:rPr lang="en-US" altLang="zh-CN" sz="2200" dirty="0"/>
              <a:t>/</a:t>
            </a:r>
            <a:r>
              <a:rPr lang="en-US" altLang="zh-CN" sz="2200" i="1" dirty="0"/>
              <a:t>R</a:t>
            </a:r>
            <a:r>
              <a:rPr lang="en-US" altLang="zh-CN" sz="2200" dirty="0"/>
              <a:t>={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,…,</a:t>
            </a:r>
            <a:r>
              <a:rPr lang="en-US" altLang="zh-CN" sz="2200" i="1" dirty="0"/>
              <a:t>V</a:t>
            </a:r>
            <a:r>
              <a:rPr lang="en-US" altLang="zh-CN" sz="2200" i="1" baseline="-30000" dirty="0"/>
              <a:t>k</a:t>
            </a:r>
            <a:r>
              <a:rPr lang="en-US" altLang="zh-CN" sz="2200" dirty="0"/>
              <a:t>}, </a:t>
            </a:r>
            <a:r>
              <a:rPr lang="zh-CN" altLang="en-US" sz="2200" dirty="0"/>
              <a:t>称</a:t>
            </a:r>
            <a:r>
              <a:rPr lang="en-US" altLang="zh-CN" sz="2200" i="1" dirty="0"/>
              <a:t>V</a:t>
            </a:r>
            <a:r>
              <a:rPr lang="zh-CN" altLang="en-US" sz="2200" dirty="0"/>
              <a:t>关于</a:t>
            </a:r>
            <a:r>
              <a:rPr lang="en-US" altLang="zh-CN" sz="2200" i="1" dirty="0"/>
              <a:t>R</a:t>
            </a:r>
            <a:r>
              <a:rPr lang="zh-CN" altLang="en-US" sz="2200" dirty="0"/>
              <a:t>的等价类的导出子图</a:t>
            </a:r>
            <a:r>
              <a:rPr lang="en-US" altLang="zh-CN" sz="2200" i="1" dirty="0"/>
              <a:t>G</a:t>
            </a:r>
            <a:r>
              <a:rPr lang="en-US" altLang="zh-CN" sz="2200" dirty="0"/>
              <a:t>[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],</a:t>
            </a:r>
            <a:r>
              <a:rPr lang="en-US" altLang="zh-CN" sz="2200" i="1" dirty="0"/>
              <a:t>G</a:t>
            </a:r>
            <a:r>
              <a:rPr lang="en-US" altLang="zh-CN" sz="2200" dirty="0"/>
              <a:t>[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],…,</a:t>
            </a:r>
            <a:r>
              <a:rPr lang="en-US" altLang="zh-CN" sz="2200" i="1" dirty="0"/>
              <a:t>G</a:t>
            </a:r>
            <a:r>
              <a:rPr lang="en-US" altLang="zh-CN" sz="2200" dirty="0"/>
              <a:t>[</a:t>
            </a:r>
            <a:r>
              <a:rPr lang="en-US" altLang="zh-CN" sz="2200" i="1" dirty="0"/>
              <a:t>V</a:t>
            </a:r>
            <a:r>
              <a:rPr lang="en-US" altLang="zh-CN" sz="2200" i="1" baseline="-30000" dirty="0"/>
              <a:t>k</a:t>
            </a:r>
            <a:r>
              <a:rPr lang="en-US" altLang="zh-CN" sz="2200" dirty="0"/>
              <a:t>] </a:t>
            </a:r>
            <a:r>
              <a:rPr lang="zh-CN" altLang="en-US" sz="2200" dirty="0"/>
              <a:t>为</a:t>
            </a:r>
            <a:r>
              <a:rPr lang="en-US" altLang="zh-CN" sz="2200" i="1" dirty="0"/>
              <a:t>G</a:t>
            </a:r>
            <a:r>
              <a:rPr lang="zh-CN" altLang="en-US" sz="2200" dirty="0"/>
              <a:t>的连通分支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sz="2200" dirty="0">
                <a:solidFill>
                  <a:srgbClr val="FF0000"/>
                </a:solidFill>
              </a:rPr>
              <a:t>连通分支数 </a:t>
            </a:r>
            <a:r>
              <a:rPr lang="en-US" altLang="zh-CN" sz="2200" i="1" dirty="0"/>
              <a:t>p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)=</a:t>
            </a:r>
            <a:r>
              <a:rPr lang="en-US" altLang="zh-CN" sz="2200" i="1" dirty="0"/>
              <a:t>k.</a:t>
            </a:r>
            <a:endParaRPr lang="en-US" altLang="zh-CN" sz="2200" dirty="0"/>
          </a:p>
          <a:p>
            <a:pPr marL="0" eaLnBrk="1" hangingPunct="1">
              <a:lnSpc>
                <a:spcPct val="120000"/>
              </a:lnSpc>
            </a:pPr>
            <a:r>
              <a:rPr lang="en-US" altLang="zh-CN" sz="2200" i="1" dirty="0"/>
              <a:t>G</a:t>
            </a:r>
            <a:r>
              <a:rPr lang="zh-CN" altLang="en-US" sz="2200" dirty="0"/>
              <a:t>是连通图</a:t>
            </a:r>
            <a:r>
              <a:rPr lang="zh-CN" altLang="en-US" sz="2200" dirty="0">
                <a:solidFill>
                  <a:srgbClr val="333300"/>
                </a:solidFill>
                <a:sym typeface="Symbol" panose="05050102010706020507" pitchFamily="18" charset="2"/>
              </a:rPr>
              <a:t></a:t>
            </a:r>
            <a:r>
              <a:rPr lang="zh-CN" altLang="en-US" sz="2200" dirty="0"/>
              <a:t> </a:t>
            </a:r>
            <a:r>
              <a:rPr lang="en-US" altLang="zh-CN" sz="2200" i="1" dirty="0"/>
              <a:t>p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)=1.</a:t>
            </a:r>
            <a:endParaRPr lang="en-US" altLang="zh-CN" sz="22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2429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2429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24291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2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24291">
                                            <p:txEl>
                                              <p:charRg st="2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24291">
                                            <p:txEl>
                                              <p:charRg st="2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24291">
                                            <p:txEl>
                                              <p:charRg st="2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8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24291">
                                            <p:txEl>
                                              <p:charRg st="8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24291">
                                            <p:txEl>
                                              <p:charRg st="8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24291">
                                            <p:txEl>
                                              <p:charRg st="8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111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24291">
                                            <p:txEl>
                                              <p:charRg st="111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24291">
                                            <p:txEl>
                                              <p:charRg st="111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24291">
                                            <p:txEl>
                                              <p:charRg st="111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127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24291">
                                            <p:txEl>
                                              <p:charRg st="127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24291">
                                            <p:txEl>
                                              <p:charRg st="127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24291">
                                            <p:txEl>
                                              <p:charRg st="127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152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24291">
                                            <p:txEl>
                                              <p:charRg st="152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24291">
                                            <p:txEl>
                                              <p:charRg st="152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24291">
                                            <p:txEl>
                                              <p:charRg st="152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164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524291">
                                            <p:txEl>
                                              <p:charRg st="164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524291">
                                            <p:txEl>
                                              <p:charRg st="164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524291">
                                            <p:txEl>
                                              <p:charRg st="164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179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524291">
                                            <p:txEl>
                                              <p:charRg st="179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524291">
                                            <p:txEl>
                                              <p:charRg st="179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524291">
                                            <p:txEl>
                                              <p:charRg st="179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254" end="2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24291">
                                            <p:txEl>
                                              <p:charRg st="254" end="2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charRg st="268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8" dur="80"/>
                                        <p:tgtEl>
                                          <p:spTgt spid="524291">
                                            <p:txEl>
                                              <p:charRg st="268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9" dur="80"/>
                                        <p:tgtEl>
                                          <p:spTgt spid="524291">
                                            <p:txEl>
                                              <p:charRg st="268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80"/>
                                        <p:tgtEl>
                                          <p:spTgt spid="524291">
                                            <p:txEl>
                                              <p:charRg st="268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3789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3641725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短程线与距离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5315" name="Rectangle 3"/>
          <p:cNvSpPr>
            <a:spLocks noGrp="1"/>
          </p:cNvSpPr>
          <p:nvPr>
            <p:ph idx="1"/>
          </p:nvPr>
        </p:nvSpPr>
        <p:spPr>
          <a:xfrm>
            <a:off x="442913" y="1162050"/>
            <a:ext cx="6197600" cy="4268788"/>
          </a:xfrm>
        </p:spPr>
        <p:txBody>
          <a:bodyPr vert="horz" wrap="square" lIns="91440" tIns="45720" rIns="91440" bIns="45720" anchor="t" anchorCtr="0"/>
          <a:p>
            <a:pPr marL="0" indent="0" algn="just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rgbClr val="FF3300"/>
                </a:solidFill>
              </a:rPr>
              <a:t>定义</a:t>
            </a:r>
            <a:r>
              <a:rPr lang="en-US" altLang="zh-CN" sz="2200" dirty="0">
                <a:solidFill>
                  <a:srgbClr val="FF3300"/>
                </a:solidFill>
              </a:rPr>
              <a:t>11.15 </a:t>
            </a:r>
            <a:r>
              <a:rPr lang="zh-CN" altLang="en-US" sz="2200" dirty="0"/>
              <a:t>设无向图</a:t>
            </a:r>
            <a:r>
              <a:rPr lang="en-US" altLang="zh-CN" sz="2200" i="1" dirty="0"/>
              <a:t>G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&gt;, </a:t>
            </a:r>
            <a:r>
              <a:rPr lang="en-US" altLang="zh-CN" sz="2200" i="1" dirty="0"/>
              <a:t>u,v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>
                <a:sym typeface="Symbol" panose="05050102010706020507" pitchFamily="18" charset="2"/>
              </a:rPr>
              <a:t>V.</a:t>
            </a:r>
            <a:endParaRPr lang="en-US" altLang="zh-CN" sz="2200" dirty="0">
              <a:solidFill>
                <a:srgbClr val="FF3300"/>
              </a:solidFill>
            </a:endParaRPr>
          </a:p>
          <a:p>
            <a:pPr marL="0" indent="0" algn="just" eaLnBrk="1" hangingPunct="1">
              <a:lnSpc>
                <a:spcPct val="115000"/>
              </a:lnSpc>
            </a:pPr>
            <a:r>
              <a:rPr lang="zh-CN" altLang="en-US" sz="2200" dirty="0"/>
              <a:t>若</a:t>
            </a:r>
            <a:r>
              <a:rPr lang="en-US" altLang="zh-CN" sz="2200" i="1" dirty="0"/>
              <a:t>u</a:t>
            </a:r>
            <a:r>
              <a:rPr lang="en-US" altLang="zh-CN" sz="2200" dirty="0">
                <a:sym typeface="Symbol" panose="05050102010706020507" pitchFamily="18" charset="2"/>
              </a:rPr>
              <a:t></a:t>
            </a:r>
            <a:r>
              <a:rPr lang="en-US" altLang="zh-CN" sz="2200" i="1" dirty="0"/>
              <a:t>v,</a:t>
            </a:r>
            <a:endParaRPr lang="en-US" altLang="zh-CN" sz="2200" dirty="0">
              <a:solidFill>
                <a:srgbClr val="FF3300"/>
              </a:solidFill>
            </a:endParaRPr>
          </a:p>
          <a:p>
            <a:pPr marL="0" indent="0" algn="just" eaLnBrk="1" hangingPunct="1">
              <a:lnSpc>
                <a:spcPct val="115000"/>
              </a:lnSpc>
            </a:pPr>
            <a:r>
              <a:rPr lang="en-US" altLang="zh-CN" sz="2200" i="1" dirty="0">
                <a:solidFill>
                  <a:srgbClr val="FF3300"/>
                </a:solidFill>
              </a:rPr>
              <a:t>   u</a:t>
            </a:r>
            <a:r>
              <a:rPr lang="zh-CN" altLang="en-US" sz="2200" dirty="0">
                <a:solidFill>
                  <a:srgbClr val="FF3300"/>
                </a:solidFill>
              </a:rPr>
              <a:t>与</a:t>
            </a: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zh-CN" altLang="en-US" sz="2200" dirty="0">
                <a:solidFill>
                  <a:srgbClr val="FF3300"/>
                </a:solidFill>
              </a:rPr>
              <a:t>之间的短程线</a:t>
            </a:r>
            <a:r>
              <a:rPr lang="en-US" altLang="zh-CN" sz="2200" dirty="0"/>
              <a:t>: </a:t>
            </a:r>
            <a:r>
              <a:rPr lang="en-US" altLang="zh-CN" sz="2200" i="1" dirty="0"/>
              <a:t>u</a:t>
            </a:r>
            <a:r>
              <a:rPr lang="zh-CN" altLang="en-US" sz="2200" dirty="0"/>
              <a:t>与</a:t>
            </a:r>
            <a:r>
              <a:rPr lang="en-US" altLang="zh-CN" sz="2200" i="1" dirty="0"/>
              <a:t>v</a:t>
            </a:r>
            <a:r>
              <a:rPr lang="zh-CN" altLang="en-US" sz="2200" dirty="0"/>
              <a:t>之间长度最短的通路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indent="0" algn="just" eaLnBrk="1" hangingPunct="1">
              <a:lnSpc>
                <a:spcPct val="115000"/>
              </a:lnSpc>
            </a:pPr>
            <a:r>
              <a:rPr lang="en-US" altLang="zh-CN" sz="2200" i="1" dirty="0">
                <a:solidFill>
                  <a:srgbClr val="FF3300"/>
                </a:solidFill>
              </a:rPr>
              <a:t>   u</a:t>
            </a:r>
            <a:r>
              <a:rPr lang="zh-CN" altLang="en-US" sz="2200" dirty="0">
                <a:solidFill>
                  <a:srgbClr val="FF3300"/>
                </a:solidFill>
              </a:rPr>
              <a:t>与</a:t>
            </a: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zh-CN" altLang="en-US" sz="2200" dirty="0">
                <a:solidFill>
                  <a:srgbClr val="FF3300"/>
                </a:solidFill>
              </a:rPr>
              <a:t>之间的距离</a:t>
            </a: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en-US" altLang="zh-CN" sz="2200" i="1" dirty="0">
                <a:solidFill>
                  <a:srgbClr val="FF3300"/>
                </a:solidFill>
              </a:rPr>
              <a:t>u</a:t>
            </a:r>
            <a:r>
              <a:rPr lang="en-US" altLang="zh-CN" sz="2200" dirty="0">
                <a:solidFill>
                  <a:srgbClr val="FF3300"/>
                </a:solidFill>
              </a:rPr>
              <a:t>,</a:t>
            </a: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en-US" altLang="zh-CN" sz="2200" dirty="0">
                <a:solidFill>
                  <a:srgbClr val="FF3300"/>
                </a:solidFill>
              </a:rPr>
              <a:t>)</a:t>
            </a:r>
            <a:r>
              <a:rPr lang="en-US" altLang="zh-CN" sz="2200" dirty="0"/>
              <a:t>: </a:t>
            </a:r>
            <a:r>
              <a:rPr lang="en-US" altLang="zh-CN" sz="2200" i="1" dirty="0"/>
              <a:t>u</a:t>
            </a:r>
            <a:r>
              <a:rPr lang="zh-CN" altLang="en-US" sz="2200" dirty="0"/>
              <a:t>与</a:t>
            </a:r>
            <a:r>
              <a:rPr lang="en-US" altLang="zh-CN" sz="2200" i="1" dirty="0"/>
              <a:t>v</a:t>
            </a:r>
            <a:r>
              <a:rPr lang="zh-CN" altLang="en-US" sz="2200" dirty="0"/>
              <a:t>之间短程线的长度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indent="0" algn="just" eaLnBrk="1" hangingPunct="1">
              <a:lnSpc>
                <a:spcPct val="115000"/>
              </a:lnSpc>
            </a:pPr>
            <a:r>
              <a:rPr lang="zh-CN" altLang="en-US" sz="2200" dirty="0"/>
              <a:t>若</a:t>
            </a:r>
            <a:r>
              <a:rPr lang="en-US" altLang="zh-CN" sz="2200" i="1" dirty="0"/>
              <a:t>u</a:t>
            </a:r>
            <a:r>
              <a:rPr lang="zh-CN" altLang="en-US" sz="2200" dirty="0"/>
              <a:t>与</a:t>
            </a:r>
            <a:r>
              <a:rPr lang="en-US" altLang="zh-CN" sz="2200" i="1" dirty="0"/>
              <a:t>v</a:t>
            </a:r>
            <a:r>
              <a:rPr lang="zh-CN" altLang="en-US" sz="2200" dirty="0"/>
              <a:t>不连通</a:t>
            </a:r>
            <a:r>
              <a:rPr lang="en-US" altLang="zh-CN" sz="2200" dirty="0"/>
              <a:t>, </a:t>
            </a:r>
            <a:r>
              <a:rPr lang="zh-CN" altLang="en-US" sz="2200" dirty="0"/>
              <a:t>规定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u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dirty="0"/>
              <a:t>)</a:t>
            </a:r>
            <a:r>
              <a:rPr lang="en-US" altLang="zh-CN" sz="2200" dirty="0">
                <a:sym typeface="Symbol" panose="05050102010706020507" pitchFamily="18" charset="2"/>
              </a:rPr>
              <a:t>=</a:t>
            </a:r>
            <a:r>
              <a:rPr lang="en-US" altLang="zh-CN" sz="2200" dirty="0"/>
              <a:t>∞.</a:t>
            </a:r>
            <a:endParaRPr lang="en-US" altLang="zh-CN" sz="2200" dirty="0"/>
          </a:p>
          <a:p>
            <a:pPr marL="0" indent="0" algn="just" eaLnBrk="1" hangingPunct="1">
              <a:lnSpc>
                <a:spcPct val="115000"/>
              </a:lnSpc>
            </a:pPr>
            <a:r>
              <a:rPr lang="zh-CN" altLang="en-US" sz="2200" dirty="0"/>
              <a:t>性质：</a:t>
            </a:r>
            <a:endParaRPr lang="zh-CN" altLang="en-US" sz="2200" dirty="0"/>
          </a:p>
          <a:p>
            <a:pPr marL="0" indent="0" algn="just" eaLnBrk="1" hangingPunct="1">
              <a:lnSpc>
                <a:spcPct val="115000"/>
              </a:lnSpc>
            </a:pPr>
            <a:r>
              <a:rPr lang="en-US" altLang="zh-CN" sz="2200" dirty="0"/>
              <a:t>(1)</a:t>
            </a:r>
            <a:r>
              <a:rPr lang="en-US" altLang="zh-CN" sz="2200" i="1" dirty="0"/>
              <a:t> d</a:t>
            </a:r>
            <a:r>
              <a:rPr lang="en-US" altLang="zh-CN" sz="2200" dirty="0"/>
              <a:t>(</a:t>
            </a:r>
            <a:r>
              <a:rPr lang="en-US" altLang="zh-CN" sz="2200" i="1" dirty="0"/>
              <a:t>u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dirty="0"/>
              <a:t>)</a:t>
            </a:r>
            <a:r>
              <a:rPr lang="en-US" altLang="zh-CN" sz="2200" dirty="0">
                <a:sym typeface="Symbol" panose="05050102010706020507" pitchFamily="18" charset="2"/>
              </a:rPr>
              <a:t></a:t>
            </a:r>
            <a:r>
              <a:rPr lang="en-US" altLang="zh-CN" sz="2200" dirty="0"/>
              <a:t>0, </a:t>
            </a:r>
            <a:r>
              <a:rPr lang="zh-CN" altLang="en-US" sz="2200" dirty="0"/>
              <a:t>且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u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dirty="0"/>
              <a:t>)</a:t>
            </a:r>
            <a:r>
              <a:rPr lang="en-US" altLang="zh-CN" sz="2200" dirty="0">
                <a:sym typeface="Symbol" panose="05050102010706020507" pitchFamily="18" charset="2"/>
              </a:rPr>
              <a:t>=</a:t>
            </a:r>
            <a:r>
              <a:rPr lang="en-US" altLang="zh-CN" sz="2200" dirty="0"/>
              <a:t>0 </a:t>
            </a:r>
            <a:r>
              <a:rPr lang="en-US" altLang="zh-CN" sz="2200" dirty="0">
                <a:solidFill>
                  <a:srgbClr val="333300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200" dirty="0"/>
              <a:t> </a:t>
            </a:r>
            <a:r>
              <a:rPr lang="en-US" altLang="zh-CN" sz="2200" i="1" dirty="0"/>
              <a:t>u=v</a:t>
            </a:r>
            <a:endParaRPr lang="en-US" altLang="zh-CN" sz="2200" dirty="0"/>
          </a:p>
          <a:p>
            <a:pPr marL="0" indent="0" algn="just" eaLnBrk="1" hangingPunct="1">
              <a:lnSpc>
                <a:spcPct val="115000"/>
              </a:lnSpc>
            </a:pPr>
            <a:r>
              <a:rPr lang="en-US" altLang="zh-CN" sz="2200" dirty="0"/>
              <a:t>(2)</a:t>
            </a:r>
            <a:r>
              <a:rPr lang="en-US" altLang="zh-CN" sz="2200" i="1" dirty="0"/>
              <a:t> d</a:t>
            </a:r>
            <a:r>
              <a:rPr lang="en-US" altLang="zh-CN" sz="2200" dirty="0"/>
              <a:t>(</a:t>
            </a:r>
            <a:r>
              <a:rPr lang="en-US" altLang="zh-CN" sz="2200" i="1" dirty="0"/>
              <a:t>u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dirty="0"/>
              <a:t>)=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u</a:t>
            </a:r>
            <a:r>
              <a:rPr lang="en-US" altLang="zh-CN" sz="2200" dirty="0"/>
              <a:t>)</a:t>
            </a:r>
            <a:endParaRPr lang="en-US" altLang="zh-CN" sz="2200" dirty="0"/>
          </a:p>
          <a:p>
            <a:pPr marL="0" indent="0" eaLnBrk="1" hangingPunct="1">
              <a:lnSpc>
                <a:spcPct val="115000"/>
              </a:lnSpc>
            </a:pPr>
            <a:r>
              <a:rPr lang="en-US" altLang="zh-CN" sz="2200" dirty="0"/>
              <a:t>(3)</a:t>
            </a:r>
            <a:r>
              <a:rPr lang="en-US" altLang="zh-CN" sz="2200" i="1" dirty="0"/>
              <a:t> d</a:t>
            </a:r>
            <a:r>
              <a:rPr lang="en-US" altLang="zh-CN" sz="2200" dirty="0"/>
              <a:t>(</a:t>
            </a:r>
            <a:r>
              <a:rPr lang="en-US" altLang="zh-CN" sz="2200" i="1" dirty="0"/>
              <a:t>u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dirty="0"/>
              <a:t>)+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w</a:t>
            </a:r>
            <a:r>
              <a:rPr lang="en-US" altLang="zh-CN" sz="2200" dirty="0"/>
              <a:t>)</a:t>
            </a:r>
            <a:r>
              <a:rPr lang="en-US" altLang="zh-CN" sz="2200" dirty="0">
                <a:sym typeface="Symbol" panose="05050102010706020507" pitchFamily="18" charset="2"/>
              </a:rPr>
              <a:t></a:t>
            </a:r>
            <a:r>
              <a:rPr lang="en-US" altLang="zh-CN" sz="2200" i="1" dirty="0"/>
              <a:t>d</a:t>
            </a:r>
            <a:r>
              <a:rPr lang="en-US" altLang="zh-CN" sz="2200" dirty="0"/>
              <a:t>(</a:t>
            </a:r>
            <a:r>
              <a:rPr lang="en-US" altLang="zh-CN" sz="2200" i="1" dirty="0"/>
              <a:t>u</a:t>
            </a:r>
            <a:r>
              <a:rPr lang="en-US" altLang="zh-CN" sz="2200" dirty="0"/>
              <a:t>,</a:t>
            </a:r>
            <a:r>
              <a:rPr lang="en-US" altLang="zh-CN" sz="2200" i="1" dirty="0"/>
              <a:t>w</a:t>
            </a:r>
            <a:r>
              <a:rPr lang="en-US" altLang="zh-CN" sz="2200" dirty="0"/>
              <a:t>)  </a:t>
            </a:r>
            <a:endParaRPr lang="en-US" altLang="zh-CN" sz="2200" dirty="0"/>
          </a:p>
        </p:txBody>
      </p:sp>
      <p:sp>
        <p:nvSpPr>
          <p:cNvPr id="525316" name="Text Box 4"/>
          <p:cNvSpPr txBox="1"/>
          <p:nvPr/>
        </p:nvSpPr>
        <p:spPr>
          <a:xfrm>
            <a:off x="658813" y="5437188"/>
            <a:ext cx="7772400" cy="1004887"/>
          </a:xfrm>
          <a:prstGeom prst="rect">
            <a:avLst/>
          </a:prstGeom>
          <a:solidFill>
            <a:srgbClr val="CCFFFF"/>
          </a:solidFill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  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之间的短程线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ace,afe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   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a,e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)=2, 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a,h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 ∞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25317" name="Text Box 5"/>
          <p:cNvSpPr txBox="1"/>
          <p:nvPr/>
        </p:nvSpPr>
        <p:spPr>
          <a:xfrm>
            <a:off x="5100638" y="3303588"/>
            <a:ext cx="3352800" cy="2286000"/>
          </a:xfrm>
          <a:prstGeom prst="rect">
            <a:avLst/>
          </a:prstGeom>
          <a:solidFill>
            <a:srgbClr val="CCFFFF"/>
          </a:solidFill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5207000" y="3319463"/>
            <a:ext cx="2743200" cy="2057400"/>
            <a:chOff x="3456" y="2112"/>
            <a:chExt cx="1728" cy="1296"/>
          </a:xfrm>
        </p:grpSpPr>
        <p:pic>
          <p:nvPicPr>
            <p:cNvPr id="37896" name="Picture 7" descr="短程线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00" y="2375"/>
              <a:ext cx="1440" cy="8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897" name="Text Box 8"/>
            <p:cNvSpPr txBox="1"/>
            <p:nvPr/>
          </p:nvSpPr>
          <p:spPr>
            <a:xfrm>
              <a:off x="3936" y="2160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898" name="Text Box 9"/>
            <p:cNvSpPr txBox="1"/>
            <p:nvPr/>
          </p:nvSpPr>
          <p:spPr>
            <a:xfrm>
              <a:off x="3456" y="2592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899" name="Text Box 10"/>
            <p:cNvSpPr txBox="1"/>
            <p:nvPr/>
          </p:nvSpPr>
          <p:spPr>
            <a:xfrm>
              <a:off x="3936" y="3072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0" name="Text Box 11"/>
            <p:cNvSpPr txBox="1"/>
            <p:nvPr/>
          </p:nvSpPr>
          <p:spPr>
            <a:xfrm>
              <a:off x="4272" y="2736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1" name="Text Box 12"/>
            <p:cNvSpPr txBox="1"/>
            <p:nvPr/>
          </p:nvSpPr>
          <p:spPr>
            <a:xfrm>
              <a:off x="4368" y="3120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2" name="Text Box 13"/>
            <p:cNvSpPr txBox="1"/>
            <p:nvPr/>
          </p:nvSpPr>
          <p:spPr>
            <a:xfrm>
              <a:off x="4464" y="2304"/>
              <a:ext cx="336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f 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3" name="Text Box 14"/>
            <p:cNvSpPr txBox="1"/>
            <p:nvPr/>
          </p:nvSpPr>
          <p:spPr>
            <a:xfrm>
              <a:off x="4800" y="2112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4" name="Text Box 15"/>
            <p:cNvSpPr txBox="1"/>
            <p:nvPr/>
          </p:nvSpPr>
          <p:spPr>
            <a:xfrm>
              <a:off x="4560" y="3120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5" name="Text Box 16"/>
            <p:cNvSpPr txBox="1"/>
            <p:nvPr/>
          </p:nvSpPr>
          <p:spPr>
            <a:xfrm>
              <a:off x="4944" y="2976"/>
              <a:ext cx="24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25315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25315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25315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charRg st="28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25315">
                                            <p:txEl>
                                              <p:charRg st="28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25315">
                                            <p:txEl>
                                              <p:charRg st="28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25315">
                                            <p:txEl>
                                              <p:charRg st="28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charRg st="34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25315">
                                            <p:txEl>
                                              <p:charRg st="34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25315">
                                            <p:txEl>
                                              <p:charRg st="34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25315">
                                            <p:txEl>
                                              <p:charRg st="34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charRg st="6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25315">
                                            <p:txEl>
                                              <p:charRg st="6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25315">
                                            <p:txEl>
                                              <p:charRg st="6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25315">
                                            <p:txEl>
                                              <p:charRg st="6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charRg st="94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25315">
                                            <p:txEl>
                                              <p:charRg st="94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25315">
                                            <p:txEl>
                                              <p:charRg st="94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25315">
                                            <p:txEl>
                                              <p:charRg st="94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charRg st="115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25315">
                                            <p:txEl>
                                              <p:charRg st="115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25315">
                                            <p:txEl>
                                              <p:charRg st="115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25315">
                                            <p:txEl>
                                              <p:charRg st="115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charRg st="119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525315">
                                            <p:txEl>
                                              <p:charRg st="119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525315">
                                            <p:txEl>
                                              <p:charRg st="119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525315">
                                            <p:txEl>
                                              <p:charRg st="119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charRg st="149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525315">
                                            <p:txEl>
                                              <p:charRg st="149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525315">
                                            <p:txEl>
                                              <p:charRg st="149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525315">
                                            <p:txEl>
                                              <p:charRg st="149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charRg st="16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525315">
                                            <p:txEl>
                                              <p:charRg st="16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525315">
                                            <p:txEl>
                                              <p:charRg st="16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525315">
                                            <p:txEl>
                                              <p:charRg st="167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2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8" dur="80"/>
                                        <p:tgtEl>
                                          <p:spTgt spid="525316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9" dur="80"/>
                                        <p:tgtEl>
                                          <p:spTgt spid="525316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80"/>
                                        <p:tgtEl>
                                          <p:spTgt spid="525316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6">
                                            <p:txEl>
                                              <p:charRg st="2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5" dur="80"/>
                                        <p:tgtEl>
                                          <p:spTgt spid="525316">
                                            <p:txEl>
                                              <p:charRg st="2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6" dur="80"/>
                                        <p:tgtEl>
                                          <p:spTgt spid="525316">
                                            <p:txEl>
                                              <p:charRg st="2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80"/>
                                        <p:tgtEl>
                                          <p:spTgt spid="525316">
                                            <p:txEl>
                                              <p:charRg st="2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3702050" cy="5048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点割集与边割集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6339" name="Rectangle 3"/>
          <p:cNvSpPr>
            <a:spLocks noGrp="1"/>
          </p:cNvSpPr>
          <p:nvPr>
            <p:ph idx="1"/>
          </p:nvPr>
        </p:nvSpPr>
        <p:spPr>
          <a:xfrm>
            <a:off x="363538" y="1084263"/>
            <a:ext cx="8416925" cy="1082675"/>
          </a:xfrm>
        </p:spPr>
        <p:txBody>
          <a:bodyPr vert="horz" wrap="square" lIns="91440" tIns="45720" rIns="91440" bIns="45720" anchor="t" anchorCtr="0"/>
          <a:p>
            <a:pPr marL="0" indent="0" algn="just" eaLnBrk="1" hangingPunct="1">
              <a:lnSpc>
                <a:spcPct val="115000"/>
              </a:lnSpc>
              <a:spcBef>
                <a:spcPct val="85000"/>
              </a:spcBef>
            </a:pPr>
            <a:r>
              <a:rPr lang="zh-CN" altLang="en-US" sz="2200" dirty="0">
                <a:solidFill>
                  <a:srgbClr val="FF3300"/>
                </a:solidFill>
              </a:rPr>
              <a:t>定义</a:t>
            </a:r>
            <a:r>
              <a:rPr lang="en-US" altLang="zh-CN" sz="2200" dirty="0">
                <a:solidFill>
                  <a:srgbClr val="FF3300"/>
                </a:solidFill>
              </a:rPr>
              <a:t>11.16</a:t>
            </a:r>
            <a:r>
              <a:rPr lang="en-US" altLang="zh-CN" sz="2200" dirty="0"/>
              <a:t> </a:t>
            </a:r>
            <a:r>
              <a:rPr lang="zh-CN" altLang="en-US" sz="2200" dirty="0"/>
              <a:t>设无向图</a:t>
            </a:r>
            <a:r>
              <a:rPr lang="en-US" altLang="zh-CN" sz="2200" i="1" dirty="0"/>
              <a:t>G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&gt;,</a:t>
            </a:r>
            <a:r>
              <a:rPr lang="zh-CN" altLang="en-US" sz="2200" dirty="0"/>
              <a:t>若</a:t>
            </a:r>
            <a:r>
              <a:rPr lang="en-US" altLang="zh-CN" sz="2200" i="1" dirty="0"/>
              <a:t>V </a:t>
            </a:r>
            <a:r>
              <a:rPr lang="en-US" altLang="zh-CN" sz="2200" dirty="0">
                <a:sym typeface="Symbol" panose="05050102010706020507" pitchFamily="18" charset="2"/>
              </a:rPr>
              <a:t></a:t>
            </a:r>
            <a:r>
              <a:rPr lang="en-US" altLang="zh-CN" sz="2200" i="1" dirty="0"/>
              <a:t>V</a:t>
            </a:r>
            <a:r>
              <a:rPr lang="zh-CN" altLang="en-US" sz="2200" dirty="0"/>
              <a:t>且</a:t>
            </a:r>
            <a:r>
              <a:rPr lang="en-US" altLang="zh-CN" sz="2200" i="1" dirty="0"/>
              <a:t>V </a:t>
            </a:r>
            <a:r>
              <a:rPr lang="en-US" altLang="zh-CN" sz="2200" dirty="0">
                <a:sym typeface="Symbol" panose="05050102010706020507" pitchFamily="18" charset="2"/>
              </a:rPr>
              <a:t></a:t>
            </a:r>
            <a:r>
              <a:rPr lang="en-US" altLang="zh-CN" sz="2200" i="1" dirty="0"/>
              <a:t> </a:t>
            </a:r>
            <a:r>
              <a:rPr lang="en-US" altLang="zh-CN" sz="2200" dirty="0">
                <a:sym typeface="Symbol" panose="05050102010706020507" pitchFamily="18" charset="2"/>
              </a:rPr>
              <a:t></a:t>
            </a:r>
            <a:r>
              <a:rPr lang="en-US" altLang="zh-CN" sz="2200" i="1" dirty="0"/>
              <a:t>, </a:t>
            </a:r>
            <a:r>
              <a:rPr lang="zh-CN" altLang="en-US" sz="2200" dirty="0"/>
              <a:t>使得</a:t>
            </a:r>
            <a:r>
              <a:rPr lang="en-US" altLang="zh-CN" sz="2200" i="1" dirty="0"/>
              <a:t>p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>
                <a:sym typeface="Symbol" panose="05050102010706020507" pitchFamily="18" charset="2"/>
              </a:rPr>
              <a:t></a:t>
            </a:r>
            <a:r>
              <a:rPr lang="en-US" altLang="zh-CN" sz="2200" i="1" dirty="0"/>
              <a:t>V </a:t>
            </a:r>
            <a:r>
              <a:rPr lang="en-US" altLang="zh-CN" sz="2200" dirty="0">
                <a:sym typeface="Symbol" panose="05050102010706020507" pitchFamily="18" charset="2"/>
              </a:rPr>
              <a:t></a:t>
            </a:r>
            <a:r>
              <a:rPr lang="en-US" altLang="zh-CN" sz="2200" dirty="0"/>
              <a:t>)&gt;</a:t>
            </a:r>
            <a:r>
              <a:rPr lang="en-US" altLang="zh-CN" sz="2200" i="1" dirty="0"/>
              <a:t>p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),</a:t>
            </a:r>
            <a:r>
              <a:rPr lang="zh-CN" altLang="en-US" sz="2200" dirty="0"/>
              <a:t>而对</a:t>
            </a:r>
            <a:r>
              <a:rPr lang="zh-CN" altLang="en-US" sz="2200" dirty="0">
                <a:sym typeface="Symbol" panose="05050102010706020507" pitchFamily="18" charset="2"/>
              </a:rPr>
              <a:t></a:t>
            </a:r>
            <a:r>
              <a:rPr lang="en-US" altLang="zh-CN" sz="2200" i="1" dirty="0">
                <a:sym typeface="Symbol" panose="05050102010706020507" pitchFamily="18" charset="2"/>
              </a:rPr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</a:t>
            </a:r>
            <a:r>
              <a:rPr lang="en-US" altLang="zh-CN" sz="2200" i="1" dirty="0"/>
              <a:t>V </a:t>
            </a:r>
            <a:r>
              <a:rPr lang="en-US" altLang="zh-CN" sz="2200" dirty="0">
                <a:sym typeface="Symbol" panose="05050102010706020507" pitchFamily="18" charset="2"/>
              </a:rPr>
              <a:t>, </a:t>
            </a:r>
            <a:r>
              <a:rPr lang="en-US" altLang="zh-CN" sz="2200" i="1" dirty="0"/>
              <a:t>p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>
                <a:sym typeface="Symbol" panose="05050102010706020507" pitchFamily="18" charset="2"/>
              </a:rPr>
              <a:t>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</a:t>
            </a:r>
            <a:r>
              <a:rPr lang="en-US" altLang="zh-CN" sz="2200" dirty="0"/>
              <a:t>)=</a:t>
            </a:r>
            <a:r>
              <a:rPr lang="en-US" altLang="zh-CN" sz="2200" i="1" dirty="0"/>
              <a:t>p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), </a:t>
            </a:r>
            <a:r>
              <a:rPr lang="zh-CN" altLang="en-US" sz="2200" dirty="0"/>
              <a:t>则称</a:t>
            </a:r>
            <a:r>
              <a:rPr lang="en-US" altLang="zh-CN" sz="2200" i="1" dirty="0"/>
              <a:t>V </a:t>
            </a:r>
            <a:r>
              <a:rPr lang="en-US" altLang="zh-CN" sz="2200" dirty="0">
                <a:sym typeface="Symbol" panose="05050102010706020507" pitchFamily="18" charset="2"/>
              </a:rPr>
              <a:t></a:t>
            </a:r>
            <a:r>
              <a:rPr lang="zh-CN" altLang="en-US" sz="2200" dirty="0"/>
              <a:t>为</a:t>
            </a:r>
            <a:r>
              <a:rPr lang="en-US" altLang="zh-CN" sz="2200" i="1" dirty="0"/>
              <a:t>G</a:t>
            </a:r>
            <a:r>
              <a:rPr lang="zh-CN" altLang="en-US" sz="2200" dirty="0"/>
              <a:t>的</a:t>
            </a:r>
            <a:r>
              <a:rPr lang="zh-CN" altLang="en-US" sz="2200" dirty="0">
                <a:solidFill>
                  <a:srgbClr val="FF3300"/>
                </a:solidFill>
              </a:rPr>
              <a:t>点割集</a:t>
            </a:r>
            <a:r>
              <a:rPr lang="en-US" altLang="zh-CN" sz="2200" dirty="0"/>
              <a:t>. </a:t>
            </a:r>
            <a:endParaRPr lang="en-US" altLang="zh-CN" sz="2200" dirty="0"/>
          </a:p>
        </p:txBody>
      </p:sp>
      <p:sp>
        <p:nvSpPr>
          <p:cNvPr id="526340" name="Rectangle 4"/>
          <p:cNvSpPr/>
          <p:nvPr/>
        </p:nvSpPr>
        <p:spPr>
          <a:xfrm>
            <a:off x="363538" y="2527300"/>
            <a:ext cx="8178800" cy="863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11.17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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E, E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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使得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)&gt;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),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而对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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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边割集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6341" name="Rectangle 5"/>
          <p:cNvSpPr/>
          <p:nvPr/>
        </p:nvSpPr>
        <p:spPr>
          <a:xfrm>
            <a:off x="536575" y="1985963"/>
            <a:ext cx="3740150" cy="4778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为点割集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割点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6342" name="Rectangle 6"/>
          <p:cNvSpPr/>
          <p:nvPr/>
        </p:nvSpPr>
        <p:spPr>
          <a:xfrm>
            <a:off x="723900" y="3429000"/>
            <a:ext cx="4232275" cy="4778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为边割集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割边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6343" name="Rectangle 7"/>
          <p:cNvSpPr/>
          <p:nvPr/>
        </p:nvSpPr>
        <p:spPr>
          <a:xfrm>
            <a:off x="603250" y="4014788"/>
            <a:ext cx="465138" cy="4778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1023938" y="4030663"/>
            <a:ext cx="2951162" cy="1560512"/>
            <a:chOff x="703" y="709"/>
            <a:chExt cx="1859" cy="983"/>
          </a:xfrm>
        </p:grpSpPr>
        <p:sp>
          <p:nvSpPr>
            <p:cNvPr id="38922" name="Text Box 9"/>
            <p:cNvSpPr txBox="1"/>
            <p:nvPr/>
          </p:nvSpPr>
          <p:spPr>
            <a:xfrm>
              <a:off x="703" y="1117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23" name="Text Box 10"/>
            <p:cNvSpPr txBox="1"/>
            <p:nvPr/>
          </p:nvSpPr>
          <p:spPr>
            <a:xfrm>
              <a:off x="1247" y="709"/>
              <a:ext cx="22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24" name="AutoShape 11"/>
            <p:cNvSpPr/>
            <p:nvPr/>
          </p:nvSpPr>
          <p:spPr>
            <a:xfrm>
              <a:off x="2278" y="1440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5" name="AutoShape 12"/>
            <p:cNvSpPr/>
            <p:nvPr/>
          </p:nvSpPr>
          <p:spPr>
            <a:xfrm>
              <a:off x="872" y="911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6" name="AutoShape 13"/>
            <p:cNvSpPr/>
            <p:nvPr/>
          </p:nvSpPr>
          <p:spPr>
            <a:xfrm>
              <a:off x="1280" y="911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7" name="AutoShape 14"/>
            <p:cNvSpPr/>
            <p:nvPr/>
          </p:nvSpPr>
          <p:spPr>
            <a:xfrm>
              <a:off x="873" y="1455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endParaRPr lang="zh-CN" altLang="zh-CN" sz="18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28" name="AutoShape 15"/>
            <p:cNvSpPr/>
            <p:nvPr/>
          </p:nvSpPr>
          <p:spPr>
            <a:xfrm>
              <a:off x="1689" y="911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9" name="AutoShape 16"/>
            <p:cNvSpPr/>
            <p:nvPr/>
          </p:nvSpPr>
          <p:spPr>
            <a:xfrm>
              <a:off x="1280" y="1455"/>
              <a:ext cx="91" cy="90"/>
            </a:xfrm>
            <a:prstGeom prst="octagon">
              <a:avLst>
                <a:gd name="adj" fmla="val 29287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0" name="Line 17"/>
            <p:cNvSpPr/>
            <p:nvPr/>
          </p:nvSpPr>
          <p:spPr>
            <a:xfrm flipH="1" flipV="1">
              <a:off x="917" y="1001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8931" name="Line 18"/>
            <p:cNvSpPr/>
            <p:nvPr/>
          </p:nvSpPr>
          <p:spPr>
            <a:xfrm flipH="1" flipV="1">
              <a:off x="1326" y="1001"/>
              <a:ext cx="1" cy="45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8932" name="Line 19"/>
            <p:cNvSpPr/>
            <p:nvPr/>
          </p:nvSpPr>
          <p:spPr>
            <a:xfrm flipH="1" flipV="1">
              <a:off x="1734" y="1001"/>
              <a:ext cx="602" cy="47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8933" name="Line 20"/>
            <p:cNvSpPr/>
            <p:nvPr/>
          </p:nvSpPr>
          <p:spPr>
            <a:xfrm flipV="1">
              <a:off x="930" y="1525"/>
              <a:ext cx="3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8934" name="Line 21"/>
            <p:cNvSpPr/>
            <p:nvPr/>
          </p:nvSpPr>
          <p:spPr>
            <a:xfrm>
              <a:off x="975" y="935"/>
              <a:ext cx="31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8935" name="Line 22"/>
            <p:cNvSpPr/>
            <p:nvPr/>
          </p:nvSpPr>
          <p:spPr>
            <a:xfrm flipV="1">
              <a:off x="1338" y="981"/>
              <a:ext cx="408" cy="5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8936" name="Text Box 23"/>
            <p:cNvSpPr txBox="1"/>
            <p:nvPr/>
          </p:nvSpPr>
          <p:spPr>
            <a:xfrm>
              <a:off x="749" y="723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37" name="Text Box 24"/>
            <p:cNvSpPr txBox="1"/>
            <p:nvPr/>
          </p:nvSpPr>
          <p:spPr>
            <a:xfrm>
              <a:off x="1247" y="1480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38" name="Text Box 25"/>
            <p:cNvSpPr txBox="1"/>
            <p:nvPr/>
          </p:nvSpPr>
          <p:spPr>
            <a:xfrm>
              <a:off x="794" y="1480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39" name="Text Box 26"/>
            <p:cNvSpPr txBox="1"/>
            <p:nvPr/>
          </p:nvSpPr>
          <p:spPr>
            <a:xfrm>
              <a:off x="1610" y="709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40" name="Text Box 27"/>
            <p:cNvSpPr txBox="1"/>
            <p:nvPr/>
          </p:nvSpPr>
          <p:spPr>
            <a:xfrm>
              <a:off x="2245" y="1449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41" name="Text Box 28"/>
            <p:cNvSpPr txBox="1"/>
            <p:nvPr/>
          </p:nvSpPr>
          <p:spPr>
            <a:xfrm>
              <a:off x="1020" y="754"/>
              <a:ext cx="22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42" name="Text Box 29"/>
            <p:cNvSpPr txBox="1"/>
            <p:nvPr/>
          </p:nvSpPr>
          <p:spPr>
            <a:xfrm>
              <a:off x="1293" y="1123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43" name="Text Box 30"/>
            <p:cNvSpPr txBox="1"/>
            <p:nvPr/>
          </p:nvSpPr>
          <p:spPr>
            <a:xfrm>
              <a:off x="1021" y="1313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44" name="Text Box 31"/>
            <p:cNvSpPr txBox="1"/>
            <p:nvPr/>
          </p:nvSpPr>
          <p:spPr>
            <a:xfrm>
              <a:off x="1565" y="1117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45" name="Text Box 32"/>
            <p:cNvSpPr txBox="1"/>
            <p:nvPr/>
          </p:nvSpPr>
          <p:spPr>
            <a:xfrm>
              <a:off x="1973" y="1071"/>
              <a:ext cx="317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26369" name="Rectangle 33"/>
          <p:cNvSpPr/>
          <p:nvPr/>
        </p:nvSpPr>
        <p:spPr>
          <a:xfrm>
            <a:off x="4373563" y="4030663"/>
            <a:ext cx="4527550" cy="21002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点割集：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 {v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 {v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割点：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{v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 {v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边割集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:{e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},{e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},{e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},{e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},{e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{e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},{e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},{e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 {e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},{e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9">
                                            <p:txEl>
                                              <p:charRg st="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26339">
                                            <p:txEl>
                                              <p:charRg st="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26339">
                                            <p:txEl>
                                              <p:charRg st="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26339">
                                            <p:txEl>
                                              <p:charRg st="0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2634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2634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2634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263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26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26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2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26342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26342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26342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2634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2634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2634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52636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52636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52636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9">
                                            <p:txEl>
                                              <p:charRg st="25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4" dur="80"/>
                                        <p:tgtEl>
                                          <p:spTgt spid="526369">
                                            <p:txEl>
                                              <p:charRg st="25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5" dur="80"/>
                                        <p:tgtEl>
                                          <p:spTgt spid="526369">
                                            <p:txEl>
                                              <p:charRg st="25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80"/>
                                        <p:tgtEl>
                                          <p:spTgt spid="526369">
                                            <p:txEl>
                                              <p:charRg st="25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9">
                                            <p:txEl>
                                              <p:charRg st="39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1" dur="80"/>
                                        <p:tgtEl>
                                          <p:spTgt spid="526369">
                                            <p:txEl>
                                              <p:charRg st="39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2" dur="80"/>
                                        <p:tgtEl>
                                          <p:spTgt spid="526369">
                                            <p:txEl>
                                              <p:charRg st="39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80"/>
                                        <p:tgtEl>
                                          <p:spTgt spid="526369">
                                            <p:txEl>
                                              <p:charRg st="39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9">
                                            <p:txEl>
                                              <p:charRg st="78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6" dur="80"/>
                                        <p:tgtEl>
                                          <p:spTgt spid="526369">
                                            <p:txEl>
                                              <p:charRg st="78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7" dur="80"/>
                                        <p:tgtEl>
                                          <p:spTgt spid="526369">
                                            <p:txEl>
                                              <p:charRg st="78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80"/>
                                        <p:tgtEl>
                                          <p:spTgt spid="526369">
                                            <p:txEl>
                                              <p:charRg st="78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69">
                                            <p:txEl>
                                              <p:charRg st="115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3" dur="80"/>
                                        <p:tgtEl>
                                          <p:spTgt spid="526369">
                                            <p:txEl>
                                              <p:charRg st="115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4" dur="80"/>
                                        <p:tgtEl>
                                          <p:spTgt spid="526369">
                                            <p:txEl>
                                              <p:charRg st="115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80"/>
                                        <p:tgtEl>
                                          <p:spTgt spid="526369">
                                            <p:txEl>
                                              <p:charRg st="115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39" grpId="0" build="p"/>
      <p:bldP spid="52634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399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122238"/>
            <a:ext cx="1689100" cy="54768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7363" name="Text Box 3"/>
          <p:cNvSpPr txBox="1"/>
          <p:nvPr/>
        </p:nvSpPr>
        <p:spPr>
          <a:xfrm>
            <a:off x="558800" y="4046538"/>
            <a:ext cx="6248400" cy="16256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90000"/>
              </a:lnSpc>
              <a:spcBef>
                <a:spcPct val="60000"/>
              </a:spcBef>
              <a:buClr>
                <a:schemeClr val="bg2"/>
              </a:buClr>
              <a:buSzPct val="75000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说明：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400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无点割集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Clr>
                <a:schemeClr val="bg2"/>
              </a:buClr>
              <a:buSzPct val="75000"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n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阶零图既无点割集，也无边割集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Clr>
                <a:schemeClr val="bg2"/>
              </a:buClr>
              <a:buSzPct val="75000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连通，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1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为边割集，则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1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)=2.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bg2"/>
              </a:buClr>
              <a:buSzPct val="75000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连通，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为点割集，则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1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9941" name="Group 4"/>
          <p:cNvGrpSpPr/>
          <p:nvPr/>
        </p:nvGrpSpPr>
        <p:grpSpPr>
          <a:xfrm>
            <a:off x="482600" y="1023938"/>
            <a:ext cx="8077200" cy="2743200"/>
            <a:chOff x="336" y="1104"/>
            <a:chExt cx="5088" cy="1728"/>
          </a:xfrm>
        </p:grpSpPr>
        <p:sp>
          <p:nvSpPr>
            <p:cNvPr id="39942" name="Text Box 5"/>
            <p:cNvSpPr txBox="1"/>
            <p:nvPr/>
          </p:nvSpPr>
          <p:spPr>
            <a:xfrm>
              <a:off x="384" y="1104"/>
              <a:ext cx="5040" cy="1728"/>
            </a:xfrm>
            <a:prstGeom prst="rect">
              <a:avLst/>
            </a:prstGeom>
            <a:solidFill>
              <a:srgbClr val="CCFFFF"/>
            </a:solidFill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25000"/>
                </a:spcBef>
                <a:buClrTx/>
                <a:buSzTx/>
                <a:buFontTx/>
              </a:pP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25000"/>
                </a:spcBef>
                <a:buClrTx/>
                <a:buSzTx/>
                <a:buFontTx/>
              </a:pP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25000"/>
                </a:spcBef>
                <a:buClrTx/>
                <a:buSzTx/>
                <a:buFontTx/>
              </a:pP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25000"/>
                </a:spcBef>
                <a:buClrTx/>
                <a:buSzTx/>
                <a:buFontTx/>
              </a:pPr>
              <a:endPara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25000"/>
                </a:spcBef>
                <a:buClrTx/>
                <a:buSzTx/>
                <a:buFontTx/>
              </a:pPr>
              <a:endPara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25000"/>
                </a:spcBef>
                <a:buClrTx/>
                <a:buSzTx/>
                <a:buFontTx/>
              </a:pPr>
              <a:endPara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9943" name="Group 6"/>
            <p:cNvGrpSpPr/>
            <p:nvPr/>
          </p:nvGrpSpPr>
          <p:grpSpPr>
            <a:xfrm>
              <a:off x="336" y="1200"/>
              <a:ext cx="2784" cy="1440"/>
              <a:chOff x="1872" y="2304"/>
              <a:chExt cx="2784" cy="1440"/>
            </a:xfrm>
          </p:grpSpPr>
          <p:sp>
            <p:nvSpPr>
              <p:cNvPr id="39944" name="Text Box 7"/>
              <p:cNvSpPr txBox="1"/>
              <p:nvPr/>
            </p:nvSpPr>
            <p:spPr>
              <a:xfrm>
                <a:off x="1872" y="2928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39945" name="Picture 8" descr="割集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064" y="2448"/>
                <a:ext cx="2360" cy="114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9946" name="Text Box 9"/>
              <p:cNvSpPr txBox="1"/>
              <p:nvPr/>
            </p:nvSpPr>
            <p:spPr>
              <a:xfrm>
                <a:off x="2352" y="2880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47" name="Text Box 10"/>
              <p:cNvSpPr txBox="1"/>
              <p:nvPr/>
            </p:nvSpPr>
            <p:spPr>
              <a:xfrm>
                <a:off x="2832" y="3456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48" name="Text Box 11"/>
              <p:cNvSpPr txBox="1"/>
              <p:nvPr/>
            </p:nvSpPr>
            <p:spPr>
              <a:xfrm>
                <a:off x="2736" y="2304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49" name="Text Box 12"/>
              <p:cNvSpPr txBox="1"/>
              <p:nvPr/>
            </p:nvSpPr>
            <p:spPr>
              <a:xfrm>
                <a:off x="3360" y="3024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50" name="Text Box 13"/>
              <p:cNvSpPr txBox="1"/>
              <p:nvPr/>
            </p:nvSpPr>
            <p:spPr>
              <a:xfrm>
                <a:off x="3648" y="2304"/>
                <a:ext cx="288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f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51" name="Text Box 14"/>
              <p:cNvSpPr txBox="1"/>
              <p:nvPr/>
            </p:nvSpPr>
            <p:spPr>
              <a:xfrm>
                <a:off x="4416" y="2928"/>
                <a:ext cx="240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52" name="Text Box 15"/>
              <p:cNvSpPr txBox="1"/>
              <p:nvPr/>
            </p:nvSpPr>
            <p:spPr>
              <a:xfrm>
                <a:off x="2352" y="2496"/>
                <a:ext cx="336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53" name="Text Box 16"/>
              <p:cNvSpPr txBox="1"/>
              <p:nvPr/>
            </p:nvSpPr>
            <p:spPr>
              <a:xfrm>
                <a:off x="2304" y="3168"/>
                <a:ext cx="336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54" name="Text Box 17"/>
              <p:cNvSpPr txBox="1"/>
              <p:nvPr/>
            </p:nvSpPr>
            <p:spPr>
              <a:xfrm>
                <a:off x="2688" y="2688"/>
                <a:ext cx="336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55" name="Text Box 18"/>
              <p:cNvSpPr txBox="1"/>
              <p:nvPr/>
            </p:nvSpPr>
            <p:spPr>
              <a:xfrm>
                <a:off x="2928" y="2784"/>
                <a:ext cx="336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56" name="Text Box 19"/>
              <p:cNvSpPr txBox="1"/>
              <p:nvPr/>
            </p:nvSpPr>
            <p:spPr>
              <a:xfrm>
                <a:off x="2784" y="3024"/>
                <a:ext cx="336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57" name="Text Box 20"/>
              <p:cNvSpPr txBox="1"/>
              <p:nvPr/>
            </p:nvSpPr>
            <p:spPr>
              <a:xfrm>
                <a:off x="3168" y="2592"/>
                <a:ext cx="336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58" name="Text Box 21"/>
              <p:cNvSpPr txBox="1"/>
              <p:nvPr/>
            </p:nvSpPr>
            <p:spPr>
              <a:xfrm>
                <a:off x="3168" y="3216"/>
                <a:ext cx="336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59" name="Text Box 22"/>
              <p:cNvSpPr txBox="1"/>
              <p:nvPr/>
            </p:nvSpPr>
            <p:spPr>
              <a:xfrm>
                <a:off x="3552" y="2736"/>
                <a:ext cx="336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8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60" name="Text Box 23"/>
              <p:cNvSpPr txBox="1"/>
              <p:nvPr/>
            </p:nvSpPr>
            <p:spPr>
              <a:xfrm>
                <a:off x="4080" y="2592"/>
                <a:ext cx="336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27384" name="Text Box 24"/>
          <p:cNvSpPr txBox="1"/>
          <p:nvPr/>
        </p:nvSpPr>
        <p:spPr>
          <a:xfrm>
            <a:off x="5892800" y="1100138"/>
            <a:ext cx="4572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e,</a:t>
            </a:r>
            <a:endParaRPr lang="en-US" altLang="zh-CN" sz="2400" i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7385" name="Text Box 25"/>
          <p:cNvSpPr txBox="1"/>
          <p:nvPr/>
        </p:nvSpPr>
        <p:spPr>
          <a:xfrm>
            <a:off x="6197600" y="1100138"/>
            <a:ext cx="4572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f</a:t>
            </a:r>
            <a:endParaRPr lang="en-US" altLang="zh-CN" sz="2400" i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7386" name="Text Box 26"/>
          <p:cNvSpPr txBox="1"/>
          <p:nvPr/>
        </p:nvSpPr>
        <p:spPr>
          <a:xfrm>
            <a:off x="5054600" y="1557338"/>
            <a:ext cx="22098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点割集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:{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},{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},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7387" name="Text Box 27"/>
          <p:cNvSpPr txBox="1"/>
          <p:nvPr/>
        </p:nvSpPr>
        <p:spPr>
          <a:xfrm>
            <a:off x="5054600" y="1100138"/>
            <a:ext cx="9144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割点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7388" name="Text Box 28"/>
          <p:cNvSpPr txBox="1"/>
          <p:nvPr/>
        </p:nvSpPr>
        <p:spPr>
          <a:xfrm>
            <a:off x="7112000" y="1557338"/>
            <a:ext cx="10668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 i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7389" name="Text Box 29"/>
          <p:cNvSpPr txBox="1"/>
          <p:nvPr/>
        </p:nvSpPr>
        <p:spPr>
          <a:xfrm>
            <a:off x="5054600" y="2014538"/>
            <a:ext cx="6858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桥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7390" name="Text Box 30"/>
          <p:cNvSpPr txBox="1"/>
          <p:nvPr/>
        </p:nvSpPr>
        <p:spPr>
          <a:xfrm>
            <a:off x="5588000" y="2014538"/>
            <a:ext cx="4572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endParaRPr lang="en-US" altLang="zh-CN" sz="2400" i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7391" name="Text Box 31"/>
          <p:cNvSpPr txBox="1"/>
          <p:nvPr/>
        </p:nvSpPr>
        <p:spPr>
          <a:xfrm>
            <a:off x="5969000" y="2014538"/>
            <a:ext cx="4572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endParaRPr lang="en-US" altLang="zh-CN" sz="2400" i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7392" name="Text Box 32"/>
          <p:cNvSpPr txBox="1"/>
          <p:nvPr/>
        </p:nvSpPr>
        <p:spPr>
          <a:xfrm>
            <a:off x="5054600" y="2547938"/>
            <a:ext cx="24384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边割集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:{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},{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},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7393" name="Text Box 33"/>
          <p:cNvSpPr txBox="1"/>
          <p:nvPr/>
        </p:nvSpPr>
        <p:spPr>
          <a:xfrm>
            <a:off x="7340600" y="2547938"/>
            <a:ext cx="11430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},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7394" name="Text Box 34"/>
          <p:cNvSpPr txBox="1"/>
          <p:nvPr/>
        </p:nvSpPr>
        <p:spPr>
          <a:xfrm>
            <a:off x="5207000" y="3081338"/>
            <a:ext cx="16764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},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7395" name="Text Box 35"/>
          <p:cNvSpPr txBox="1"/>
          <p:nvPr/>
        </p:nvSpPr>
        <p:spPr>
          <a:xfrm>
            <a:off x="6654800" y="3081338"/>
            <a:ext cx="20574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7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7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7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7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7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7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7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7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7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7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7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7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7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7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27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27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27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27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27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27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27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27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27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27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9" dur="80"/>
                                        <p:tgtEl>
                                          <p:spTgt spid="52736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0" dur="80"/>
                                        <p:tgtEl>
                                          <p:spTgt spid="52736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80"/>
                                        <p:tgtEl>
                                          <p:spTgt spid="52736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charRg st="1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6" dur="80"/>
                                        <p:tgtEl>
                                          <p:spTgt spid="527363">
                                            <p:txEl>
                                              <p:charRg st="1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7" dur="80"/>
                                        <p:tgtEl>
                                          <p:spTgt spid="527363">
                                            <p:txEl>
                                              <p:charRg st="1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80"/>
                                        <p:tgtEl>
                                          <p:spTgt spid="527363">
                                            <p:txEl>
                                              <p:charRg st="11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charRg st="3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3" dur="80"/>
                                        <p:tgtEl>
                                          <p:spTgt spid="527363">
                                            <p:txEl>
                                              <p:charRg st="3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4" dur="80"/>
                                        <p:tgtEl>
                                          <p:spTgt spid="527363">
                                            <p:txEl>
                                              <p:charRg st="3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80"/>
                                        <p:tgtEl>
                                          <p:spTgt spid="527363">
                                            <p:txEl>
                                              <p:charRg st="3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0" dur="80"/>
                                        <p:tgtEl>
                                          <p:spTgt spid="527363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1" dur="80"/>
                                        <p:tgtEl>
                                          <p:spTgt spid="527363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80"/>
                                        <p:tgtEl>
                                          <p:spTgt spid="527363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84" grpId="0"/>
      <p:bldP spid="527385" grpId="0"/>
      <p:bldP spid="527386" grpId="0"/>
      <p:bldP spid="527387" grpId="0"/>
      <p:bldP spid="527388" grpId="0"/>
      <p:bldP spid="527389" grpId="0"/>
      <p:bldP spid="527390" grpId="0"/>
      <p:bldP spid="527391" grpId="0"/>
      <p:bldP spid="527392" grpId="0"/>
      <p:bldP spid="527393" grpId="0"/>
      <p:bldP spid="527394" grpId="0"/>
      <p:bldP spid="52739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5265738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点连通度与边连通度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8387" name="Rectangle 3"/>
          <p:cNvSpPr>
            <a:spLocks noGrp="1"/>
          </p:cNvSpPr>
          <p:nvPr>
            <p:ph idx="1"/>
          </p:nvPr>
        </p:nvSpPr>
        <p:spPr>
          <a:xfrm>
            <a:off x="242888" y="927100"/>
            <a:ext cx="8207375" cy="935038"/>
          </a:xfrm>
        </p:spPr>
        <p:txBody>
          <a:bodyPr vert="horz" wrap="square" lIns="91440" tIns="45720" rIns="91440" bIns="45720" anchor="t" anchorCtr="0"/>
          <a:p>
            <a:pPr marL="0" eaLnBrk="1" hangingPunct="1"/>
            <a:r>
              <a:rPr lang="zh-CN" altLang="en-US" sz="2200" dirty="0">
                <a:solidFill>
                  <a:srgbClr val="FF0000"/>
                </a:solidFill>
              </a:rPr>
              <a:t>定义</a:t>
            </a:r>
            <a:r>
              <a:rPr lang="en-US" altLang="zh-CN" sz="2200" dirty="0">
                <a:solidFill>
                  <a:srgbClr val="FF0000"/>
                </a:solidFill>
              </a:rPr>
              <a:t>11.18</a:t>
            </a:r>
            <a:r>
              <a:rPr lang="en-US" altLang="zh-CN" sz="2200" dirty="0"/>
              <a:t> </a:t>
            </a:r>
            <a:r>
              <a:rPr lang="zh-CN" altLang="en-US" sz="2200" dirty="0"/>
              <a:t>设无向连通图</a:t>
            </a:r>
            <a:r>
              <a:rPr lang="en-US" altLang="zh-CN" sz="2200" i="1" dirty="0"/>
              <a:t>G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&gt;,</a:t>
            </a:r>
            <a:endParaRPr lang="en-US" altLang="zh-CN" sz="2200" dirty="0"/>
          </a:p>
          <a:p>
            <a:pPr marL="0" eaLnBrk="1" hangingPunct="1"/>
            <a:r>
              <a:rPr lang="zh-CN" altLang="en-US" sz="2200" dirty="0"/>
              <a:t>称</a:t>
            </a:r>
            <a:r>
              <a:rPr lang="zh-CN" altLang="en-US" sz="2200" i="1" dirty="0">
                <a:sym typeface="Symbol" panose="05050102010706020507" pitchFamily="18" charset="2"/>
              </a:rPr>
              <a:t>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)=min{ |</a:t>
            </a:r>
            <a:r>
              <a:rPr lang="en-US" altLang="zh-CN" sz="2200" i="1" dirty="0"/>
              <a:t>V</a:t>
            </a:r>
            <a:r>
              <a:rPr lang="en-US" altLang="zh-CN" sz="2200" i="1" dirty="0">
                <a:sym typeface="Symbol" panose="05050102010706020507" pitchFamily="18" charset="2"/>
              </a:rPr>
              <a:t> </a:t>
            </a:r>
            <a:r>
              <a:rPr lang="en-US" altLang="zh-CN" sz="2200" dirty="0"/>
              <a:t>| | </a:t>
            </a:r>
            <a:r>
              <a:rPr lang="en-US" altLang="zh-CN" sz="2200" i="1" dirty="0"/>
              <a:t>V</a:t>
            </a:r>
            <a:r>
              <a:rPr lang="en-US" altLang="zh-CN" sz="2200" i="1" dirty="0">
                <a:sym typeface="Symbol" panose="05050102010706020507" pitchFamily="18" charset="2"/>
              </a:rPr>
              <a:t></a:t>
            </a:r>
            <a:r>
              <a:rPr lang="zh-CN" altLang="he-IL" sz="2200" dirty="0"/>
              <a:t>是</a:t>
            </a:r>
            <a:r>
              <a:rPr lang="en-US" altLang="zh-CN" sz="2200" i="1" dirty="0"/>
              <a:t>G</a:t>
            </a:r>
            <a:r>
              <a:rPr lang="zh-CN" altLang="en-US" sz="2200" dirty="0"/>
              <a:t>的点割集</a:t>
            </a:r>
            <a:r>
              <a:rPr lang="en-US" altLang="zh-CN" sz="2200" dirty="0"/>
              <a:t>}</a:t>
            </a:r>
            <a:r>
              <a:rPr lang="zh-CN" altLang="en-US" sz="2200" dirty="0"/>
              <a:t>为</a:t>
            </a:r>
            <a:r>
              <a:rPr lang="en-US" altLang="zh-CN" sz="2200" i="1" dirty="0"/>
              <a:t>G</a:t>
            </a:r>
            <a:r>
              <a:rPr lang="zh-CN" altLang="en-US" sz="2200" dirty="0"/>
              <a:t>的</a:t>
            </a:r>
            <a:r>
              <a:rPr lang="zh-CN" altLang="en-US" sz="2200" dirty="0">
                <a:solidFill>
                  <a:srgbClr val="FF0000"/>
                </a:solidFill>
              </a:rPr>
              <a:t>点连通度</a:t>
            </a:r>
            <a:r>
              <a:rPr lang="en-US" altLang="zh-CN" sz="2200" dirty="0">
                <a:solidFill>
                  <a:srgbClr val="FF0000"/>
                </a:solidFill>
              </a:rPr>
              <a:t>.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55625" y="4691063"/>
            <a:ext cx="7924800" cy="1828800"/>
            <a:chOff x="432" y="2880"/>
            <a:chExt cx="4992" cy="1152"/>
          </a:xfrm>
        </p:grpSpPr>
        <p:sp>
          <p:nvSpPr>
            <p:cNvPr id="40966" name="Text Box 5"/>
            <p:cNvSpPr txBox="1"/>
            <p:nvPr/>
          </p:nvSpPr>
          <p:spPr>
            <a:xfrm>
              <a:off x="432" y="2880"/>
              <a:ext cx="4992" cy="1152"/>
            </a:xfrm>
            <a:prstGeom prst="rect">
              <a:avLst/>
            </a:prstGeom>
            <a:solidFill>
              <a:srgbClr val="CCFFFF"/>
            </a:solidFill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25000"/>
                </a:spcBef>
                <a:buClrTx/>
                <a:buSzTx/>
                <a:buFontTx/>
              </a:pPr>
              <a:r>
                <a:rPr lang="zh-CN" altLang="en-US" sz="24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例如</a:t>
              </a:r>
              <a:endParaRPr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25000"/>
                </a:spcBef>
                <a:buClrTx/>
                <a:buSzTx/>
                <a:buFontTx/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25000"/>
                </a:spcBef>
                <a:buClrTx/>
                <a:buSzTx/>
                <a:buFontTx/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25000"/>
                </a:spcBef>
                <a:buClrTx/>
                <a:buSzTx/>
                <a:buFontTx/>
              </a:pPr>
              <a:endPara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40967" name="Picture 6" descr="连通度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24" y="2890"/>
              <a:ext cx="1392" cy="114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28391" name="Text Box 7"/>
          <p:cNvSpPr txBox="1"/>
          <p:nvPr/>
        </p:nvSpPr>
        <p:spPr>
          <a:xfrm>
            <a:off x="6659563" y="5219700"/>
            <a:ext cx="6096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8392" name="Text Box 8"/>
          <p:cNvSpPr txBox="1"/>
          <p:nvPr/>
        </p:nvSpPr>
        <p:spPr>
          <a:xfrm>
            <a:off x="5724525" y="5135563"/>
            <a:ext cx="1143000" cy="519112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r>
              <a:rPr lang="en-US" altLang="zh-CN" sz="2800" i="1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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)=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8393" name="Text Box 9"/>
          <p:cNvSpPr txBox="1"/>
          <p:nvPr/>
        </p:nvSpPr>
        <p:spPr>
          <a:xfrm>
            <a:off x="6677025" y="5676900"/>
            <a:ext cx="6096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8394" name="Text Box 10"/>
          <p:cNvSpPr txBox="1"/>
          <p:nvPr/>
        </p:nvSpPr>
        <p:spPr>
          <a:xfrm>
            <a:off x="5775325" y="5676900"/>
            <a:ext cx="11430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8395" name="Rectangle 11"/>
          <p:cNvSpPr/>
          <p:nvPr/>
        </p:nvSpPr>
        <p:spPr>
          <a:xfrm>
            <a:off x="482600" y="2706688"/>
            <a:ext cx="7275513" cy="930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11.19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设无向连通图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&gt;,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称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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)=min{ |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| |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zh-CN" altLang="he-IL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的边割集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边连通度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8397" name="Rectangle 13"/>
          <p:cNvSpPr/>
          <p:nvPr/>
        </p:nvSpPr>
        <p:spPr>
          <a:xfrm>
            <a:off x="400050" y="1804988"/>
            <a:ext cx="5434013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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≥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为非负整数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则称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连通图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8398" name="Rectangle 14"/>
          <p:cNvSpPr/>
          <p:nvPr/>
        </p:nvSpPr>
        <p:spPr>
          <a:xfrm>
            <a:off x="163513" y="3549650"/>
            <a:ext cx="4694237" cy="493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 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)≥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，则称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连通图。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8400" name="Rectangle 16"/>
          <p:cNvSpPr/>
          <p:nvPr/>
        </p:nvSpPr>
        <p:spPr>
          <a:xfrm>
            <a:off x="423863" y="4024313"/>
            <a:ext cx="7596187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indent="567055"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边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连通图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则在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中删除任意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条边后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所得图是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8401" name="Rectangle 17"/>
          <p:cNvSpPr/>
          <p:nvPr/>
        </p:nvSpPr>
        <p:spPr>
          <a:xfrm>
            <a:off x="7864475" y="4024313"/>
            <a:ext cx="1096963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连通的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8402" name="Rectangle 18"/>
          <p:cNvSpPr/>
          <p:nvPr/>
        </p:nvSpPr>
        <p:spPr>
          <a:xfrm>
            <a:off x="381000" y="2279650"/>
            <a:ext cx="6953250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连通图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则在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中删除任何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个顶点后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所得图是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8403" name="Rectangle 19"/>
          <p:cNvSpPr/>
          <p:nvPr/>
        </p:nvSpPr>
        <p:spPr>
          <a:xfrm>
            <a:off x="7158038" y="2279650"/>
            <a:ext cx="1096962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连通的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28387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28387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28387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charRg st="23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28387">
                                            <p:txEl>
                                              <p:charRg st="23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28387">
                                            <p:txEl>
                                              <p:charRg st="23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28387">
                                            <p:txEl>
                                              <p:charRg st="23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28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283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283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284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284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284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28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284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284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2839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2839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2839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52839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52839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52839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5">
                                            <p:txEl>
                                              <p:charRg st="2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4" dur="80"/>
                                        <p:tgtEl>
                                          <p:spTgt spid="528395">
                                            <p:txEl>
                                              <p:charRg st="2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5" dur="80"/>
                                        <p:tgtEl>
                                          <p:spTgt spid="528395">
                                            <p:txEl>
                                              <p:charRg st="2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80"/>
                                        <p:tgtEl>
                                          <p:spTgt spid="528395">
                                            <p:txEl>
                                              <p:charRg st="2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1" dur="80"/>
                                        <p:tgtEl>
                                          <p:spTgt spid="5283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2" dur="80"/>
                                        <p:tgtEl>
                                          <p:spTgt spid="5283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80"/>
                                        <p:tgtEl>
                                          <p:spTgt spid="5283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8" dur="80"/>
                                        <p:tgtEl>
                                          <p:spTgt spid="5284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9" dur="80"/>
                                        <p:tgtEl>
                                          <p:spTgt spid="5284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80"/>
                                        <p:tgtEl>
                                          <p:spTgt spid="5284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5" dur="80"/>
                                        <p:tgtEl>
                                          <p:spTgt spid="528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6" dur="80"/>
                                        <p:tgtEl>
                                          <p:spTgt spid="5284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80"/>
                                        <p:tgtEl>
                                          <p:spTgt spid="5284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28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28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8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8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28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28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28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28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387" grpId="0" build="p"/>
      <p:bldP spid="528391" grpId="0"/>
      <p:bldP spid="528392" grpId="0"/>
      <p:bldP spid="528393" grpId="0"/>
      <p:bldP spid="528394" grpId="0"/>
      <p:bldP spid="528395" grpId="0" build="allAtOnce"/>
      <p:bldP spid="528397" grpId="0"/>
      <p:bldP spid="528398" grpId="0"/>
      <p:bldP spid="528400" grpId="0"/>
      <p:bldP spid="528401" grpId="0"/>
      <p:bldP spid="528402" grpId="0"/>
      <p:bldP spid="52840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点连通度与边连通度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</a:t>
            </a: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续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1" lang="en-US" altLang="zh-CN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9411" name="Rectangle 3"/>
          <p:cNvSpPr>
            <a:spLocks noGrp="1"/>
          </p:cNvSpPr>
          <p:nvPr>
            <p:ph idx="1"/>
          </p:nvPr>
        </p:nvSpPr>
        <p:spPr>
          <a:xfrm>
            <a:off x="423863" y="946150"/>
            <a:ext cx="8269287" cy="3024188"/>
          </a:xfrm>
        </p:spPr>
        <p:txBody>
          <a:bodyPr vert="horz" wrap="square" lIns="91440" tIns="45720" rIns="91440" bIns="45720" anchor="t" anchorCtr="0"/>
          <a:p>
            <a:pPr marL="0" eaLnBrk="1" hangingPunct="1">
              <a:lnSpc>
                <a:spcPct val="120000"/>
              </a:lnSpc>
            </a:pPr>
            <a:r>
              <a:rPr lang="zh-CN" altLang="en-US" sz="2200" dirty="0"/>
              <a:t>说明</a:t>
            </a:r>
            <a:r>
              <a:rPr lang="en-US" altLang="zh-CN" sz="2200" dirty="0"/>
              <a:t>:</a:t>
            </a:r>
            <a:endParaRPr lang="en-US" altLang="zh-CN" sz="2200" dirty="0"/>
          </a:p>
          <a:p>
            <a:pPr marL="0" eaLnBrk="1" hangingPunct="1">
              <a:lnSpc>
                <a:spcPct val="120000"/>
              </a:lnSpc>
            </a:pPr>
            <a:r>
              <a:rPr lang="en-US" altLang="zh-CN" sz="2200" dirty="0"/>
              <a:t>(1) </a:t>
            </a:r>
            <a:r>
              <a:rPr lang="zh-CN" altLang="en-US" sz="2200" dirty="0"/>
              <a:t>若</a:t>
            </a:r>
            <a:r>
              <a:rPr lang="en-US" altLang="zh-CN" sz="2200" i="1" dirty="0"/>
              <a:t>G</a:t>
            </a:r>
            <a:r>
              <a:rPr lang="zh-CN" altLang="en-US" sz="2200" dirty="0"/>
              <a:t>是平凡图</a:t>
            </a:r>
            <a:r>
              <a:rPr lang="en-US" altLang="zh-CN" sz="2200" dirty="0"/>
              <a:t>, </a:t>
            </a:r>
            <a:r>
              <a:rPr lang="zh-CN" altLang="en-US" sz="2200" dirty="0"/>
              <a:t>则</a:t>
            </a:r>
            <a:r>
              <a:rPr lang="zh-CN" altLang="en-US" sz="2200" i="1" dirty="0">
                <a:sym typeface="Symbol" panose="05050102010706020507" pitchFamily="18" charset="2"/>
              </a:rPr>
              <a:t>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)=0, </a:t>
            </a:r>
            <a:r>
              <a:rPr lang="en-US" altLang="zh-CN" sz="2200" i="1" dirty="0">
                <a:sym typeface="Symbol" panose="05050102010706020507" pitchFamily="18" charset="2"/>
              </a:rPr>
              <a:t>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)=0.</a:t>
            </a:r>
            <a:endParaRPr lang="en-US" altLang="zh-CN" sz="2200" dirty="0"/>
          </a:p>
          <a:p>
            <a:pPr marL="0" eaLnBrk="1" hangingPunct="1">
              <a:lnSpc>
                <a:spcPct val="120000"/>
              </a:lnSpc>
            </a:pPr>
            <a:r>
              <a:rPr lang="en-US" altLang="zh-CN" sz="2200" dirty="0"/>
              <a:t>(2) </a:t>
            </a:r>
            <a:r>
              <a:rPr lang="zh-CN" altLang="en-US" sz="2200" dirty="0"/>
              <a:t>若</a:t>
            </a:r>
            <a:r>
              <a:rPr lang="en-US" altLang="zh-CN" sz="2200" i="1" dirty="0"/>
              <a:t>G</a:t>
            </a:r>
            <a:r>
              <a:rPr lang="zh-CN" altLang="en-US" sz="2200" dirty="0"/>
              <a:t>是完全图</a:t>
            </a:r>
            <a:r>
              <a:rPr lang="en-US" altLang="zh-CN" sz="2200" i="1" dirty="0"/>
              <a:t>K</a:t>
            </a:r>
            <a:r>
              <a:rPr lang="en-US" altLang="zh-CN" sz="2200" i="1" baseline="-25000" dirty="0"/>
              <a:t>n</a:t>
            </a:r>
            <a:r>
              <a:rPr lang="en-US" altLang="zh-CN" sz="2200" dirty="0"/>
              <a:t>, </a:t>
            </a:r>
            <a:r>
              <a:rPr lang="zh-CN" altLang="en-US" sz="2200" dirty="0"/>
              <a:t>则</a:t>
            </a:r>
            <a:r>
              <a:rPr lang="zh-CN" altLang="en-US" sz="2200" i="1" dirty="0">
                <a:sym typeface="Symbol" panose="05050102010706020507" pitchFamily="18" charset="2"/>
              </a:rPr>
              <a:t>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)=</a:t>
            </a:r>
            <a:r>
              <a:rPr lang="en-US" altLang="zh-CN" sz="2200" i="1" dirty="0"/>
              <a:t>n</a:t>
            </a:r>
            <a:r>
              <a:rPr lang="en-US" altLang="zh-CN" sz="2200" dirty="0">
                <a:sym typeface="Symbol" panose="05050102010706020507" pitchFamily="18" charset="2"/>
              </a:rPr>
              <a:t></a:t>
            </a:r>
            <a:r>
              <a:rPr lang="en-US" altLang="zh-CN" sz="2200" dirty="0"/>
              <a:t>1, </a:t>
            </a:r>
            <a:r>
              <a:rPr lang="en-US" altLang="zh-CN" sz="2200" i="1" dirty="0">
                <a:sym typeface="Symbol" panose="05050102010706020507" pitchFamily="18" charset="2"/>
              </a:rPr>
              <a:t>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)= </a:t>
            </a:r>
            <a:r>
              <a:rPr lang="en-US" altLang="zh-CN" sz="2200" i="1" dirty="0"/>
              <a:t>n</a:t>
            </a:r>
            <a:r>
              <a:rPr lang="en-US" altLang="zh-CN" sz="2200" dirty="0">
                <a:sym typeface="Symbol" panose="05050102010706020507" pitchFamily="18" charset="2"/>
              </a:rPr>
              <a:t></a:t>
            </a:r>
            <a:r>
              <a:rPr lang="en-US" altLang="zh-CN" sz="2200" dirty="0"/>
              <a:t>1.</a:t>
            </a:r>
            <a:endParaRPr lang="en-US" altLang="zh-CN" sz="2200" dirty="0"/>
          </a:p>
          <a:p>
            <a:pPr marL="0" eaLnBrk="1" hangingPunct="1">
              <a:lnSpc>
                <a:spcPct val="120000"/>
              </a:lnSpc>
            </a:pPr>
            <a:r>
              <a:rPr lang="en-US" altLang="zh-CN" sz="2200" dirty="0"/>
              <a:t>(3) </a:t>
            </a:r>
            <a:r>
              <a:rPr lang="zh-CN" altLang="en-US" sz="2200" dirty="0"/>
              <a:t>若</a:t>
            </a:r>
            <a:r>
              <a:rPr lang="en-US" altLang="zh-CN" sz="2200" i="1" dirty="0"/>
              <a:t>G</a:t>
            </a:r>
            <a:r>
              <a:rPr lang="zh-CN" altLang="en-US" sz="2200" dirty="0"/>
              <a:t>中存在割点</a:t>
            </a:r>
            <a:r>
              <a:rPr lang="en-US" altLang="zh-CN" sz="2200" dirty="0"/>
              <a:t>, </a:t>
            </a:r>
            <a:r>
              <a:rPr lang="zh-CN" altLang="en-US" sz="2200" dirty="0"/>
              <a:t>则</a:t>
            </a:r>
            <a:r>
              <a:rPr lang="zh-CN" altLang="en-US" sz="2200" i="1" dirty="0">
                <a:sym typeface="Symbol" panose="05050102010706020507" pitchFamily="18" charset="2"/>
              </a:rPr>
              <a:t>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)=1;</a:t>
            </a:r>
            <a:endParaRPr lang="en-US" altLang="zh-CN" sz="2200" dirty="0"/>
          </a:p>
          <a:p>
            <a:pPr marL="0" eaLnBrk="1" hangingPunct="1">
              <a:lnSpc>
                <a:spcPct val="120000"/>
              </a:lnSpc>
            </a:pPr>
            <a:r>
              <a:rPr lang="en-US" altLang="zh-CN" sz="2200" dirty="0"/>
              <a:t>     </a:t>
            </a:r>
            <a:r>
              <a:rPr lang="zh-CN" altLang="en-US" sz="2200" dirty="0"/>
              <a:t>若</a:t>
            </a:r>
            <a:r>
              <a:rPr lang="en-US" altLang="zh-CN" sz="2200" i="1" dirty="0"/>
              <a:t>G</a:t>
            </a:r>
            <a:r>
              <a:rPr lang="zh-CN" altLang="en-US" sz="2200" dirty="0"/>
              <a:t>中存在割边</a:t>
            </a:r>
            <a:r>
              <a:rPr lang="en-US" altLang="zh-CN" sz="2200" dirty="0"/>
              <a:t>, </a:t>
            </a:r>
            <a:r>
              <a:rPr lang="zh-CN" altLang="en-US" sz="2200" dirty="0"/>
              <a:t>则 </a:t>
            </a:r>
            <a:r>
              <a:rPr lang="zh-CN" altLang="en-US" sz="2200" i="1" dirty="0">
                <a:sym typeface="Symbol" panose="05050102010706020507" pitchFamily="18" charset="2"/>
              </a:rPr>
              <a:t>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)= 1.</a:t>
            </a:r>
            <a:endParaRPr lang="en-US" altLang="zh-CN" sz="2200" dirty="0"/>
          </a:p>
          <a:p>
            <a:pPr marL="0" eaLnBrk="1" hangingPunct="1">
              <a:lnSpc>
                <a:spcPct val="120000"/>
              </a:lnSpc>
            </a:pPr>
            <a:r>
              <a:rPr lang="en-US" altLang="zh-CN" sz="2200" dirty="0"/>
              <a:t>(4) </a:t>
            </a:r>
            <a:r>
              <a:rPr lang="zh-CN" altLang="en-US" sz="2200" dirty="0"/>
              <a:t>规定非连通图的点连通度和边连通度均为</a:t>
            </a:r>
            <a:r>
              <a:rPr lang="en-US" altLang="zh-CN" sz="2200" dirty="0"/>
              <a:t>0.</a:t>
            </a:r>
            <a:endParaRPr lang="en-US" altLang="zh-CN" sz="2200" dirty="0"/>
          </a:p>
        </p:txBody>
      </p:sp>
      <p:sp>
        <p:nvSpPr>
          <p:cNvPr id="529412" name="Rectangle 4"/>
          <p:cNvSpPr/>
          <p:nvPr/>
        </p:nvSpPr>
        <p:spPr>
          <a:xfrm>
            <a:off x="482600" y="5581650"/>
            <a:ext cx="6553200" cy="493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11.7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对任何无向图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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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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29414" name="Rectangle 6"/>
          <p:cNvSpPr/>
          <p:nvPr/>
        </p:nvSpPr>
        <p:spPr>
          <a:xfrm>
            <a:off x="603250" y="3773488"/>
            <a:ext cx="6030913" cy="12493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spcBef>
                <a:spcPct val="0"/>
              </a:spcBef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(5)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都是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阶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无向简单图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κ(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＞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κ(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，则称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比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的点连通程度高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λ(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＞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λ(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，则称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比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的边连通程度高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2941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2941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29411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charRg st="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29411">
                                            <p:txEl>
                                              <p:charRg st="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29411">
                                            <p:txEl>
                                              <p:charRg st="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29411">
                                            <p:txEl>
                                              <p:charRg st="4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charRg st="33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29411">
                                            <p:txEl>
                                              <p:charRg st="33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29411">
                                            <p:txEl>
                                              <p:charRg st="33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29411">
                                            <p:txEl>
                                              <p:charRg st="33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charRg st="69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29411">
                                            <p:txEl>
                                              <p:charRg st="69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29411">
                                            <p:txEl>
                                              <p:charRg st="69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29411">
                                            <p:txEl>
                                              <p:charRg st="69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charRg st="91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29411">
                                            <p:txEl>
                                              <p:charRg st="91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29411">
                                            <p:txEl>
                                              <p:charRg st="91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29411">
                                            <p:txEl>
                                              <p:charRg st="91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1">
                                            <p:txEl>
                                              <p:charRg st="116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29411">
                                            <p:txEl>
                                              <p:charRg st="116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29411">
                                            <p:txEl>
                                              <p:charRg st="116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29411">
                                            <p:txEl>
                                              <p:charRg st="116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52941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52941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52941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4">
                                            <p:txEl>
                                              <p:charRg st="20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529414">
                                            <p:txEl>
                                              <p:charRg st="20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529414">
                                            <p:txEl>
                                              <p:charRg st="20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529414">
                                            <p:txEl>
                                              <p:charRg st="20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4">
                                            <p:txEl>
                                              <p:charRg st="49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529414">
                                            <p:txEl>
                                              <p:charRg st="49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529414">
                                            <p:txEl>
                                              <p:charRg st="49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529414">
                                            <p:txEl>
                                              <p:charRg st="49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5294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5294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5294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有向图的连通性及其分类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0435" name="Rectangle 3"/>
          <p:cNvSpPr>
            <a:spLocks noGrp="1"/>
          </p:cNvSpPr>
          <p:nvPr>
            <p:ph idx="1"/>
          </p:nvPr>
        </p:nvSpPr>
        <p:spPr>
          <a:xfrm>
            <a:off x="482600" y="1204913"/>
            <a:ext cx="8178800" cy="4689475"/>
          </a:xfrm>
        </p:spPr>
        <p:txBody>
          <a:bodyPr vert="horz" wrap="square" lIns="91440" tIns="45720" rIns="91440" bIns="45720" anchor="t" anchorCtr="0"/>
          <a:p>
            <a:pPr marL="0" indent="0" algn="just" eaLnBrk="1" hangingPunct="1">
              <a:lnSpc>
                <a:spcPct val="120000"/>
              </a:lnSpc>
            </a:pPr>
            <a:r>
              <a:rPr lang="zh-CN" altLang="en-US" sz="2200" dirty="0">
                <a:solidFill>
                  <a:schemeClr val="hlink"/>
                </a:solidFill>
              </a:rPr>
              <a:t>定义</a:t>
            </a:r>
            <a:r>
              <a:rPr lang="en-US" altLang="zh-CN" sz="2200" dirty="0">
                <a:solidFill>
                  <a:schemeClr val="hlink"/>
                </a:solidFill>
              </a:rPr>
              <a:t>11.20</a:t>
            </a:r>
            <a:r>
              <a:rPr lang="en-US" altLang="zh-CN" sz="2200" dirty="0"/>
              <a:t> </a:t>
            </a:r>
            <a:r>
              <a:rPr lang="zh-CN" altLang="en-US" sz="2200" dirty="0"/>
              <a:t>设有向图</a:t>
            </a:r>
            <a:r>
              <a:rPr lang="en-US" altLang="zh-CN" sz="2200" i="1" dirty="0"/>
              <a:t>D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&gt;, </a:t>
            </a:r>
            <a:r>
              <a:rPr lang="en-US" altLang="zh-CN" sz="2200" i="1" dirty="0"/>
              <a:t>u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V</a:t>
            </a:r>
            <a:r>
              <a:rPr lang="en-US" altLang="zh-CN" sz="2200" dirty="0"/>
              <a:t>, </a:t>
            </a:r>
            <a:endParaRPr lang="en-US" altLang="zh-CN" sz="2200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en-US" altLang="zh-CN" sz="2200" i="1" dirty="0">
                <a:solidFill>
                  <a:srgbClr val="FF3300"/>
                </a:solidFill>
              </a:rPr>
              <a:t>   u</a:t>
            </a:r>
            <a:r>
              <a:rPr lang="zh-CN" altLang="en-US" sz="2200" dirty="0">
                <a:solidFill>
                  <a:srgbClr val="FF3300"/>
                </a:solidFill>
              </a:rPr>
              <a:t>可达</a:t>
            </a:r>
            <a:r>
              <a:rPr lang="en-US" altLang="zh-CN" sz="2200" i="1" dirty="0">
                <a:solidFill>
                  <a:srgbClr val="FF3300"/>
                </a:solidFill>
              </a:rPr>
              <a:t>v</a:t>
            </a:r>
            <a:r>
              <a:rPr lang="en-US" altLang="zh-CN" sz="2200" dirty="0"/>
              <a:t>: </a:t>
            </a:r>
            <a:r>
              <a:rPr lang="en-US" altLang="zh-CN" sz="2200" i="1" dirty="0"/>
              <a:t>u</a:t>
            </a:r>
            <a:r>
              <a:rPr lang="zh-CN" altLang="en-US" sz="2200" dirty="0"/>
              <a:t>到</a:t>
            </a:r>
            <a:r>
              <a:rPr lang="en-US" altLang="zh-CN" sz="2200" i="1" dirty="0"/>
              <a:t>v</a:t>
            </a:r>
            <a:r>
              <a:rPr lang="zh-CN" altLang="en-US" sz="2200" dirty="0"/>
              <a:t>有通路</a:t>
            </a:r>
            <a:r>
              <a:rPr lang="en-US" altLang="zh-CN" sz="2200" dirty="0"/>
              <a:t>. </a:t>
            </a:r>
            <a:r>
              <a:rPr lang="zh-CN" altLang="en-US" sz="2200" dirty="0"/>
              <a:t>规定</a:t>
            </a:r>
            <a:r>
              <a:rPr lang="en-US" altLang="zh-CN" sz="2200" i="1" dirty="0"/>
              <a:t>u</a:t>
            </a:r>
            <a:r>
              <a:rPr lang="zh-CN" altLang="en-US" sz="2200" dirty="0"/>
              <a:t>到自身总是可达的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en-US" altLang="zh-CN" sz="2200" i="1" dirty="0">
                <a:solidFill>
                  <a:srgbClr val="FF0000"/>
                </a:solidFill>
              </a:rPr>
              <a:t>   u</a:t>
            </a:r>
            <a:r>
              <a:rPr lang="zh-CN" altLang="en-US" sz="2200" dirty="0">
                <a:solidFill>
                  <a:srgbClr val="FF0000"/>
                </a:solidFill>
                <a:sym typeface="Symbol" panose="05050102010706020507" pitchFamily="18" charset="2"/>
              </a:rPr>
              <a:t>与</a:t>
            </a:r>
            <a:r>
              <a:rPr lang="en-US" altLang="zh-CN" sz="2200" i="1" dirty="0">
                <a:solidFill>
                  <a:srgbClr val="FF0000"/>
                </a:solidFill>
              </a:rPr>
              <a:t>v</a:t>
            </a:r>
            <a:r>
              <a:rPr lang="zh-CN" altLang="en-US" sz="2200" dirty="0">
                <a:solidFill>
                  <a:srgbClr val="FF0000"/>
                </a:solidFill>
              </a:rPr>
              <a:t>相互可达</a:t>
            </a:r>
            <a:r>
              <a:rPr lang="en-US" altLang="zh-CN" sz="2200" dirty="0"/>
              <a:t>: </a:t>
            </a:r>
            <a:r>
              <a:rPr lang="en-US" altLang="zh-CN" sz="2200" i="1" dirty="0"/>
              <a:t>u</a:t>
            </a:r>
            <a:r>
              <a:rPr lang="zh-CN" altLang="en-US" sz="2200" dirty="0"/>
              <a:t>可达</a:t>
            </a:r>
            <a:r>
              <a:rPr lang="en-US" altLang="zh-CN" sz="2200" i="1" dirty="0"/>
              <a:t>v</a:t>
            </a:r>
            <a:r>
              <a:rPr lang="zh-CN" altLang="en-US" sz="2200" dirty="0"/>
              <a:t>且</a:t>
            </a:r>
            <a:r>
              <a:rPr lang="en-US" altLang="zh-CN" sz="2200" i="1" dirty="0"/>
              <a:t>v</a:t>
            </a:r>
            <a:r>
              <a:rPr lang="zh-CN" altLang="en-US" sz="2200" dirty="0"/>
              <a:t>可达</a:t>
            </a:r>
            <a:r>
              <a:rPr lang="en-US" altLang="zh-CN" sz="2200" i="1" dirty="0"/>
              <a:t>u</a:t>
            </a:r>
            <a:endParaRPr lang="en-US" altLang="zh-CN" sz="2200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zh-CN" altLang="en-US" sz="2200" dirty="0">
                <a:solidFill>
                  <a:schemeClr val="hlink"/>
                </a:solidFill>
              </a:rPr>
              <a:t>定义</a:t>
            </a:r>
            <a:r>
              <a:rPr lang="en-US" altLang="zh-CN" sz="2200" dirty="0">
                <a:solidFill>
                  <a:schemeClr val="hlink"/>
                </a:solidFill>
              </a:rPr>
              <a:t>11.22</a:t>
            </a:r>
            <a:r>
              <a:rPr lang="en-US" altLang="zh-CN" sz="2200" dirty="0"/>
              <a:t> </a:t>
            </a:r>
            <a:r>
              <a:rPr lang="zh-CN" altLang="en-US" sz="2200" dirty="0"/>
              <a:t>设有向图</a:t>
            </a:r>
            <a:r>
              <a:rPr lang="en-US" altLang="zh-CN" sz="2200" i="1" dirty="0"/>
              <a:t>D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&gt;, </a:t>
            </a:r>
            <a:endParaRPr lang="en-US" altLang="zh-CN" sz="2200" i="1" dirty="0">
              <a:solidFill>
                <a:srgbClr val="FF3300"/>
              </a:solidFill>
            </a:endParaRPr>
          </a:p>
          <a:p>
            <a:pPr marL="0" indent="0" algn="just" eaLnBrk="1" hangingPunct="1">
              <a:lnSpc>
                <a:spcPct val="120000"/>
              </a:lnSpc>
            </a:pPr>
            <a:r>
              <a:rPr lang="en-US" altLang="zh-CN" sz="2200" i="1" dirty="0">
                <a:solidFill>
                  <a:srgbClr val="FF3300"/>
                </a:solidFill>
              </a:rPr>
              <a:t>   D</a:t>
            </a:r>
            <a:r>
              <a:rPr lang="zh-CN" altLang="en-US" sz="2200" dirty="0">
                <a:solidFill>
                  <a:srgbClr val="FF3300"/>
                </a:solidFill>
              </a:rPr>
              <a:t>弱连通</a:t>
            </a:r>
            <a:r>
              <a:rPr lang="en-US" altLang="zh-CN" sz="2200" dirty="0">
                <a:solidFill>
                  <a:srgbClr val="FF3300"/>
                </a:solidFill>
              </a:rPr>
              <a:t>(</a:t>
            </a:r>
            <a:r>
              <a:rPr lang="zh-CN" altLang="en-US" sz="2200" dirty="0">
                <a:solidFill>
                  <a:srgbClr val="FF3300"/>
                </a:solidFill>
              </a:rPr>
              <a:t>连通</a:t>
            </a:r>
            <a:r>
              <a:rPr lang="en-US" altLang="zh-CN" sz="2200" dirty="0">
                <a:solidFill>
                  <a:srgbClr val="FF3300"/>
                </a:solidFill>
              </a:rPr>
              <a:t>)</a:t>
            </a:r>
            <a:r>
              <a:rPr lang="en-US" altLang="zh-CN" sz="2200" dirty="0"/>
              <a:t>: </a:t>
            </a:r>
            <a:r>
              <a:rPr lang="zh-CN" altLang="en-US" sz="2200" dirty="0"/>
              <a:t>略去各边的方向所得无向图为连通图</a:t>
            </a:r>
            <a:endParaRPr lang="zh-CN" altLang="en-US" sz="2200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zh-CN" altLang="en-US" sz="2200" i="1" dirty="0">
                <a:solidFill>
                  <a:srgbClr val="FF3300"/>
                </a:solidFill>
              </a:rPr>
              <a:t>   </a:t>
            </a:r>
            <a:r>
              <a:rPr lang="en-US" altLang="zh-CN" sz="2200" i="1" dirty="0">
                <a:solidFill>
                  <a:srgbClr val="FF3300"/>
                </a:solidFill>
              </a:rPr>
              <a:t>D</a:t>
            </a:r>
            <a:r>
              <a:rPr lang="zh-CN" altLang="en-US" sz="2200" dirty="0">
                <a:solidFill>
                  <a:srgbClr val="FF3300"/>
                </a:solidFill>
              </a:rPr>
              <a:t>单向连通</a:t>
            </a:r>
            <a:r>
              <a:rPr lang="en-US" altLang="zh-CN" sz="2200" dirty="0"/>
              <a:t>: </a:t>
            </a:r>
            <a:r>
              <a:rPr lang="en-US" altLang="zh-CN" sz="2200" dirty="0">
                <a:sym typeface="Symbol" panose="05050102010706020507" pitchFamily="18" charset="2"/>
              </a:rPr>
              <a:t></a:t>
            </a:r>
            <a:r>
              <a:rPr lang="en-US" altLang="zh-CN" sz="2200" i="1" dirty="0"/>
              <a:t>u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V</a:t>
            </a:r>
            <a:r>
              <a:rPr lang="zh-CN" altLang="en-US" sz="2200" dirty="0"/>
              <a:t>，</a:t>
            </a:r>
            <a:r>
              <a:rPr lang="en-US" altLang="zh-CN" sz="2200" i="1" dirty="0"/>
              <a:t>u</a:t>
            </a:r>
            <a:r>
              <a:rPr lang="zh-CN" altLang="en-US" sz="2200" dirty="0"/>
              <a:t>可达</a:t>
            </a:r>
            <a:r>
              <a:rPr lang="en-US" altLang="zh-CN" sz="2200" i="1" dirty="0"/>
              <a:t>v</a:t>
            </a:r>
            <a:r>
              <a:rPr lang="en-US" altLang="zh-CN" sz="2200" dirty="0"/>
              <a:t> </a:t>
            </a:r>
            <a:r>
              <a:rPr lang="zh-CN" altLang="en-US" sz="2200" dirty="0"/>
              <a:t>或</a:t>
            </a:r>
            <a:r>
              <a:rPr lang="en-US" altLang="zh-CN" sz="2200" i="1" dirty="0"/>
              <a:t>v</a:t>
            </a:r>
            <a:r>
              <a:rPr lang="zh-CN" altLang="en-US" sz="2200" dirty="0">
                <a:sym typeface="Symbol" panose="05050102010706020507" pitchFamily="18" charset="2"/>
              </a:rPr>
              <a:t>可达</a:t>
            </a:r>
            <a:r>
              <a:rPr lang="en-US" altLang="zh-CN" sz="2200" i="1" dirty="0"/>
              <a:t>u</a:t>
            </a:r>
            <a:r>
              <a:rPr lang="en-US" altLang="zh-CN" sz="2200" dirty="0"/>
              <a:t> </a:t>
            </a:r>
            <a:endParaRPr lang="en-US" altLang="zh-CN" sz="2200" dirty="0"/>
          </a:p>
          <a:p>
            <a:pPr marL="0" indent="0" algn="just" eaLnBrk="1" hangingPunct="1">
              <a:lnSpc>
                <a:spcPct val="120000"/>
              </a:lnSpc>
            </a:pPr>
            <a:r>
              <a:rPr lang="en-US" altLang="zh-CN" sz="2200" i="1" dirty="0">
                <a:solidFill>
                  <a:srgbClr val="FF3300"/>
                </a:solidFill>
              </a:rPr>
              <a:t>   D</a:t>
            </a:r>
            <a:r>
              <a:rPr lang="zh-CN" altLang="en-US" sz="2200" dirty="0">
                <a:solidFill>
                  <a:srgbClr val="FF3300"/>
                </a:solidFill>
              </a:rPr>
              <a:t>强连通</a:t>
            </a:r>
            <a:r>
              <a:rPr lang="en-US" altLang="zh-CN" sz="2200" dirty="0"/>
              <a:t>: </a:t>
            </a:r>
            <a:r>
              <a:rPr lang="en-US" altLang="zh-CN" sz="2200" dirty="0">
                <a:sym typeface="Symbol" panose="05050102010706020507" pitchFamily="18" charset="2"/>
              </a:rPr>
              <a:t></a:t>
            </a:r>
            <a:r>
              <a:rPr lang="en-US" altLang="zh-CN" sz="2200" i="1" dirty="0"/>
              <a:t>u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V</a:t>
            </a:r>
            <a:r>
              <a:rPr lang="zh-CN" altLang="en-US" sz="2200" dirty="0"/>
              <a:t>，</a:t>
            </a:r>
            <a:r>
              <a:rPr lang="en-US" altLang="zh-CN" sz="2200" i="1" dirty="0"/>
              <a:t>u</a:t>
            </a:r>
            <a:r>
              <a:rPr lang="zh-CN" altLang="en-US" sz="2200" dirty="0">
                <a:sym typeface="Symbol" panose="05050102010706020507" pitchFamily="18" charset="2"/>
              </a:rPr>
              <a:t>与</a:t>
            </a:r>
            <a:r>
              <a:rPr lang="en-US" altLang="zh-CN" sz="2200" i="1" dirty="0"/>
              <a:t>v</a:t>
            </a:r>
            <a:r>
              <a:rPr lang="zh-CN" altLang="en-US" sz="2200" dirty="0"/>
              <a:t>相互可达</a:t>
            </a:r>
            <a:endParaRPr lang="zh-CN" altLang="en-US" sz="2200" dirty="0"/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2200" dirty="0">
                <a:solidFill>
                  <a:schemeClr val="hlink"/>
                </a:solidFill>
              </a:rPr>
              <a:t>定理</a:t>
            </a:r>
            <a:r>
              <a:rPr lang="en-US" altLang="zh-CN" sz="2200" dirty="0">
                <a:solidFill>
                  <a:schemeClr val="hlink"/>
                </a:solidFill>
              </a:rPr>
              <a:t>11.8</a:t>
            </a:r>
            <a:r>
              <a:rPr lang="en-US" altLang="zh-CN" sz="2200" i="1" dirty="0"/>
              <a:t> D</a:t>
            </a:r>
            <a:r>
              <a:rPr lang="zh-CN" altLang="en-US" sz="2200" dirty="0"/>
              <a:t>是强连通的当且仅当</a:t>
            </a:r>
            <a:r>
              <a:rPr lang="en-US" altLang="zh-CN" sz="2200" i="1" dirty="0"/>
              <a:t>D</a:t>
            </a:r>
            <a:r>
              <a:rPr lang="zh-CN" altLang="en-US" sz="2200" dirty="0"/>
              <a:t>中存在经过所有顶点的回路</a:t>
            </a:r>
            <a:endParaRPr lang="zh-CN" altLang="en-US" sz="2200" dirty="0"/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2200" dirty="0">
                <a:solidFill>
                  <a:schemeClr val="hlink"/>
                </a:solidFill>
              </a:rPr>
              <a:t>定理</a:t>
            </a:r>
            <a:r>
              <a:rPr lang="en-US" altLang="zh-CN" sz="2200" dirty="0">
                <a:solidFill>
                  <a:schemeClr val="hlink"/>
                </a:solidFill>
              </a:rPr>
              <a:t>11.9</a:t>
            </a:r>
            <a:r>
              <a:rPr lang="en-US" altLang="zh-CN" sz="2200" i="1" dirty="0"/>
              <a:t> D</a:t>
            </a:r>
            <a:r>
              <a:rPr lang="zh-CN" altLang="en-US" sz="2200" dirty="0"/>
              <a:t>是单向连通的当且仅当</a:t>
            </a:r>
            <a:r>
              <a:rPr lang="en-US" altLang="zh-CN" sz="2200" i="1" dirty="0"/>
              <a:t>D</a:t>
            </a:r>
            <a:r>
              <a:rPr lang="zh-CN" altLang="en-US" sz="2200" dirty="0"/>
              <a:t>中存在经过所有顶点的通路</a:t>
            </a:r>
            <a:endParaRPr lang="zh-CN" altLang="en-US" sz="22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30435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30435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30435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charRg st="2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30435">
                                            <p:txEl>
                                              <p:charRg st="2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30435">
                                            <p:txEl>
                                              <p:charRg st="2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30435">
                                            <p:txEl>
                                              <p:charRg st="2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charRg st="59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30435">
                                            <p:txEl>
                                              <p:charRg st="59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30435">
                                            <p:txEl>
                                              <p:charRg st="59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30435">
                                            <p:txEl>
                                              <p:charRg st="59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charRg st="81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30435">
                                            <p:txEl>
                                              <p:charRg st="81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30435">
                                            <p:txEl>
                                              <p:charRg st="81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30435">
                                            <p:txEl>
                                              <p:charRg st="81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charRg st="10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30435">
                                            <p:txEl>
                                              <p:charRg st="10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30435">
                                            <p:txEl>
                                              <p:charRg st="10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30435">
                                            <p:txEl>
                                              <p:charRg st="103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charRg st="133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30435">
                                            <p:txEl>
                                              <p:charRg st="133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30435">
                                            <p:txEl>
                                              <p:charRg st="133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30435">
                                            <p:txEl>
                                              <p:charRg st="133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charRg st="162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530435">
                                            <p:txEl>
                                              <p:charRg st="162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530435">
                                            <p:txEl>
                                              <p:charRg st="162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530435">
                                            <p:txEl>
                                              <p:charRg st="162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charRg st="186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530435">
                                            <p:txEl>
                                              <p:charRg st="186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530435">
                                            <p:txEl>
                                              <p:charRg st="186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530435">
                                            <p:txEl>
                                              <p:charRg st="186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charRg st="217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530435">
                                            <p:txEl>
                                              <p:charRg st="217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530435">
                                            <p:txEl>
                                              <p:charRg st="217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530435">
                                            <p:txEl>
                                              <p:charRg st="217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1613" y="152400"/>
            <a:ext cx="2679700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611188" y="2000250"/>
            <a:ext cx="7602537" cy="2647950"/>
            <a:chOff x="385" y="1260"/>
            <a:chExt cx="4789" cy="1668"/>
          </a:xfrm>
        </p:grpSpPr>
        <p:sp>
          <p:nvSpPr>
            <p:cNvPr id="44037" name="Text Box 4"/>
            <p:cNvSpPr txBox="1"/>
            <p:nvPr/>
          </p:nvSpPr>
          <p:spPr>
            <a:xfrm>
              <a:off x="385" y="1260"/>
              <a:ext cx="4789" cy="1668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b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br>
                <a:rPr lang="en-US" altLang="zh-CN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br>
                <a:rPr lang="en-US" altLang="zh-CN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br>
                <a:rPr lang="en-US" altLang="zh-CN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br>
                <a:rPr lang="en-US" altLang="zh-CN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br>
                <a:rPr lang="en-US" altLang="zh-CN" sz="240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endParaRPr lang="en-US" altLang="zh-CN" sz="2400" b="0" dirty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44038" name="Picture 5" descr="14-12"/>
            <p:cNvPicPr>
              <a:picLocks noChangeAspect="1"/>
            </p:cNvPicPr>
            <p:nvPr/>
          </p:nvPicPr>
          <p:blipFill>
            <a:blip r:embed="rId1"/>
            <a:srcRect t="26393"/>
            <a:stretch>
              <a:fillRect/>
            </a:stretch>
          </p:blipFill>
          <p:spPr>
            <a:xfrm>
              <a:off x="768" y="1536"/>
              <a:ext cx="4150" cy="74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39" name="Text Box 6"/>
            <p:cNvSpPr txBox="1"/>
            <p:nvPr/>
          </p:nvSpPr>
          <p:spPr>
            <a:xfrm>
              <a:off x="864" y="2304"/>
              <a:ext cx="8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强连通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0" name="Text Box 7"/>
            <p:cNvSpPr txBox="1"/>
            <p:nvPr/>
          </p:nvSpPr>
          <p:spPr>
            <a:xfrm>
              <a:off x="2509" y="2304"/>
              <a:ext cx="8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单连通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1" name="Text Box 8"/>
            <p:cNvSpPr txBox="1"/>
            <p:nvPr/>
          </p:nvSpPr>
          <p:spPr>
            <a:xfrm>
              <a:off x="4145" y="2304"/>
              <a:ext cx="79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弱连通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324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有向图中的短程线与距离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483" name="Rectangle 3"/>
          <p:cNvSpPr>
            <a:spLocks noGrp="1"/>
          </p:cNvSpPr>
          <p:nvPr>
            <p:ph idx="1"/>
          </p:nvPr>
        </p:nvSpPr>
        <p:spPr>
          <a:xfrm>
            <a:off x="436563" y="1084263"/>
            <a:ext cx="8269287" cy="4827587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F3300"/>
                </a:solidFill>
              </a:rPr>
              <a:t>定义</a:t>
            </a:r>
            <a:r>
              <a:rPr lang="en-US" altLang="zh-CN" dirty="0">
                <a:solidFill>
                  <a:srgbClr val="FF3300"/>
                </a:solidFill>
              </a:rPr>
              <a:t>11.21 </a:t>
            </a:r>
            <a:r>
              <a:rPr lang="zh-CN" altLang="en-US" dirty="0"/>
              <a:t>设有向图</a:t>
            </a:r>
            <a:r>
              <a:rPr lang="en-US" altLang="zh-CN" i="1" dirty="0"/>
              <a:t>D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&gt;, </a:t>
            </a:r>
            <a:r>
              <a:rPr lang="en-US" altLang="zh-CN" i="1" dirty="0"/>
              <a:t>u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V</a:t>
            </a:r>
            <a:r>
              <a:rPr lang="en-US" altLang="zh-CN" dirty="0"/>
              <a:t>, </a:t>
            </a:r>
            <a:r>
              <a:rPr lang="zh-CN" altLang="en-US" dirty="0"/>
              <a:t>如果</a:t>
            </a:r>
            <a:r>
              <a:rPr lang="en-US" altLang="zh-CN" i="1" dirty="0"/>
              <a:t>u</a:t>
            </a:r>
            <a:r>
              <a:rPr lang="zh-CN" altLang="en-US" dirty="0"/>
              <a:t>可达</a:t>
            </a:r>
            <a:r>
              <a:rPr lang="en-US" altLang="zh-CN" i="1" dirty="0"/>
              <a:t>v,</a:t>
            </a:r>
            <a:endParaRPr lang="en-US" altLang="zh-CN" dirty="0">
              <a:solidFill>
                <a:srgbClr val="FF3300"/>
              </a:solidFill>
            </a:endParaRPr>
          </a:p>
          <a:p>
            <a:pPr marL="0" algn="just" eaLnBrk="1" hangingPunct="1">
              <a:lnSpc>
                <a:spcPct val="120000"/>
              </a:lnSpc>
            </a:pPr>
            <a:r>
              <a:rPr lang="en-US" altLang="zh-CN" i="1" dirty="0">
                <a:solidFill>
                  <a:srgbClr val="FF3300"/>
                </a:solidFill>
              </a:rPr>
              <a:t>u</a:t>
            </a:r>
            <a:r>
              <a:rPr lang="zh-CN" altLang="en-US" dirty="0">
                <a:solidFill>
                  <a:srgbClr val="FF3300"/>
                </a:solidFill>
              </a:rPr>
              <a:t>到</a:t>
            </a:r>
            <a:r>
              <a:rPr lang="en-US" altLang="zh-CN" i="1" dirty="0">
                <a:solidFill>
                  <a:srgbClr val="FF3300"/>
                </a:solidFill>
              </a:rPr>
              <a:t>v</a:t>
            </a:r>
            <a:r>
              <a:rPr lang="zh-CN" altLang="en-US" dirty="0">
                <a:solidFill>
                  <a:srgbClr val="FF3300"/>
                </a:solidFill>
              </a:rPr>
              <a:t>的短程线</a:t>
            </a:r>
            <a:r>
              <a:rPr lang="en-US" altLang="zh-CN" dirty="0"/>
              <a:t>: </a:t>
            </a:r>
            <a:r>
              <a:rPr lang="en-US" altLang="zh-CN" i="1" dirty="0"/>
              <a:t>u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zh-CN" altLang="en-US" dirty="0"/>
              <a:t>长度最短的通路</a:t>
            </a:r>
            <a:endParaRPr lang="zh-CN" altLang="en-US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F3300"/>
                </a:solidFill>
              </a:rPr>
              <a:t>距离</a:t>
            </a:r>
            <a:r>
              <a:rPr lang="en-US" altLang="zh-CN" i="1" dirty="0">
                <a:solidFill>
                  <a:srgbClr val="FF3300"/>
                </a:solidFill>
              </a:rPr>
              <a:t>d&lt;u</a:t>
            </a:r>
            <a:r>
              <a:rPr lang="en-US" altLang="zh-CN" dirty="0">
                <a:solidFill>
                  <a:srgbClr val="FF3300"/>
                </a:solidFill>
              </a:rPr>
              <a:t>,</a:t>
            </a:r>
            <a:r>
              <a:rPr lang="en-US" altLang="zh-CN" i="1" dirty="0">
                <a:solidFill>
                  <a:srgbClr val="FF3300"/>
                </a:solidFill>
              </a:rPr>
              <a:t>v&gt;</a:t>
            </a:r>
            <a:r>
              <a:rPr lang="en-US" altLang="zh-CN" dirty="0"/>
              <a:t>: </a:t>
            </a:r>
            <a:r>
              <a:rPr lang="en-US" altLang="zh-CN" i="1" dirty="0"/>
              <a:t>u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zh-CN" altLang="en-US" dirty="0"/>
              <a:t>的短程线的长度</a:t>
            </a:r>
            <a:endParaRPr lang="zh-CN" altLang="en-US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dirty="0"/>
              <a:t>若</a:t>
            </a:r>
            <a:r>
              <a:rPr lang="en-US" altLang="zh-CN" i="1" dirty="0"/>
              <a:t>u</a:t>
            </a:r>
            <a:r>
              <a:rPr lang="zh-CN" altLang="en-US" dirty="0"/>
              <a:t>不可达</a:t>
            </a:r>
            <a:r>
              <a:rPr lang="en-US" altLang="zh-CN" i="1" dirty="0"/>
              <a:t>v</a:t>
            </a:r>
            <a:r>
              <a:rPr lang="en-US" altLang="zh-CN" dirty="0"/>
              <a:t>, </a:t>
            </a:r>
            <a:r>
              <a:rPr lang="zh-CN" altLang="en-US" dirty="0"/>
              <a:t>规定</a:t>
            </a:r>
            <a:r>
              <a:rPr lang="en-US" altLang="zh-CN" i="1" dirty="0"/>
              <a:t>d&lt;u</a:t>
            </a:r>
            <a:r>
              <a:rPr lang="en-US" altLang="zh-CN" dirty="0"/>
              <a:t>,</a:t>
            </a:r>
            <a:r>
              <a:rPr lang="en-US" altLang="zh-CN" i="1" dirty="0"/>
              <a:t>v&gt;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dirty="0"/>
              <a:t>∞.</a:t>
            </a:r>
            <a:endParaRPr lang="en-US" altLang="zh-CN" dirty="0"/>
          </a:p>
          <a:p>
            <a:pPr marL="0" algn="just" eaLnBrk="1" hangingPunct="1">
              <a:lnSpc>
                <a:spcPct val="120000"/>
              </a:lnSpc>
            </a:pPr>
            <a:endParaRPr lang="en-US" altLang="zh-CN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dirty="0"/>
              <a:t>性质：</a:t>
            </a:r>
            <a:endParaRPr lang="zh-CN" altLang="en-US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i="1" dirty="0"/>
              <a:t>    </a:t>
            </a:r>
            <a:r>
              <a:rPr lang="en-US" altLang="zh-CN" i="1" dirty="0"/>
              <a:t>d&lt;u</a:t>
            </a:r>
            <a:r>
              <a:rPr lang="en-US" altLang="zh-CN" dirty="0"/>
              <a:t>,</a:t>
            </a:r>
            <a:r>
              <a:rPr lang="en-US" altLang="zh-CN" i="1" dirty="0"/>
              <a:t>v&gt;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0, </a:t>
            </a:r>
            <a:r>
              <a:rPr lang="zh-CN" altLang="en-US" dirty="0"/>
              <a:t>且</a:t>
            </a:r>
            <a:r>
              <a:rPr lang="en-US" altLang="zh-CN" i="1" dirty="0"/>
              <a:t>d&lt;u</a:t>
            </a:r>
            <a:r>
              <a:rPr lang="en-US" altLang="zh-CN" dirty="0"/>
              <a:t>,</a:t>
            </a:r>
            <a:r>
              <a:rPr lang="en-US" altLang="zh-CN" i="1" dirty="0"/>
              <a:t>v&gt;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dirty="0"/>
              <a:t>0 </a:t>
            </a:r>
            <a:r>
              <a:rPr lang="en-US" altLang="zh-CN" dirty="0">
                <a:solidFill>
                  <a:srgbClr val="333300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u=v</a:t>
            </a:r>
            <a:endParaRPr lang="en-US" altLang="zh-CN" dirty="0"/>
          </a:p>
          <a:p>
            <a:pPr marL="0" algn="just" eaLnBrk="1" hangingPunct="1">
              <a:lnSpc>
                <a:spcPct val="120000"/>
              </a:lnSpc>
            </a:pPr>
            <a:r>
              <a:rPr lang="en-US" altLang="zh-CN" i="1" dirty="0"/>
              <a:t>    d&lt;u</a:t>
            </a:r>
            <a:r>
              <a:rPr lang="en-US" altLang="zh-CN" dirty="0"/>
              <a:t>,</a:t>
            </a:r>
            <a:r>
              <a:rPr lang="en-US" altLang="zh-CN" i="1" dirty="0"/>
              <a:t>v&gt;</a:t>
            </a:r>
            <a:r>
              <a:rPr lang="en-US" altLang="zh-CN" dirty="0"/>
              <a:t>+</a:t>
            </a:r>
            <a:r>
              <a:rPr lang="en-US" altLang="zh-CN" i="1" dirty="0"/>
              <a:t>d&lt;v</a:t>
            </a:r>
            <a:r>
              <a:rPr lang="en-US" altLang="zh-CN" dirty="0"/>
              <a:t>,</a:t>
            </a:r>
            <a:r>
              <a:rPr lang="en-US" altLang="zh-CN" i="1" dirty="0"/>
              <a:t>w&gt; 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i="1" dirty="0"/>
              <a:t>d&lt;u</a:t>
            </a:r>
            <a:r>
              <a:rPr lang="en-US" altLang="zh-CN" dirty="0"/>
              <a:t>,</a:t>
            </a:r>
            <a:r>
              <a:rPr lang="en-US" altLang="zh-CN" i="1" dirty="0"/>
              <a:t>w&gt;</a:t>
            </a:r>
            <a:r>
              <a:rPr lang="en-US" altLang="zh-CN" dirty="0"/>
              <a:t> </a:t>
            </a:r>
            <a:endParaRPr lang="en-US" altLang="zh-CN" dirty="0"/>
          </a:p>
          <a:p>
            <a:pPr marL="0" algn="just" eaLnBrk="1" hangingPunct="1">
              <a:lnSpc>
                <a:spcPct val="120000"/>
              </a:lnSpc>
            </a:pPr>
            <a:r>
              <a:rPr lang="zh-CN" altLang="en-US" dirty="0"/>
              <a:t>注意</a:t>
            </a:r>
            <a:r>
              <a:rPr lang="en-US" altLang="zh-CN" dirty="0"/>
              <a:t>: </a:t>
            </a:r>
            <a:r>
              <a:rPr lang="zh-CN" altLang="en-US" dirty="0"/>
              <a:t>没有对称性</a:t>
            </a:r>
            <a:endParaRPr lang="zh-CN" alt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32483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32483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32483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charRg st="3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32483">
                                            <p:txEl>
                                              <p:charRg st="3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32483">
                                            <p:txEl>
                                              <p:charRg st="3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32483">
                                            <p:txEl>
                                              <p:charRg st="3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charRg st="56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32483">
                                            <p:txEl>
                                              <p:charRg st="56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32483">
                                            <p:txEl>
                                              <p:charRg st="56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32483">
                                            <p:txEl>
                                              <p:charRg st="56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charRg st="77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32483">
                                            <p:txEl>
                                              <p:charRg st="77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32483">
                                            <p:txEl>
                                              <p:charRg st="77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32483">
                                            <p:txEl>
                                              <p:charRg st="77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charRg st="98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32483">
                                            <p:txEl>
                                              <p:charRg st="98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32483">
                                            <p:txEl>
                                              <p:charRg st="98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32483">
                                            <p:txEl>
                                              <p:charRg st="98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charRg st="10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32483">
                                            <p:txEl>
                                              <p:charRg st="10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32483">
                                            <p:txEl>
                                              <p:charRg st="10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32483">
                                            <p:txEl>
                                              <p:charRg st="10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charRg st="132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532483">
                                            <p:txEl>
                                              <p:charRg st="132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532483">
                                            <p:txEl>
                                              <p:charRg st="132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532483">
                                            <p:txEl>
                                              <p:charRg st="132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charRg st="159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532483">
                                            <p:txEl>
                                              <p:charRg st="159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532483">
                                            <p:txEl>
                                              <p:charRg st="159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532483">
                                            <p:txEl>
                                              <p:charRg st="159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49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495425" y="152400"/>
            <a:ext cx="3005138" cy="6842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例题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9893" name="Text Box 5"/>
          <p:cNvSpPr txBox="1"/>
          <p:nvPr/>
        </p:nvSpPr>
        <p:spPr>
          <a:xfrm>
            <a:off x="128588" y="1219200"/>
            <a:ext cx="777081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sz="2400" dirty="0">
                <a:solidFill>
                  <a:schemeClr val="fol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fol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400" dirty="0">
                <a:solidFill>
                  <a:schemeClr val="folHlink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在仅两个奇次顶的无向图中，此二奇次顶连通．    </a:t>
            </a:r>
            <a:endParaRPr lang="zh-CN" altLang="en-US" sz="2400" dirty="0">
              <a:solidFill>
                <a:schemeClr val="folHlin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9894" name="Text Box 6"/>
          <p:cNvSpPr txBox="1"/>
          <p:nvPr/>
        </p:nvSpPr>
        <p:spPr>
          <a:xfrm>
            <a:off x="271463" y="1811338"/>
            <a:ext cx="8569325" cy="2282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sz="2400" dirty="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如果图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中恰好有两个奇次顶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u,v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但在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中这两个奇次项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u,v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不连通，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则存在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的两个连通片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en-US" altLang="zh-CN" sz="24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en-US" altLang="zh-CN" sz="24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，使得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V(G</a:t>
            </a:r>
            <a:r>
              <a:rPr lang="en-US" altLang="zh-CN" sz="24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), v</a:t>
            </a:r>
            <a:r>
              <a:rPr lang="en-US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V(G</a:t>
            </a:r>
            <a:r>
              <a:rPr lang="en-US" altLang="zh-CN" sz="24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对于连通图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en-US" altLang="zh-CN" sz="24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en-US" altLang="zh-CN" sz="2400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来说．皆有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个奇次项．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与定理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11.1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的推论相矛盾。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49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9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4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4989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4989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49894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4">
                                            <p:txEl>
                                              <p:charRg st="2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49894">
                                            <p:txEl>
                                              <p:charRg st="2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49894">
                                            <p:txEl>
                                              <p:charRg st="2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49894">
                                            <p:txEl>
                                              <p:charRg st="2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4">
                                            <p:txEl>
                                              <p:charRg st="4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49894">
                                            <p:txEl>
                                              <p:charRg st="4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49894">
                                            <p:txEl>
                                              <p:charRg st="4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49894">
                                            <p:txEl>
                                              <p:charRg st="4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4">
                                            <p:txEl>
                                              <p:charRg st="80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49894">
                                            <p:txEl>
                                              <p:charRg st="80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49894">
                                            <p:txEl>
                                              <p:charRg st="80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49894">
                                            <p:txEl>
                                              <p:charRg st="80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4">
                                            <p:txEl>
                                              <p:charRg st="105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49894">
                                            <p:txEl>
                                              <p:charRg st="105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49894">
                                            <p:txEl>
                                              <p:charRg st="105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49894">
                                            <p:txEl>
                                              <p:charRg st="105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89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182563"/>
            <a:ext cx="6373813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扩大路径法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---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最长轨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极大路径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)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法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8868" name="Rectangle 4"/>
          <p:cNvSpPr>
            <a:spLocks noGrp="1"/>
          </p:cNvSpPr>
          <p:nvPr>
            <p:ph idx="1"/>
          </p:nvPr>
        </p:nvSpPr>
        <p:spPr>
          <a:xfrm>
            <a:off x="242888" y="963613"/>
            <a:ext cx="8499475" cy="1279525"/>
          </a:xfrm>
        </p:spPr>
        <p:txBody>
          <a:bodyPr vert="horz" wrap="square" lIns="91440" tIns="45720" rIns="91440" bIns="45720" anchor="t" anchorCtr="0"/>
          <a:p>
            <a:pPr marL="0" indent="0" algn="just" eaLnBrk="1" hangingPunct="1">
              <a:lnSpc>
                <a:spcPct val="115000"/>
              </a:lnSpc>
              <a:spcBef>
                <a:spcPct val="85000"/>
              </a:spcBef>
            </a:pPr>
            <a:r>
              <a:rPr lang="en-US" altLang="zh-CN" sz="2000" dirty="0"/>
              <a:t>     </a:t>
            </a:r>
            <a:r>
              <a:rPr lang="zh-CN" altLang="en-US" sz="2000" dirty="0"/>
              <a:t>设</a:t>
            </a:r>
            <a:r>
              <a:rPr lang="en-US" altLang="zh-CN" sz="2000" i="1" dirty="0"/>
              <a:t>G</a:t>
            </a:r>
            <a:r>
              <a:rPr lang="en-US" altLang="zh-CN" sz="2000" dirty="0"/>
              <a:t>=&lt;</a:t>
            </a:r>
            <a:r>
              <a:rPr lang="en-US" altLang="zh-CN" sz="2000" i="1" dirty="0"/>
              <a:t>V</a:t>
            </a:r>
            <a:r>
              <a:rPr lang="en-US" altLang="zh-CN" sz="2000" dirty="0"/>
              <a:t>,</a:t>
            </a:r>
            <a:r>
              <a:rPr lang="en-US" altLang="zh-CN" sz="2000" i="1" dirty="0"/>
              <a:t>E</a:t>
            </a:r>
            <a:r>
              <a:rPr lang="en-US" altLang="zh-CN" sz="2000" dirty="0"/>
              <a:t>&gt;</a:t>
            </a:r>
            <a:r>
              <a:rPr lang="zh-CN" altLang="en-US" sz="2000" dirty="0"/>
              <a:t>为</a:t>
            </a:r>
            <a:r>
              <a:rPr lang="en-US" altLang="zh-CN" sz="2000" i="1" dirty="0"/>
              <a:t>n</a:t>
            </a:r>
            <a:r>
              <a:rPr lang="zh-CN" altLang="en-US" sz="2000" dirty="0"/>
              <a:t>阶无向图</a:t>
            </a:r>
            <a:r>
              <a:rPr lang="en-US" altLang="zh-CN" sz="2000" dirty="0"/>
              <a:t>,</a:t>
            </a:r>
            <a:r>
              <a:rPr lang="en-US" altLang="zh-CN" sz="2000" i="1" dirty="0"/>
              <a:t>E</a:t>
            </a:r>
            <a:r>
              <a:rPr lang="en-US" altLang="zh-CN" sz="2000" dirty="0">
                <a:sym typeface="Symbol" panose="05050102010706020507" pitchFamily="18" charset="2"/>
              </a:rPr>
              <a:t></a:t>
            </a:r>
            <a:r>
              <a:rPr lang="en-US" altLang="zh-CN" sz="2000" i="1" dirty="0"/>
              <a:t>.</a:t>
            </a:r>
            <a:r>
              <a:rPr lang="zh-CN" altLang="en-US" sz="2000" dirty="0"/>
              <a:t>设是</a:t>
            </a:r>
            <a:r>
              <a:rPr lang="en-US" altLang="zh-CN" sz="2000" i="1" dirty="0"/>
              <a:t>G</a:t>
            </a:r>
            <a:r>
              <a:rPr lang="zh-CN" altLang="en-US" sz="2000" dirty="0"/>
              <a:t>中一条路径</a:t>
            </a:r>
            <a:r>
              <a:rPr lang="en-US" altLang="zh-CN" sz="2000" dirty="0"/>
              <a:t>,</a:t>
            </a:r>
            <a:r>
              <a:rPr lang="zh-CN" altLang="en-US" sz="2000" dirty="0"/>
              <a:t>若此路径</a:t>
            </a:r>
            <a:r>
              <a:rPr lang="zh-CN" altLang="en-US" sz="2000" i="1" dirty="0">
                <a:sym typeface="Symbol" panose="05050102010706020507" pitchFamily="18" charset="2"/>
              </a:rPr>
              <a:t></a:t>
            </a:r>
            <a:r>
              <a:rPr lang="en-US" altLang="zh-CN" sz="2000" i="1" baseline="-25000" dirty="0">
                <a:sym typeface="Symbol" panose="05050102010706020507" pitchFamily="18" charset="2"/>
              </a:rPr>
              <a:t>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zh-CN" altLang="en-US" sz="2000" dirty="0"/>
              <a:t>的始点或终点与通路外的顶点相邻</a:t>
            </a:r>
            <a:r>
              <a:rPr lang="en-US" altLang="zh-CN" sz="2000" dirty="0"/>
              <a:t>,</a:t>
            </a:r>
            <a:r>
              <a:rPr lang="zh-CN" altLang="en-US" sz="2000" dirty="0"/>
              <a:t>则将他们扩到通路中</a:t>
            </a:r>
            <a:r>
              <a:rPr lang="en-US" altLang="zh-CN" sz="2000" dirty="0"/>
              <a:t>,</a:t>
            </a:r>
            <a:r>
              <a:rPr lang="zh-CN" altLang="en-US" sz="2000" dirty="0"/>
              <a:t>继续这过程</a:t>
            </a:r>
            <a:r>
              <a:rPr lang="en-US" altLang="zh-CN" sz="2000" dirty="0"/>
              <a:t>,</a:t>
            </a:r>
            <a:r>
              <a:rPr lang="zh-CN" altLang="en-US" sz="2000" dirty="0"/>
              <a:t>直到最后得到的通路的始点和终点不与通路外的顶点相邻为止</a:t>
            </a:r>
            <a:r>
              <a:rPr lang="en-US" altLang="zh-CN" sz="2000" dirty="0"/>
              <a:t>. </a:t>
            </a:r>
            <a:endParaRPr lang="en-US" altLang="zh-CN" sz="2000" dirty="0"/>
          </a:p>
        </p:txBody>
      </p:sp>
      <p:sp>
        <p:nvSpPr>
          <p:cNvPr id="548869" name="Rectangle 5"/>
          <p:cNvSpPr/>
          <p:nvPr/>
        </p:nvSpPr>
        <p:spPr>
          <a:xfrm>
            <a:off x="423863" y="2024063"/>
            <a:ext cx="4945062" cy="4429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just">
              <a:spcBef>
                <a:spcPct val="85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设最后得到的路径为</a:t>
            </a:r>
            <a:r>
              <a:rPr lang="zh-CN" altLang="en-US" sz="20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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 +k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,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称它为</a:t>
            </a:r>
            <a:r>
              <a:rPr lang="zh-CN" altLang="en-US" sz="20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极大路径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zh-CN" sz="2000" i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48870" name="Rectangle 6"/>
          <p:cNvSpPr/>
          <p:nvPr/>
        </p:nvSpPr>
        <p:spPr>
          <a:xfrm>
            <a:off x="423863" y="2384425"/>
            <a:ext cx="4789487" cy="4429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just">
              <a:spcBef>
                <a:spcPct val="85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利用这种方法我们可以找到图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0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的最长轨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000" i="1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48872" name="Rectangle 8"/>
          <p:cNvSpPr>
            <a:spLocks noChangeArrowheads="1"/>
          </p:cNvSpPr>
          <p:nvPr/>
        </p:nvSpPr>
        <p:spPr bwMode="auto">
          <a:xfrm>
            <a:off x="462756" y="2827338"/>
            <a:ext cx="4711700" cy="44513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15000"/>
              </a:lnSpc>
              <a:spcBef>
                <a:spcPct val="85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  无</a:t>
            </a:r>
            <a:r>
              <a:rPr kumimoji="1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次</a:t>
            </a:r>
            <a:r>
              <a:rPr kumimoji="1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</a:t>
            </a:r>
            <a:r>
              <a:rPr kumimoji="1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次</a:t>
            </a:r>
            <a:r>
              <a:rPr kumimoji="1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顶的简单图</a:t>
            </a:r>
            <a:r>
              <a:rPr kumimoji="1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无向图中有圈</a:t>
            </a:r>
            <a:r>
              <a:rPr kumimoji="1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endParaRPr kumimoji="1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8873" name="Rectangle 9"/>
          <p:cNvSpPr/>
          <p:nvPr/>
        </p:nvSpPr>
        <p:spPr>
          <a:xfrm>
            <a:off x="182563" y="3248025"/>
            <a:ext cx="7988300" cy="4429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187325"/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由于此图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中无零次与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次顶．所以对于每个顶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2,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8874" name="Rectangle 10"/>
          <p:cNvSpPr/>
          <p:nvPr/>
        </p:nvSpPr>
        <p:spPr>
          <a:xfrm>
            <a:off x="363538" y="3613150"/>
            <a:ext cx="4783137" cy="477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且存在一条最长轨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1258888" y="4151313"/>
            <a:ext cx="5905500" cy="241300"/>
            <a:chOff x="793" y="1312"/>
            <a:chExt cx="3720" cy="243"/>
          </a:xfrm>
        </p:grpSpPr>
        <p:sp>
          <p:nvSpPr>
            <p:cNvPr id="47115" name="Oval 12"/>
            <p:cNvSpPr/>
            <p:nvPr/>
          </p:nvSpPr>
          <p:spPr>
            <a:xfrm>
              <a:off x="1337" y="1328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endParaRPr lang="zh-CN" altLang="zh-CN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16" name="Oval 13"/>
            <p:cNvSpPr/>
            <p:nvPr/>
          </p:nvSpPr>
          <p:spPr>
            <a:xfrm>
              <a:off x="1927" y="1328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endParaRPr lang="zh-CN" altLang="zh-CN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17" name="Oval 14"/>
            <p:cNvSpPr/>
            <p:nvPr/>
          </p:nvSpPr>
          <p:spPr>
            <a:xfrm>
              <a:off x="2517" y="1328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endParaRPr lang="zh-CN" altLang="zh-CN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18" name="Oval 15"/>
            <p:cNvSpPr/>
            <p:nvPr/>
          </p:nvSpPr>
          <p:spPr>
            <a:xfrm>
              <a:off x="3106" y="1328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endParaRPr lang="zh-CN" altLang="zh-CN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19" name="Oval 16"/>
            <p:cNvSpPr/>
            <p:nvPr/>
          </p:nvSpPr>
          <p:spPr>
            <a:xfrm>
              <a:off x="3696" y="1328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endParaRPr lang="zh-CN" altLang="zh-CN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20" name="Oval 17"/>
            <p:cNvSpPr/>
            <p:nvPr/>
          </p:nvSpPr>
          <p:spPr>
            <a:xfrm>
              <a:off x="4286" y="1328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21" name="Oval 18"/>
            <p:cNvSpPr/>
            <p:nvPr/>
          </p:nvSpPr>
          <p:spPr>
            <a:xfrm>
              <a:off x="793" y="131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22" name="Line 19"/>
            <p:cNvSpPr/>
            <p:nvPr/>
          </p:nvSpPr>
          <p:spPr>
            <a:xfrm>
              <a:off x="1020" y="1448"/>
              <a:ext cx="3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23" name="Line 20"/>
            <p:cNvSpPr/>
            <p:nvPr/>
          </p:nvSpPr>
          <p:spPr>
            <a:xfrm>
              <a:off x="1564" y="1448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24" name="Line 21"/>
            <p:cNvSpPr/>
            <p:nvPr/>
          </p:nvSpPr>
          <p:spPr>
            <a:xfrm>
              <a:off x="2154" y="1448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47125" name="Line 22"/>
            <p:cNvSpPr/>
            <p:nvPr/>
          </p:nvSpPr>
          <p:spPr>
            <a:xfrm>
              <a:off x="2743" y="1448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26" name="Line 23"/>
            <p:cNvSpPr/>
            <p:nvPr/>
          </p:nvSpPr>
          <p:spPr>
            <a:xfrm>
              <a:off x="3333" y="1448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27" name="Line 24"/>
            <p:cNvSpPr/>
            <p:nvPr/>
          </p:nvSpPr>
          <p:spPr>
            <a:xfrm>
              <a:off x="3923" y="1448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548889" name="Rectangle 25"/>
          <p:cNvSpPr/>
          <p:nvPr/>
        </p:nvSpPr>
        <p:spPr>
          <a:xfrm>
            <a:off x="303213" y="4843463"/>
            <a:ext cx="7996237" cy="930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这种边的另一端必在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上，不然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还可以加长，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最长相违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于是造成如图所示的情形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8890" name="Rectangle 26"/>
          <p:cNvSpPr/>
          <p:nvPr/>
        </p:nvSpPr>
        <p:spPr>
          <a:xfrm>
            <a:off x="334963" y="4451350"/>
            <a:ext cx="7604125" cy="477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这样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还至少各有一条不在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上的边与之关联，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8891" name="Text Box 27"/>
          <p:cNvSpPr txBox="1"/>
          <p:nvPr/>
        </p:nvSpPr>
        <p:spPr>
          <a:xfrm>
            <a:off x="6677025" y="6015038"/>
            <a:ext cx="19827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从而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中有圈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.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603250" y="5773738"/>
            <a:ext cx="5905500" cy="385762"/>
            <a:chOff x="838" y="2795"/>
            <a:chExt cx="3720" cy="243"/>
          </a:xfrm>
        </p:grpSpPr>
        <p:sp>
          <p:nvSpPr>
            <p:cNvPr id="47132" name="Oval 29"/>
            <p:cNvSpPr/>
            <p:nvPr/>
          </p:nvSpPr>
          <p:spPr>
            <a:xfrm>
              <a:off x="1382" y="2811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endParaRPr lang="zh-CN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33" name="Oval 30"/>
            <p:cNvSpPr/>
            <p:nvPr/>
          </p:nvSpPr>
          <p:spPr>
            <a:xfrm>
              <a:off x="1972" y="2811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endParaRPr lang="zh-CN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34" name="Oval 31"/>
            <p:cNvSpPr/>
            <p:nvPr/>
          </p:nvSpPr>
          <p:spPr>
            <a:xfrm>
              <a:off x="2562" y="2811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endParaRPr lang="zh-CN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35" name="Oval 32"/>
            <p:cNvSpPr/>
            <p:nvPr/>
          </p:nvSpPr>
          <p:spPr>
            <a:xfrm>
              <a:off x="3151" y="2811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endParaRPr lang="zh-CN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36" name="Oval 33"/>
            <p:cNvSpPr/>
            <p:nvPr/>
          </p:nvSpPr>
          <p:spPr>
            <a:xfrm>
              <a:off x="3741" y="2811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endParaRPr lang="zh-CN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37" name="Oval 34"/>
            <p:cNvSpPr/>
            <p:nvPr/>
          </p:nvSpPr>
          <p:spPr>
            <a:xfrm>
              <a:off x="4331" y="2811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38" name="Oval 35"/>
            <p:cNvSpPr/>
            <p:nvPr/>
          </p:nvSpPr>
          <p:spPr>
            <a:xfrm>
              <a:off x="838" y="2795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16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39" name="Line 36"/>
            <p:cNvSpPr/>
            <p:nvPr/>
          </p:nvSpPr>
          <p:spPr>
            <a:xfrm>
              <a:off x="1065" y="2931"/>
              <a:ext cx="3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40" name="Line 37"/>
            <p:cNvSpPr/>
            <p:nvPr/>
          </p:nvSpPr>
          <p:spPr>
            <a:xfrm>
              <a:off x="1609" y="2931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41" name="Line 38"/>
            <p:cNvSpPr/>
            <p:nvPr/>
          </p:nvSpPr>
          <p:spPr>
            <a:xfrm>
              <a:off x="2199" y="2931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42" name="Line 39"/>
            <p:cNvSpPr/>
            <p:nvPr/>
          </p:nvSpPr>
          <p:spPr>
            <a:xfrm>
              <a:off x="2788" y="2931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43" name="Line 40"/>
            <p:cNvSpPr/>
            <p:nvPr/>
          </p:nvSpPr>
          <p:spPr>
            <a:xfrm>
              <a:off x="3378" y="2931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7144" name="Line 41"/>
            <p:cNvSpPr/>
            <p:nvPr/>
          </p:nvSpPr>
          <p:spPr>
            <a:xfrm>
              <a:off x="3968" y="2931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4" name="Group 42"/>
          <p:cNvGrpSpPr/>
          <p:nvPr/>
        </p:nvGrpSpPr>
        <p:grpSpPr>
          <a:xfrm>
            <a:off x="801688" y="6134100"/>
            <a:ext cx="1800225" cy="360363"/>
            <a:chOff x="952" y="3022"/>
            <a:chExt cx="1134" cy="227"/>
          </a:xfrm>
        </p:grpSpPr>
        <p:cxnSp>
          <p:nvCxnSpPr>
            <p:cNvPr id="47146" name="AutoShape 43"/>
            <p:cNvCxnSpPr>
              <a:stCxn id="47138" idx="4"/>
              <a:endCxn id="47133" idx="4"/>
            </p:cNvCxnSpPr>
            <p:nvPr/>
          </p:nvCxnSpPr>
          <p:spPr>
            <a:xfrm rot="-5400000" flipH="1">
              <a:off x="1511" y="2463"/>
              <a:ext cx="16" cy="1134"/>
            </a:xfrm>
            <a:prstGeom prst="curvedConnector3">
              <a:avLst>
                <a:gd name="adj1" fmla="val 993750"/>
              </a:avLst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sp>
          <p:nvSpPr>
            <p:cNvPr id="47147" name="Text Box 44"/>
            <p:cNvSpPr txBox="1"/>
            <p:nvPr/>
          </p:nvSpPr>
          <p:spPr>
            <a:xfrm>
              <a:off x="1428" y="3037"/>
              <a:ext cx="31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45"/>
          <p:cNvGrpSpPr/>
          <p:nvPr/>
        </p:nvGrpSpPr>
        <p:grpSpPr>
          <a:xfrm>
            <a:off x="3538538" y="6107113"/>
            <a:ext cx="2679700" cy="508000"/>
            <a:chOff x="2676" y="3005"/>
            <a:chExt cx="1688" cy="320"/>
          </a:xfrm>
        </p:grpSpPr>
        <p:cxnSp>
          <p:nvCxnSpPr>
            <p:cNvPr id="47149" name="AutoShape 46"/>
            <p:cNvCxnSpPr>
              <a:stCxn id="47134" idx="4"/>
              <a:endCxn id="47137" idx="3"/>
            </p:cNvCxnSpPr>
            <p:nvPr/>
          </p:nvCxnSpPr>
          <p:spPr>
            <a:xfrm rot="5400000" flipH="1" flipV="1">
              <a:off x="3500" y="2174"/>
              <a:ext cx="33" cy="1688"/>
            </a:xfrm>
            <a:prstGeom prst="curvedConnector3">
              <a:avLst>
                <a:gd name="adj1" fmla="val -433333"/>
              </a:avLst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sp>
          <p:nvSpPr>
            <p:cNvPr id="47150" name="Text Box 47"/>
            <p:cNvSpPr txBox="1"/>
            <p:nvPr/>
          </p:nvSpPr>
          <p:spPr>
            <a:xfrm>
              <a:off x="3378" y="3113"/>
              <a:ext cx="31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16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6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>
                                            <p:txEl>
                                              <p:charRg st="0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48868">
                                            <p:txEl>
                                              <p:charRg st="0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48868">
                                            <p:txEl>
                                              <p:charRg st="0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48868">
                                            <p:txEl>
                                              <p:charRg st="0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488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488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488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488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488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488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3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48873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48873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48873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488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488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488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5" dur="80"/>
                                        <p:tgtEl>
                                          <p:spTgt spid="548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6" dur="80"/>
                                        <p:tgtEl>
                                          <p:spTgt spid="5488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80"/>
                                        <p:tgtEl>
                                          <p:spTgt spid="5488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89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2" dur="80"/>
                                        <p:tgtEl>
                                          <p:spTgt spid="548889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3" dur="80"/>
                                        <p:tgtEl>
                                          <p:spTgt spid="548889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80"/>
                                        <p:tgtEl>
                                          <p:spTgt spid="548889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89">
                                            <p:txEl>
                                              <p:charRg st="3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9" dur="80"/>
                                        <p:tgtEl>
                                          <p:spTgt spid="548889">
                                            <p:txEl>
                                              <p:charRg st="3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0" dur="80"/>
                                        <p:tgtEl>
                                          <p:spTgt spid="548889">
                                            <p:txEl>
                                              <p:charRg st="3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80"/>
                                        <p:tgtEl>
                                          <p:spTgt spid="548889">
                                            <p:txEl>
                                              <p:charRg st="3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48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8" grpId="0" build="p"/>
      <p:bldP spid="548869" grpId="0"/>
      <p:bldP spid="548870" grpId="0"/>
      <p:bldP spid="548872" grpId="0"/>
      <p:bldP spid="548873" grpId="0" build="p"/>
      <p:bldP spid="548874" grpId="0"/>
      <p:bldP spid="548890" grpId="0"/>
      <p:bldP spid="54889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日期占位符 5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8130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52964" name="Text Box 4"/>
          <p:cNvSpPr txBox="1"/>
          <p:nvPr/>
        </p:nvSpPr>
        <p:spPr>
          <a:xfrm>
            <a:off x="647700" y="3334068"/>
            <a:ext cx="8172450" cy="1004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考虑最长轨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。则存在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≠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,1&lt;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使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相邻。</a:t>
            </a:r>
            <a:endParaRPr lang="zh-CN" altLang="en-US" sz="24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最后考虑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i,j</a:t>
            </a:r>
            <a:r>
              <a:rPr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的奇偶性即可。</a:t>
            </a:r>
            <a:endParaRPr lang="zh-CN" altLang="en-US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971550" y="2156143"/>
            <a:ext cx="5905500" cy="385762"/>
            <a:chOff x="612" y="1826"/>
            <a:chExt cx="3720" cy="243"/>
          </a:xfrm>
        </p:grpSpPr>
        <p:sp>
          <p:nvSpPr>
            <p:cNvPr id="48134" name="Oval 6"/>
            <p:cNvSpPr/>
            <p:nvPr/>
          </p:nvSpPr>
          <p:spPr>
            <a:xfrm>
              <a:off x="1156" y="184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endParaRPr lang="en-US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35" name="Oval 7"/>
            <p:cNvSpPr/>
            <p:nvPr/>
          </p:nvSpPr>
          <p:spPr>
            <a:xfrm>
              <a:off x="1746" y="184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  <a:endParaRPr lang="en-US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36" name="Oval 8"/>
            <p:cNvSpPr/>
            <p:nvPr/>
          </p:nvSpPr>
          <p:spPr>
            <a:xfrm>
              <a:off x="2336" y="184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i</a:t>
              </a:r>
              <a:endParaRPr lang="en-US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37" name="Oval 9"/>
            <p:cNvSpPr/>
            <p:nvPr/>
          </p:nvSpPr>
          <p:spPr>
            <a:xfrm>
              <a:off x="2925" y="184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endParaRPr lang="zh-CN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38" name="Oval 10"/>
            <p:cNvSpPr/>
            <p:nvPr/>
          </p:nvSpPr>
          <p:spPr>
            <a:xfrm>
              <a:off x="3515" y="184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j</a:t>
              </a:r>
              <a:endParaRPr lang="en-US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39" name="Oval 11"/>
            <p:cNvSpPr/>
            <p:nvPr/>
          </p:nvSpPr>
          <p:spPr>
            <a:xfrm>
              <a:off x="4105" y="1842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m</a:t>
              </a:r>
              <a:endParaRPr lang="en-US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0" name="Oval 12"/>
            <p:cNvSpPr/>
            <p:nvPr/>
          </p:nvSpPr>
          <p:spPr>
            <a:xfrm>
              <a:off x="612" y="1826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</a:pPr>
              <a:r>
                <a:rPr lang="en-US" altLang="zh-CN" sz="16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16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endParaRPr lang="en-US" altLang="zh-CN" sz="160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1" name="Line 13"/>
            <p:cNvSpPr/>
            <p:nvPr/>
          </p:nvSpPr>
          <p:spPr>
            <a:xfrm>
              <a:off x="839" y="1962"/>
              <a:ext cx="3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8142" name="Line 14"/>
            <p:cNvSpPr/>
            <p:nvPr/>
          </p:nvSpPr>
          <p:spPr>
            <a:xfrm>
              <a:off x="1383" y="1962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8143" name="Line 15"/>
            <p:cNvSpPr/>
            <p:nvPr/>
          </p:nvSpPr>
          <p:spPr>
            <a:xfrm>
              <a:off x="1973" y="1962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lgDash"/>
              <a:miter/>
              <a:headEnd type="none" w="med" len="med"/>
              <a:tailEnd type="none" w="med" len="med"/>
            </a:ln>
          </p:spPr>
        </p:sp>
        <p:sp>
          <p:nvSpPr>
            <p:cNvPr id="48144" name="Line 16"/>
            <p:cNvSpPr/>
            <p:nvPr/>
          </p:nvSpPr>
          <p:spPr>
            <a:xfrm>
              <a:off x="2562" y="1962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8145" name="Line 17"/>
            <p:cNvSpPr/>
            <p:nvPr/>
          </p:nvSpPr>
          <p:spPr>
            <a:xfrm>
              <a:off x="3152" y="1962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8146" name="Line 18"/>
            <p:cNvSpPr/>
            <p:nvPr/>
          </p:nvSpPr>
          <p:spPr>
            <a:xfrm>
              <a:off x="3742" y="1962"/>
              <a:ext cx="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lgDash"/>
              <a:miter/>
              <a:headEnd type="none" w="med" len="med"/>
              <a:tailEnd type="none" w="med" len="med"/>
            </a:ln>
          </p:spPr>
        </p:sp>
        <p:cxnSp>
          <p:nvCxnSpPr>
            <p:cNvPr id="48147" name="AutoShape 19"/>
            <p:cNvCxnSpPr>
              <a:stCxn id="48140" idx="4"/>
              <a:endCxn id="48136" idx="3"/>
            </p:cNvCxnSpPr>
            <p:nvPr/>
          </p:nvCxnSpPr>
          <p:spPr>
            <a:xfrm rot="5400000" flipH="1" flipV="1">
              <a:off x="1536" y="1220"/>
              <a:ext cx="17" cy="1643"/>
            </a:xfrm>
            <a:prstGeom prst="curvedConnector3">
              <a:avLst>
                <a:gd name="adj1" fmla="val -935296"/>
              </a:avLst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48148" name="AutoShape 20"/>
            <p:cNvCxnSpPr>
              <a:stCxn id="48140" idx="4"/>
              <a:endCxn id="48138" idx="4"/>
            </p:cNvCxnSpPr>
            <p:nvPr/>
          </p:nvCxnSpPr>
          <p:spPr>
            <a:xfrm rot="-5400000" flipH="1">
              <a:off x="2166" y="606"/>
              <a:ext cx="16" cy="2903"/>
            </a:xfrm>
            <a:prstGeom prst="curvedConnector3">
              <a:avLst>
                <a:gd name="adj1" fmla="val 2062500"/>
              </a:avLst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sp>
        <p:nvSpPr>
          <p:cNvPr id="552981" name="Rectangle 21"/>
          <p:cNvSpPr/>
          <p:nvPr/>
        </p:nvSpPr>
        <p:spPr>
          <a:xfrm>
            <a:off x="179388" y="1389380"/>
            <a:ext cx="8601075" cy="720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阶无向简单图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每顶次数不小于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3,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中有偶圈。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1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52981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2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2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4" grpId="0"/>
      <p:bldP spid="552981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日期占位符 5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8130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98307" name="文本占位符 344071"/>
          <p:cNvSpPr>
            <a:spLocks noGrp="1"/>
          </p:cNvSpPr>
          <p:nvPr>
            <p:ph idx="1"/>
          </p:nvPr>
        </p:nvSpPr>
        <p:spPr>
          <a:xfrm>
            <a:off x="539750" y="1125538"/>
            <a:ext cx="8229600" cy="935037"/>
          </a:xfrm>
        </p:spPr>
        <p:txBody>
          <a:bodyPr anchor="t" anchorCtr="0"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为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）阶无向简单图，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，证明</a:t>
            </a:r>
            <a:r>
              <a:rPr lang="en-US" altLang="zh-CN" i="1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中存在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长度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>
                <a:latin typeface="Times New Roman" panose="02020603050405020304" pitchFamily="18" charset="0"/>
              </a:rPr>
              <a:t>+1 </a:t>
            </a:r>
            <a:r>
              <a:rPr lang="zh-CN" altLang="en-US" dirty="0">
                <a:latin typeface="Times New Roman" panose="02020603050405020304" pitchFamily="18" charset="0"/>
              </a:rPr>
              <a:t>的圈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5236" name="矩形 344072"/>
          <p:cNvSpPr/>
          <p:nvPr/>
        </p:nvSpPr>
        <p:spPr>
          <a:xfrm>
            <a:off x="468313" y="2403475"/>
            <a:ext cx="8229600" cy="2320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证 设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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b="1" i="1" err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i="1" baseline="-25000" err="1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是由初始路径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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用扩大路径法的得到的极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大路径，则</a:t>
            </a:r>
            <a:r>
              <a:rPr lang="zh-CN" altLang="en-US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l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 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（为什么？）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en-US" altLang="zh-CN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因为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不与</a:t>
            </a:r>
            <a:r>
              <a:rPr lang="zh-CN" altLang="en-US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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外顶点相邻，又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，因而在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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上除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外，至少还存在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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个顶点与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相邻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b="1" i="1" err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i="1" baseline="-25000" err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是离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最远的顶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点，于是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为 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G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中长度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+1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的圈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en-US" altLang="zh-CN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4915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2259013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二部图 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7843" name="Rectangle 3"/>
          <p:cNvSpPr>
            <a:spLocks noGrp="1"/>
          </p:cNvSpPr>
          <p:nvPr>
            <p:ph idx="1"/>
          </p:nvPr>
        </p:nvSpPr>
        <p:spPr>
          <a:xfrm>
            <a:off x="242888" y="1023938"/>
            <a:ext cx="8439150" cy="133985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115000"/>
              </a:lnSpc>
            </a:pPr>
            <a:r>
              <a:rPr lang="zh-CN" altLang="en-US" sz="2200" dirty="0">
                <a:solidFill>
                  <a:schemeClr val="hlink"/>
                </a:solidFill>
              </a:rPr>
              <a:t>定义</a:t>
            </a:r>
            <a:r>
              <a:rPr lang="en-US" altLang="zh-CN" sz="2200" dirty="0">
                <a:solidFill>
                  <a:schemeClr val="hlink"/>
                </a:solidFill>
              </a:rPr>
              <a:t>11.23</a:t>
            </a:r>
            <a:r>
              <a:rPr lang="en-US" altLang="zh-CN" sz="2200" dirty="0"/>
              <a:t> </a:t>
            </a:r>
            <a:r>
              <a:rPr lang="zh-CN" altLang="en-US" sz="2200" dirty="0"/>
              <a:t>设</a:t>
            </a:r>
            <a:r>
              <a:rPr lang="en-US" altLang="zh-CN" sz="2200" i="1" dirty="0"/>
              <a:t>G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&gt;,</a:t>
            </a:r>
            <a:r>
              <a:rPr lang="zh-CN" altLang="en-US" sz="2200" dirty="0"/>
              <a:t>若能将</a:t>
            </a:r>
            <a:r>
              <a:rPr lang="en-US" altLang="zh-CN" sz="2200" i="1" dirty="0"/>
              <a:t>V</a:t>
            </a:r>
            <a:r>
              <a:rPr lang="zh-CN" altLang="en-US" sz="2200" dirty="0"/>
              <a:t>分成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1</a:t>
            </a:r>
            <a:r>
              <a:rPr lang="zh-CN" altLang="en-US" sz="2200" dirty="0"/>
              <a:t>和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(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∪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=</a:t>
            </a:r>
            <a:r>
              <a:rPr lang="en-US" altLang="zh-CN" sz="2200" i="1" dirty="0"/>
              <a:t>V</a:t>
            </a:r>
            <a:r>
              <a:rPr lang="en-US" altLang="zh-CN" sz="2200" dirty="0"/>
              <a:t>, 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∩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=ø),</a:t>
            </a:r>
            <a:r>
              <a:rPr lang="zh-CN" altLang="en-US" sz="2200" dirty="0"/>
              <a:t>使得</a:t>
            </a:r>
            <a:r>
              <a:rPr lang="en-US" altLang="zh-CN" sz="2200" i="1" dirty="0"/>
              <a:t>G</a:t>
            </a:r>
            <a:r>
              <a:rPr lang="zh-CN" altLang="en-US" sz="2200" dirty="0"/>
              <a:t>中的每条边的两个端点都是一个属于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,</a:t>
            </a:r>
            <a:r>
              <a:rPr lang="zh-CN" altLang="en-US" sz="2200" dirty="0"/>
              <a:t>另一个属于</a:t>
            </a:r>
            <a:r>
              <a:rPr lang="en-US" altLang="zh-CN" sz="2200" dirty="0"/>
              <a:t>V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,</a:t>
            </a:r>
            <a:r>
              <a:rPr lang="zh-CN" altLang="en-US" sz="2200" dirty="0"/>
              <a:t>则称</a:t>
            </a:r>
            <a:r>
              <a:rPr lang="en-US" altLang="zh-CN" sz="2200" dirty="0"/>
              <a:t>G</a:t>
            </a:r>
            <a:r>
              <a:rPr lang="zh-CN" altLang="en-US" sz="2200" dirty="0"/>
              <a:t>为</a:t>
            </a:r>
            <a:r>
              <a:rPr lang="zh-CN" altLang="en-US" sz="2200" dirty="0">
                <a:solidFill>
                  <a:schemeClr val="hlink"/>
                </a:solidFill>
              </a:rPr>
              <a:t>二部图</a:t>
            </a:r>
            <a:r>
              <a:rPr lang="en-US" altLang="zh-CN" sz="2200" dirty="0"/>
              <a:t>(</a:t>
            </a:r>
            <a:r>
              <a:rPr lang="zh-CN" altLang="en-US" sz="2200" dirty="0"/>
              <a:t>二分图</a:t>
            </a:r>
            <a:r>
              <a:rPr lang="en-US" altLang="zh-CN" sz="2200" dirty="0"/>
              <a:t>, </a:t>
            </a:r>
            <a:r>
              <a:rPr lang="zh-CN" altLang="en-US" sz="2200" dirty="0"/>
              <a:t>偶图</a:t>
            </a:r>
            <a:r>
              <a:rPr lang="en-US" altLang="zh-CN" sz="2200" dirty="0"/>
              <a:t>)</a:t>
            </a:r>
            <a:r>
              <a:rPr lang="zh-CN" altLang="en-US" sz="2200" dirty="0"/>
              <a:t>，记为</a:t>
            </a:r>
            <a:r>
              <a:rPr lang="en-US" altLang="zh-CN" sz="2200" dirty="0">
                <a:solidFill>
                  <a:schemeClr val="hlink"/>
                </a:solidFill>
              </a:rPr>
              <a:t>&lt;</a:t>
            </a:r>
            <a:r>
              <a:rPr lang="en-US" altLang="zh-CN" sz="2200" i="1" dirty="0">
                <a:solidFill>
                  <a:schemeClr val="hlink"/>
                </a:solidFill>
              </a:rPr>
              <a:t>V</a:t>
            </a:r>
            <a:r>
              <a:rPr lang="en-US" altLang="zh-CN" sz="2200" baseline="-25000" dirty="0">
                <a:solidFill>
                  <a:schemeClr val="hlink"/>
                </a:solidFill>
              </a:rPr>
              <a:t>1</a:t>
            </a:r>
            <a:r>
              <a:rPr lang="en-US" altLang="zh-CN" sz="2200" dirty="0">
                <a:solidFill>
                  <a:schemeClr val="hlink"/>
                </a:solidFill>
              </a:rPr>
              <a:t>,</a:t>
            </a:r>
            <a:r>
              <a:rPr lang="en-US" altLang="zh-CN" sz="2200" i="1" dirty="0">
                <a:solidFill>
                  <a:schemeClr val="hlink"/>
                </a:solidFill>
              </a:rPr>
              <a:t>V</a:t>
            </a:r>
            <a:r>
              <a:rPr lang="en-US" altLang="zh-CN" sz="2200" baseline="-25000" dirty="0">
                <a:solidFill>
                  <a:schemeClr val="hlink"/>
                </a:solidFill>
              </a:rPr>
              <a:t>2</a:t>
            </a:r>
            <a:r>
              <a:rPr lang="en-US" altLang="zh-CN" sz="2200" dirty="0">
                <a:solidFill>
                  <a:schemeClr val="hlink"/>
                </a:solidFill>
              </a:rPr>
              <a:t>,</a:t>
            </a:r>
            <a:r>
              <a:rPr lang="en-US" altLang="zh-CN" sz="2200" i="1" dirty="0">
                <a:solidFill>
                  <a:schemeClr val="hlink"/>
                </a:solidFill>
              </a:rPr>
              <a:t>E</a:t>
            </a:r>
            <a:r>
              <a:rPr lang="en-US" altLang="zh-CN" sz="2200" dirty="0">
                <a:solidFill>
                  <a:schemeClr val="hlink"/>
                </a:solidFill>
              </a:rPr>
              <a:t>&gt;</a:t>
            </a:r>
            <a:r>
              <a:rPr lang="zh-CN" altLang="en-US" sz="2200" dirty="0"/>
              <a:t>。 </a:t>
            </a:r>
            <a:endParaRPr lang="zh-CN" altLang="en-US" sz="2200" dirty="0"/>
          </a:p>
        </p:txBody>
      </p:sp>
      <p:sp>
        <p:nvSpPr>
          <p:cNvPr id="547844" name="Rectangle 4"/>
          <p:cNvSpPr/>
          <p:nvPr/>
        </p:nvSpPr>
        <p:spPr>
          <a:xfrm>
            <a:off x="5233988" y="1865313"/>
            <a:ext cx="3414712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互补顶点子集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7845" name="Rectangle 5"/>
          <p:cNvSpPr/>
          <p:nvPr/>
        </p:nvSpPr>
        <p:spPr>
          <a:xfrm>
            <a:off x="482600" y="2225675"/>
            <a:ext cx="8118475" cy="895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简单二部图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中每个顶点均与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中所有顶点相邻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完全二部图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记为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r,s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=|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|,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=|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|.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7847" name="Rectangle 7"/>
          <p:cNvSpPr/>
          <p:nvPr/>
        </p:nvSpPr>
        <p:spPr>
          <a:xfrm>
            <a:off x="274638" y="5046663"/>
            <a:ext cx="8326437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11.10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一个无向图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二部图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当且仅当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中无奇数长度的回路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7848" name="Rectangle 8"/>
          <p:cNvSpPr/>
          <p:nvPr/>
        </p:nvSpPr>
        <p:spPr>
          <a:xfrm>
            <a:off x="242888" y="5413375"/>
            <a:ext cx="8636000" cy="895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分析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必要性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有回路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每个圈为偶圈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利用顶点划分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充分性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考虑连通性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然后根据跟某个点的距离的奇偶性划分顶点集合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423863" y="3248025"/>
            <a:ext cx="8001000" cy="1828800"/>
            <a:chOff x="336" y="2880"/>
            <a:chExt cx="5040" cy="1152"/>
          </a:xfrm>
        </p:grpSpPr>
        <p:sp>
          <p:nvSpPr>
            <p:cNvPr id="49162" name="Text Box 10"/>
            <p:cNvSpPr txBox="1"/>
            <p:nvPr/>
          </p:nvSpPr>
          <p:spPr>
            <a:xfrm>
              <a:off x="336" y="2880"/>
              <a:ext cx="5040" cy="1136"/>
            </a:xfrm>
            <a:prstGeom prst="rect">
              <a:avLst/>
            </a:prstGeom>
            <a:solidFill>
              <a:srgbClr val="CCFFFF"/>
            </a:solidFill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49163" name="Picture 11" descr="二部图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68" y="2928"/>
              <a:ext cx="1478" cy="854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49164" name="Group 12"/>
            <p:cNvGrpSpPr/>
            <p:nvPr/>
          </p:nvGrpSpPr>
          <p:grpSpPr>
            <a:xfrm>
              <a:off x="2765" y="2928"/>
              <a:ext cx="787" cy="1104"/>
              <a:chOff x="2688" y="2928"/>
              <a:chExt cx="787" cy="1104"/>
            </a:xfrm>
          </p:grpSpPr>
          <p:pic>
            <p:nvPicPr>
              <p:cNvPr id="49165" name="Picture 13" descr="K2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88" y="2928"/>
                <a:ext cx="787" cy="85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9166" name="Text Box 14"/>
              <p:cNvSpPr txBox="1"/>
              <p:nvPr/>
            </p:nvSpPr>
            <p:spPr>
              <a:xfrm>
                <a:off x="2928" y="3744"/>
                <a:ext cx="432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K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23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9167" name="Group 15"/>
            <p:cNvGrpSpPr/>
            <p:nvPr/>
          </p:nvGrpSpPr>
          <p:grpSpPr>
            <a:xfrm>
              <a:off x="4128" y="2928"/>
              <a:ext cx="787" cy="1104"/>
              <a:chOff x="4128" y="2880"/>
              <a:chExt cx="787" cy="1104"/>
            </a:xfrm>
          </p:grpSpPr>
          <p:pic>
            <p:nvPicPr>
              <p:cNvPr id="49168" name="Picture 16" descr="K3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28" y="2880"/>
                <a:ext cx="787" cy="85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9169" name="Text Box 17"/>
              <p:cNvSpPr txBox="1"/>
              <p:nvPr/>
            </p:nvSpPr>
            <p:spPr>
              <a:xfrm>
                <a:off x="4368" y="3696"/>
                <a:ext cx="432" cy="28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K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33</a:t>
                </a:r>
                <a:endPara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3">
                                            <p:txEl>
                                              <p:charRg st="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47843">
                                            <p:txEl>
                                              <p:charRg st="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47843">
                                            <p:txEl>
                                              <p:charRg st="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47843">
                                            <p:txEl>
                                              <p:charRg st="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478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478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478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5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47845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47845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47845">
                                            <p:txEl>
                                              <p:charRg st="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5478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5478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5478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"/>
                                        <p:tgtEl>
                                          <p:spTgt spid="54784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"/>
                                        <p:tgtEl>
                                          <p:spTgt spid="54784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"/>
                                        <p:tgtEl>
                                          <p:spTgt spid="54784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8">
                                            <p:txEl>
                                              <p:charRg st="29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547848">
                                            <p:txEl>
                                              <p:charRg st="29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547848">
                                            <p:txEl>
                                              <p:charRg st="29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547848">
                                            <p:txEl>
                                              <p:charRg st="29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44" grpId="0"/>
      <p:bldP spid="54784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3" y="182563"/>
            <a:ext cx="5870575" cy="474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j-ea"/>
                <a:cs typeface="+mj-cs"/>
              </a:rPr>
              <a:t>二部图的判别定理证明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555011" name="Rectangle 3"/>
          <p:cNvSpPr>
            <a:spLocks noGrp="1"/>
          </p:cNvSpPr>
          <p:nvPr>
            <p:ph idx="1"/>
          </p:nvPr>
        </p:nvSpPr>
        <p:spPr>
          <a:xfrm>
            <a:off x="423863" y="1023938"/>
            <a:ext cx="8296275" cy="5291137"/>
          </a:xfrm>
        </p:spPr>
        <p:txBody>
          <a:bodyPr vert="horz" wrap="square" lIns="91440" tIns="45720" rIns="91440" bIns="45720" anchor="t" anchorCtr="0"/>
          <a:p>
            <a:pPr marL="0" indent="0" eaLnBrk="1" hangingPunct="1"/>
            <a:r>
              <a:rPr lang="zh-CN" altLang="en-US" sz="2200" dirty="0"/>
              <a:t>证 必要性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indent="0" eaLnBrk="1" hangingPunct="1"/>
            <a:r>
              <a:rPr lang="zh-CN" altLang="en-US" sz="2200" dirty="0"/>
              <a:t>　设</a:t>
            </a:r>
            <a:r>
              <a:rPr lang="en-US" altLang="zh-CN" sz="2200" i="1" dirty="0"/>
              <a:t>G=</a:t>
            </a:r>
            <a:r>
              <a:rPr lang="en-US" altLang="zh-CN" sz="2200" dirty="0"/>
              <a:t>&lt;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,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</a:t>
            </a:r>
            <a:r>
              <a:rPr lang="zh-CN" altLang="en-US" sz="2200" dirty="0"/>
              <a:t>是二部图</a:t>
            </a:r>
            <a:r>
              <a:rPr lang="en-US" altLang="zh-CN" sz="2200" dirty="0"/>
              <a:t>, </a:t>
            </a:r>
            <a:r>
              <a:rPr lang="zh-CN" altLang="en-US" sz="2200" dirty="0"/>
              <a:t>每条边只能从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zh-CN" altLang="en-US" sz="2200" dirty="0"/>
              <a:t>到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, </a:t>
            </a:r>
            <a:r>
              <a:rPr lang="zh-CN" altLang="en-US" sz="2200" dirty="0"/>
              <a:t>或从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zh-CN" altLang="en-US" sz="2200" dirty="0"/>
              <a:t>到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,</a:t>
            </a:r>
            <a:endParaRPr lang="en-US" altLang="zh-CN" sz="2200" dirty="0"/>
          </a:p>
          <a:p>
            <a:pPr marL="0" indent="0" eaLnBrk="1" hangingPunct="1"/>
            <a:r>
              <a:rPr lang="en-US" altLang="zh-CN" sz="2200" dirty="0"/>
              <a:t> </a:t>
            </a:r>
            <a:r>
              <a:rPr lang="zh-CN" altLang="en-US" sz="2200" dirty="0"/>
              <a:t>故任何回路必为偶长度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indent="0" eaLnBrk="1" hangingPunct="1"/>
            <a:r>
              <a:rPr lang="zh-CN" altLang="en-US" sz="2200" dirty="0"/>
              <a:t>充分性</a:t>
            </a:r>
            <a:r>
              <a:rPr lang="en-US" altLang="zh-CN" sz="2200" dirty="0"/>
              <a:t>.</a:t>
            </a:r>
            <a:endParaRPr lang="en-US" altLang="zh-CN" sz="2200" dirty="0"/>
          </a:p>
          <a:p>
            <a:pPr marL="0" indent="0" eaLnBrk="1" hangingPunct="1"/>
            <a:r>
              <a:rPr lang="zh-CN" altLang="en-US" sz="2200" dirty="0"/>
              <a:t>　 不妨设</a:t>
            </a:r>
            <a:r>
              <a:rPr lang="en-US" altLang="zh-CN" sz="2200" i="1" dirty="0"/>
              <a:t>G</a:t>
            </a:r>
            <a:r>
              <a:rPr lang="zh-CN" altLang="en-US" sz="2200" dirty="0"/>
              <a:t>至少有一条边且连通</a:t>
            </a:r>
            <a:r>
              <a:rPr lang="en-US" altLang="zh-CN" sz="2200" dirty="0"/>
              <a:t>. </a:t>
            </a:r>
            <a:r>
              <a:rPr lang="zh-CN" altLang="en-US" sz="2200" dirty="0"/>
              <a:t>取任一顶点</a:t>
            </a:r>
            <a:r>
              <a:rPr lang="en-US" altLang="zh-CN" sz="2200" i="1" dirty="0"/>
              <a:t>u</a:t>
            </a:r>
            <a:r>
              <a:rPr lang="en-US" altLang="zh-CN" sz="2200" dirty="0"/>
              <a:t>,  </a:t>
            </a:r>
            <a:r>
              <a:rPr lang="zh-CN" altLang="en-US" sz="2200" dirty="0"/>
              <a:t>令</a:t>
            </a:r>
            <a:endParaRPr lang="zh-CN" altLang="en-US" sz="2200" dirty="0"/>
          </a:p>
          <a:p>
            <a:pPr marL="0" indent="0" eaLnBrk="1" hangingPunct="1"/>
            <a:r>
              <a:rPr lang="zh-CN" altLang="en-US" sz="2200" dirty="0"/>
              <a:t>　　　  　　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={</a:t>
            </a:r>
            <a:r>
              <a:rPr lang="en-US" altLang="zh-CN" sz="2200" i="1" dirty="0"/>
              <a:t>v</a:t>
            </a:r>
            <a:r>
              <a:rPr lang="en-US" altLang="zh-CN" sz="2200" dirty="0"/>
              <a:t> | 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>
                <a:sym typeface="Symbol" panose="05050102010706020507" pitchFamily="18" charset="2"/>
              </a:rPr>
              <a:t>V </a:t>
            </a:r>
            <a:r>
              <a:rPr lang="en-US" altLang="zh-CN" sz="2200" dirty="0">
                <a:sym typeface="Symbol" panose="05050102010706020507" pitchFamily="18" charset="2"/>
              </a:rPr>
              <a:t> </a:t>
            </a:r>
            <a:r>
              <a:rPr lang="en-US" altLang="zh-CN" sz="2200" i="1" dirty="0">
                <a:sym typeface="Symbol" panose="05050102010706020507" pitchFamily="18" charset="2"/>
              </a:rPr>
              <a:t>d</a:t>
            </a:r>
            <a:r>
              <a:rPr lang="en-US" altLang="zh-CN" sz="2200" dirty="0">
                <a:sym typeface="Symbol" panose="05050102010706020507" pitchFamily="18" charset="2"/>
              </a:rPr>
              <a:t>(</a:t>
            </a:r>
            <a:r>
              <a:rPr lang="en-US" altLang="zh-CN" sz="2200" i="1" dirty="0">
                <a:sym typeface="Symbol" panose="05050102010706020507" pitchFamily="18" charset="2"/>
              </a:rPr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,</a:t>
            </a:r>
            <a:r>
              <a:rPr lang="en-US" altLang="zh-CN" sz="2200" i="1" dirty="0">
                <a:sym typeface="Symbol" panose="05050102010706020507" pitchFamily="18" charset="2"/>
              </a:rPr>
              <a:t>u</a:t>
            </a:r>
            <a:r>
              <a:rPr lang="en-US" altLang="zh-CN" sz="2200" dirty="0">
                <a:sym typeface="Symbol" panose="05050102010706020507" pitchFamily="18" charset="2"/>
              </a:rPr>
              <a:t>)</a:t>
            </a:r>
            <a:r>
              <a:rPr lang="zh-CN" altLang="en-US" sz="2200" dirty="0">
                <a:sym typeface="Symbol" panose="05050102010706020507" pitchFamily="18" charset="2"/>
              </a:rPr>
              <a:t>为偶数</a:t>
            </a:r>
            <a:r>
              <a:rPr lang="en-US" altLang="zh-CN" sz="2200" dirty="0">
                <a:sym typeface="Symbol" panose="05050102010706020507" pitchFamily="18" charset="2"/>
              </a:rPr>
              <a:t>}, </a:t>
            </a:r>
            <a:endParaRPr lang="en-US" altLang="zh-CN" sz="2200" dirty="0"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sz="2200" i="1" dirty="0"/>
              <a:t>　　　　　</a:t>
            </a:r>
            <a:r>
              <a:rPr lang="en-US" altLang="zh-CN" sz="2200" i="1" dirty="0"/>
              <a:t>V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={</a:t>
            </a:r>
            <a:r>
              <a:rPr lang="en-US" altLang="zh-CN" sz="2200" i="1" dirty="0"/>
              <a:t>v</a:t>
            </a:r>
            <a:r>
              <a:rPr lang="en-US" altLang="zh-CN" sz="2200" dirty="0"/>
              <a:t> | </a:t>
            </a:r>
            <a:r>
              <a:rPr lang="en-US" altLang="zh-CN" sz="2200" i="1" dirty="0"/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>
                <a:sym typeface="Symbol" panose="05050102010706020507" pitchFamily="18" charset="2"/>
              </a:rPr>
              <a:t>V </a:t>
            </a:r>
            <a:r>
              <a:rPr lang="en-US" altLang="zh-CN" sz="2200" dirty="0">
                <a:sym typeface="Symbol" panose="05050102010706020507" pitchFamily="18" charset="2"/>
              </a:rPr>
              <a:t> </a:t>
            </a:r>
            <a:r>
              <a:rPr lang="en-US" altLang="zh-CN" sz="2200" i="1" dirty="0">
                <a:sym typeface="Symbol" panose="05050102010706020507" pitchFamily="18" charset="2"/>
              </a:rPr>
              <a:t>d</a:t>
            </a:r>
            <a:r>
              <a:rPr lang="en-US" altLang="zh-CN" sz="2200" dirty="0">
                <a:sym typeface="Symbol" panose="05050102010706020507" pitchFamily="18" charset="2"/>
              </a:rPr>
              <a:t>(</a:t>
            </a:r>
            <a:r>
              <a:rPr lang="en-US" altLang="zh-CN" sz="2200" i="1" dirty="0">
                <a:sym typeface="Symbol" panose="05050102010706020507" pitchFamily="18" charset="2"/>
              </a:rPr>
              <a:t>v</a:t>
            </a:r>
            <a:r>
              <a:rPr lang="en-US" altLang="zh-CN" sz="2200" dirty="0">
                <a:sym typeface="Symbol" panose="05050102010706020507" pitchFamily="18" charset="2"/>
              </a:rPr>
              <a:t>,</a:t>
            </a:r>
            <a:r>
              <a:rPr lang="en-US" altLang="zh-CN" sz="2200" i="1" dirty="0">
                <a:sym typeface="Symbol" panose="05050102010706020507" pitchFamily="18" charset="2"/>
              </a:rPr>
              <a:t>u</a:t>
            </a:r>
            <a:r>
              <a:rPr lang="en-US" altLang="zh-CN" sz="2200" dirty="0">
                <a:sym typeface="Symbol" panose="05050102010706020507" pitchFamily="18" charset="2"/>
              </a:rPr>
              <a:t>)</a:t>
            </a:r>
            <a:r>
              <a:rPr lang="zh-CN" altLang="en-US" sz="2200" dirty="0">
                <a:sym typeface="Symbol" panose="05050102010706020507" pitchFamily="18" charset="2"/>
              </a:rPr>
              <a:t>为奇数</a:t>
            </a:r>
            <a:r>
              <a:rPr lang="en-US" altLang="zh-CN" sz="2200" dirty="0">
                <a:sym typeface="Symbol" panose="05050102010706020507" pitchFamily="18" charset="2"/>
              </a:rPr>
              <a:t>}</a:t>
            </a:r>
            <a:endParaRPr lang="en-US" altLang="zh-CN" sz="2200" dirty="0"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sz="2200" dirty="0">
                <a:sym typeface="Symbol" panose="05050102010706020507" pitchFamily="18" charset="2"/>
              </a:rPr>
              <a:t>则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>
                <a:sym typeface="Symbol" panose="05050102010706020507" pitchFamily="18" charset="2"/>
              </a:rPr>
              <a:t>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=</a:t>
            </a:r>
            <a:r>
              <a:rPr lang="en-US" altLang="zh-CN" sz="2200" i="1" dirty="0"/>
              <a:t>V, V</a:t>
            </a:r>
            <a:r>
              <a:rPr lang="en-US" altLang="zh-CN" sz="2200" baseline="-30000" dirty="0"/>
              <a:t>1</a:t>
            </a:r>
            <a:r>
              <a:rPr lang="en-US" altLang="zh-CN" sz="2200" dirty="0">
                <a:sym typeface="Symbol" panose="05050102010706020507" pitchFamily="18" charset="2"/>
              </a:rPr>
              <a:t>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=</a:t>
            </a:r>
            <a:r>
              <a:rPr lang="en-US" altLang="zh-CN" sz="2200" dirty="0">
                <a:sym typeface="Symbol" panose="05050102010706020507" pitchFamily="18" charset="2"/>
              </a:rPr>
              <a:t>. </a:t>
            </a:r>
            <a:endParaRPr lang="en-US" altLang="zh-CN" sz="2200" dirty="0"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sz="2200" dirty="0">
                <a:sym typeface="Symbol" panose="05050102010706020507" pitchFamily="18" charset="2"/>
              </a:rPr>
              <a:t>先证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zh-CN" altLang="en-US" sz="2200" dirty="0">
                <a:sym typeface="Symbol" panose="05050102010706020507" pitchFamily="18" charset="2"/>
              </a:rPr>
              <a:t>中任意两点不相邻</a:t>
            </a:r>
            <a:r>
              <a:rPr lang="en-US" altLang="zh-CN" sz="2200" dirty="0">
                <a:sym typeface="Symbol" panose="05050102010706020507" pitchFamily="18" charset="2"/>
              </a:rPr>
              <a:t>. </a:t>
            </a:r>
            <a:endParaRPr lang="en-US" altLang="zh-CN" sz="2200" dirty="0"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sz="2200" dirty="0">
                <a:sym typeface="Symbol" panose="05050102010706020507" pitchFamily="18" charset="2"/>
              </a:rPr>
              <a:t>　假设存在</a:t>
            </a:r>
            <a:r>
              <a:rPr lang="en-US" altLang="zh-CN" sz="2200" i="1" dirty="0">
                <a:sym typeface="Symbol" panose="05050102010706020507" pitchFamily="18" charset="2"/>
              </a:rPr>
              <a:t>s,t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>
                <a:sym typeface="Symbol" panose="05050102010706020507" pitchFamily="18" charset="2"/>
              </a:rPr>
              <a:t>, </a:t>
            </a:r>
            <a:r>
              <a:rPr lang="en-US" altLang="zh-CN" sz="2200" i="1" dirty="0">
                <a:sym typeface="Symbol" panose="05050102010706020507" pitchFamily="18" charset="2"/>
              </a:rPr>
              <a:t>e</a:t>
            </a:r>
            <a:r>
              <a:rPr lang="en-US" altLang="zh-CN" sz="2200" dirty="0">
                <a:sym typeface="Symbol" panose="05050102010706020507" pitchFamily="18" charset="2"/>
              </a:rPr>
              <a:t>=(</a:t>
            </a:r>
            <a:r>
              <a:rPr lang="en-US" altLang="zh-CN" sz="2200" i="1" dirty="0">
                <a:sym typeface="Symbol" panose="05050102010706020507" pitchFamily="18" charset="2"/>
              </a:rPr>
              <a:t>s,t</a:t>
            </a:r>
            <a:r>
              <a:rPr lang="en-US" altLang="zh-CN" sz="2200" dirty="0">
                <a:sym typeface="Symbol" panose="05050102010706020507" pitchFamily="18" charset="2"/>
              </a:rPr>
              <a:t>)</a:t>
            </a:r>
            <a:r>
              <a:rPr lang="en-US" altLang="zh-CN" sz="2200" i="1" dirty="0">
                <a:sym typeface="Symbol" panose="05050102010706020507" pitchFamily="18" charset="2"/>
              </a:rPr>
              <a:t>E</a:t>
            </a:r>
            <a:r>
              <a:rPr lang="en-US" altLang="zh-CN" sz="2200" dirty="0">
                <a:sym typeface="Symbol" panose="05050102010706020507" pitchFamily="18" charset="2"/>
              </a:rPr>
              <a:t>. </a:t>
            </a:r>
            <a:endParaRPr lang="en-US" altLang="zh-CN" sz="2200" dirty="0">
              <a:sym typeface="Symbol" panose="05050102010706020507" pitchFamily="18" charset="2"/>
            </a:endParaRPr>
          </a:p>
          <a:p>
            <a:pPr marL="0" indent="0" eaLnBrk="1" hangingPunct="1"/>
            <a:r>
              <a:rPr lang="zh-CN" altLang="en-US" sz="2200" dirty="0">
                <a:sym typeface="Symbol" panose="05050102010706020507" pitchFamily="18" charset="2"/>
              </a:rPr>
              <a:t>　设</a:t>
            </a:r>
            <a:r>
              <a:rPr lang="zh-CN" altLang="en-US" sz="2200" i="1" dirty="0">
                <a:sym typeface="Symbol" panose="05050102010706020507" pitchFamily="18" charset="2"/>
              </a:rPr>
              <a:t>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, </a:t>
            </a:r>
            <a:r>
              <a:rPr lang="en-US" altLang="zh-CN" sz="2200" i="1" dirty="0">
                <a:sym typeface="Symbol" panose="05050102010706020507" pitchFamily="18" charset="2"/>
              </a:rPr>
              <a:t></a:t>
            </a:r>
            <a:r>
              <a:rPr lang="en-US" altLang="zh-CN" sz="2200" baseline="-25000" dirty="0"/>
              <a:t>2</a:t>
            </a:r>
            <a:r>
              <a:rPr lang="zh-CN" altLang="en-US" sz="2200" dirty="0"/>
              <a:t>分别是</a:t>
            </a:r>
            <a:r>
              <a:rPr lang="en-US" altLang="zh-CN" sz="2200" i="1" dirty="0"/>
              <a:t>u</a:t>
            </a:r>
            <a:r>
              <a:rPr lang="zh-CN" altLang="en-US" sz="2200" dirty="0"/>
              <a:t>到</a:t>
            </a:r>
            <a:r>
              <a:rPr lang="en-US" altLang="zh-CN" sz="2200" i="1" dirty="0"/>
              <a:t>s,t</a:t>
            </a:r>
            <a:r>
              <a:rPr lang="zh-CN" altLang="en-US" sz="2200" dirty="0"/>
              <a:t>的短程线</a:t>
            </a:r>
            <a:r>
              <a:rPr lang="en-US" altLang="zh-CN" sz="2200" dirty="0"/>
              <a:t>, </a:t>
            </a:r>
            <a:r>
              <a:rPr lang="zh-CN" altLang="en-US" sz="2200" dirty="0"/>
              <a:t>则</a:t>
            </a:r>
            <a:endParaRPr lang="zh-CN" altLang="en-US" sz="2200" dirty="0"/>
          </a:p>
          <a:p>
            <a:pPr marL="0" indent="0" eaLnBrk="1" hangingPunct="1"/>
            <a:r>
              <a:rPr lang="zh-CN" altLang="en-US" sz="2200" i="1" dirty="0">
                <a:sym typeface="Symbol" panose="05050102010706020507" pitchFamily="18" charset="2"/>
              </a:rPr>
              <a:t>　</a:t>
            </a:r>
            <a:r>
              <a:rPr lang="en-US" altLang="zh-CN" sz="2200" baseline="-25000" dirty="0"/>
              <a:t>1</a:t>
            </a:r>
            <a:r>
              <a:rPr lang="en-US" altLang="zh-CN" sz="2200" dirty="0">
                <a:sym typeface="Symbol" panose="05050102010706020507" pitchFamily="18" charset="2"/>
              </a:rPr>
              <a:t></a:t>
            </a:r>
            <a:r>
              <a:rPr lang="en-US" altLang="zh-CN" sz="2200" i="1" dirty="0">
                <a:sym typeface="Symbol" panose="05050102010706020507" pitchFamily="18" charset="2"/>
              </a:rPr>
              <a:t>e </a:t>
            </a:r>
            <a:r>
              <a:rPr lang="en-US" altLang="zh-CN" sz="2200" dirty="0">
                <a:sym typeface="Symbol" panose="05050102010706020507" pitchFamily="18" charset="2"/>
              </a:rPr>
              <a:t></a:t>
            </a:r>
            <a:r>
              <a:rPr lang="en-US" altLang="zh-CN" sz="2200" i="1" dirty="0">
                <a:sym typeface="Symbol" panose="05050102010706020507" pitchFamily="18" charset="2"/>
              </a:rPr>
              <a:t></a:t>
            </a:r>
            <a:r>
              <a:rPr lang="en-US" altLang="zh-CN" sz="2200" baseline="-25000" dirty="0"/>
              <a:t>2</a:t>
            </a:r>
            <a:r>
              <a:rPr lang="zh-CN" altLang="en-US" sz="2200" dirty="0"/>
              <a:t>是一条回路</a:t>
            </a:r>
            <a:r>
              <a:rPr lang="en-US" altLang="zh-CN" sz="2200" dirty="0"/>
              <a:t>, </a:t>
            </a:r>
            <a:r>
              <a:rPr lang="zh-CN" altLang="en-US" sz="2200" dirty="0"/>
              <a:t>其长度为奇数</a:t>
            </a:r>
            <a:r>
              <a:rPr lang="en-US" altLang="zh-CN" sz="2200" dirty="0"/>
              <a:t>, </a:t>
            </a:r>
            <a:r>
              <a:rPr lang="zh-CN" altLang="en-US" sz="2200" dirty="0"/>
              <a:t>与假设矛盾</a:t>
            </a:r>
            <a:r>
              <a:rPr lang="en-US" altLang="zh-CN" sz="2200" dirty="0"/>
              <a:t>. </a:t>
            </a:r>
            <a:endParaRPr lang="en-US" altLang="zh-CN" sz="2200" dirty="0"/>
          </a:p>
          <a:p>
            <a:pPr marL="0" indent="0" eaLnBrk="1" hangingPunct="1"/>
            <a:r>
              <a:rPr lang="zh-CN" altLang="en-US" sz="2200" dirty="0"/>
              <a:t>同理可</a:t>
            </a:r>
            <a:r>
              <a:rPr lang="zh-CN" altLang="en-US" sz="2200" dirty="0">
                <a:sym typeface="Symbol" panose="05050102010706020507" pitchFamily="18" charset="2"/>
              </a:rPr>
              <a:t>证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zh-CN" altLang="en-US" sz="2200" dirty="0">
                <a:sym typeface="Symbol" panose="05050102010706020507" pitchFamily="18" charset="2"/>
              </a:rPr>
              <a:t>中任意两点不相邻</a:t>
            </a:r>
            <a:r>
              <a:rPr lang="en-US" altLang="zh-CN" sz="2200" dirty="0">
                <a:sym typeface="Symbol" panose="05050102010706020507" pitchFamily="18" charset="2"/>
              </a:rPr>
              <a:t>.</a:t>
            </a:r>
            <a:r>
              <a:rPr lang="en-US" altLang="zh-CN" sz="2200" dirty="0"/>
              <a:t> </a:t>
            </a:r>
            <a:endParaRPr lang="en-US" altLang="zh-CN" sz="22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charRg st="8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55011">
                                            <p:txEl>
                                              <p:charRg st="8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55011">
                                            <p:txEl>
                                              <p:charRg st="8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55011">
                                            <p:txEl>
                                              <p:charRg st="8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charRg st="49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55011">
                                            <p:txEl>
                                              <p:charRg st="49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55011">
                                            <p:txEl>
                                              <p:charRg st="49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55011">
                                            <p:txEl>
                                              <p:charRg st="49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charRg st="6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55011">
                                            <p:txEl>
                                              <p:charRg st="6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55011">
                                            <p:txEl>
                                              <p:charRg st="6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55011">
                                            <p:txEl>
                                              <p:charRg st="6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charRg st="67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555011">
                                            <p:txEl>
                                              <p:charRg st="67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555011">
                                            <p:txEl>
                                              <p:charRg st="67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555011">
                                            <p:txEl>
                                              <p:charRg st="67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charRg st="95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555011">
                                            <p:txEl>
                                              <p:charRg st="95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555011">
                                            <p:txEl>
                                              <p:charRg st="95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555011">
                                            <p:txEl>
                                              <p:charRg st="95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charRg st="129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55011">
                                            <p:txEl>
                                              <p:charRg st="129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55011">
                                            <p:txEl>
                                              <p:charRg st="129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55011">
                                            <p:txEl>
                                              <p:charRg st="129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charRg st="159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555011">
                                            <p:txEl>
                                              <p:charRg st="159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555011">
                                            <p:txEl>
                                              <p:charRg st="159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555011">
                                            <p:txEl>
                                              <p:charRg st="159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charRg st="179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555011">
                                            <p:txEl>
                                              <p:charRg st="179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555011">
                                            <p:txEl>
                                              <p:charRg st="179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555011">
                                            <p:txEl>
                                              <p:charRg st="179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charRg st="194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555011">
                                            <p:txEl>
                                              <p:charRg st="194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555011">
                                            <p:txEl>
                                              <p:charRg st="194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555011">
                                            <p:txEl>
                                              <p:charRg st="194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charRg st="219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555011">
                                            <p:txEl>
                                              <p:charRg st="219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555011">
                                            <p:txEl>
                                              <p:charRg st="219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555011">
                                            <p:txEl>
                                              <p:charRg st="219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charRg st="243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80"/>
                                        <p:tgtEl>
                                          <p:spTgt spid="555011">
                                            <p:txEl>
                                              <p:charRg st="243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80"/>
                                        <p:tgtEl>
                                          <p:spTgt spid="555011">
                                            <p:txEl>
                                              <p:charRg st="243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80"/>
                                        <p:tgtEl>
                                          <p:spTgt spid="555011">
                                            <p:txEl>
                                              <p:charRg st="243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1">
                                            <p:txEl>
                                              <p:charRg st="275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80"/>
                                        <p:tgtEl>
                                          <p:spTgt spid="555011">
                                            <p:txEl>
                                              <p:charRg st="275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80"/>
                                        <p:tgtEl>
                                          <p:spTgt spid="555011">
                                            <p:txEl>
                                              <p:charRg st="275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80"/>
                                        <p:tgtEl>
                                          <p:spTgt spid="555011">
                                            <p:txEl>
                                              <p:charRg st="275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52400"/>
            <a:ext cx="1416050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6035" name="Text Box 3"/>
          <p:cNvSpPr txBox="1"/>
          <p:nvPr/>
        </p:nvSpPr>
        <p:spPr>
          <a:xfrm>
            <a:off x="990600" y="3505200"/>
            <a:ext cx="17526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非二部图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1205" name="Picture 4" descr="图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828800"/>
            <a:ext cx="1481138" cy="1524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06" name="Picture 5" descr="图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828800"/>
            <a:ext cx="1546225" cy="1590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07" name="Picture 6" descr="图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33600"/>
            <a:ext cx="1676400" cy="1262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08" name="Picture 7" descr="图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19600"/>
            <a:ext cx="1676400" cy="1262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09" name="Picture 8" descr="图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4572000"/>
            <a:ext cx="1676400" cy="1262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10" name="Picture 9" descr="图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4267200"/>
            <a:ext cx="1524000" cy="1455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6042" name="Picture 10" descr="图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00" y="2552700"/>
            <a:ext cx="1524000" cy="190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6043" name="Picture 11" descr="图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2133600"/>
            <a:ext cx="1295400" cy="1279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6044" name="Picture 12" descr="图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4572000"/>
            <a:ext cx="1295400" cy="1277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6045" name="Picture 13" descr="图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419600"/>
            <a:ext cx="1295400" cy="1277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6046" name="Text Box 14"/>
          <p:cNvSpPr txBox="1"/>
          <p:nvPr/>
        </p:nvSpPr>
        <p:spPr>
          <a:xfrm>
            <a:off x="6096000" y="5715000"/>
            <a:ext cx="17526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非二部图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56047" name="Picture 15" descr="图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313" y="1982788"/>
            <a:ext cx="1219200" cy="654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6048" name="Picture 16" descr="图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4370388"/>
            <a:ext cx="1358900" cy="12906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6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6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6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6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6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6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6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6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6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6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6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6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56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56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35" grpId="0"/>
      <p:bldP spid="55604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22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11.4</a:t>
            </a:r>
            <a:r>
              <a:rPr kumimoji="1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 </a:t>
            </a:r>
            <a:r>
              <a:rPr kumimoji="1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j-cs"/>
              </a:rPr>
              <a:t>图的矩阵表示</a:t>
            </a:r>
            <a:endParaRPr kumimoji="1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2" charset="-122"/>
              <a:cs typeface="+mj-cs"/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xfrm>
            <a:off x="436563" y="1084263"/>
            <a:ext cx="8269287" cy="4445000"/>
          </a:xfrm>
        </p:spPr>
        <p:txBody>
          <a:bodyPr vert="horz" wrap="square" lIns="91440" tIns="45720" rIns="91440" bIns="45720" anchor="t" anchorCtr="0"/>
          <a:p>
            <a:pPr marL="0" eaLnBrk="1" hangingPunct="1">
              <a:spcBef>
                <a:spcPct val="40000"/>
              </a:spcBef>
              <a:buClr>
                <a:schemeClr val="tx1"/>
              </a:buClr>
            </a:pPr>
            <a:r>
              <a:rPr lang="zh-CN" altLang="en-US" sz="2800" dirty="0"/>
              <a:t>无向图的关联矩阵</a:t>
            </a:r>
            <a:endParaRPr lang="zh-CN" altLang="en-US" sz="2800" dirty="0"/>
          </a:p>
          <a:p>
            <a:pPr marL="0" eaLnBrk="1" hangingPunct="1">
              <a:spcBef>
                <a:spcPct val="40000"/>
              </a:spcBef>
              <a:buClr>
                <a:schemeClr val="tx1"/>
              </a:buClr>
            </a:pPr>
            <a:r>
              <a:rPr lang="zh-CN" altLang="en-US" sz="2800" dirty="0"/>
              <a:t>有向无环图的关联矩阵</a:t>
            </a:r>
            <a:endParaRPr lang="zh-CN" altLang="en-US" sz="2800" dirty="0"/>
          </a:p>
          <a:p>
            <a:pPr marL="0" eaLnBrk="1" hangingPunct="1">
              <a:spcBef>
                <a:spcPct val="40000"/>
              </a:spcBef>
              <a:buClr>
                <a:schemeClr val="tx1"/>
              </a:buClr>
            </a:pPr>
            <a:r>
              <a:rPr lang="zh-CN" altLang="en-US" sz="2800" dirty="0"/>
              <a:t>有向图的邻接矩阵</a:t>
            </a:r>
            <a:endParaRPr lang="zh-CN" altLang="en-US" sz="2800" dirty="0"/>
          </a:p>
          <a:p>
            <a:pPr lvl="1" eaLnBrk="1" hangingPunct="1"/>
            <a:r>
              <a:rPr lang="zh-CN" altLang="en-US" b="1" dirty="0"/>
              <a:t>有向图中的通路数与回路数</a:t>
            </a:r>
            <a:endParaRPr lang="zh-CN" altLang="en-US" b="1" dirty="0"/>
          </a:p>
          <a:p>
            <a:pPr marL="0" eaLnBrk="1" hangingPunct="1">
              <a:spcBef>
                <a:spcPct val="40000"/>
              </a:spcBef>
              <a:buClr>
                <a:schemeClr val="tx1"/>
              </a:buClr>
            </a:pPr>
            <a:r>
              <a:rPr lang="zh-CN" altLang="en-US" sz="2800" dirty="0"/>
              <a:t>有向图的可达矩阵</a:t>
            </a:r>
            <a:endParaRPr lang="zh-CN" altLang="en-US" sz="2800" dirty="0"/>
          </a:p>
        </p:txBody>
      </p:sp>
    </p:spTree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32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345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无向图的关联矩阵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4531" name="Rectangle 3"/>
          <p:cNvSpPr>
            <a:spLocks noGrp="1"/>
          </p:cNvSpPr>
          <p:nvPr>
            <p:ph idx="1"/>
          </p:nvPr>
        </p:nvSpPr>
        <p:spPr>
          <a:xfrm>
            <a:off x="303213" y="1066800"/>
            <a:ext cx="8499475" cy="2125663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lnSpc>
                <a:spcPct val="120000"/>
              </a:lnSpc>
              <a:buClr>
                <a:schemeClr val="bg2"/>
              </a:buClr>
              <a:buSzPct val="75000"/>
            </a:pPr>
            <a:r>
              <a:rPr lang="zh-CN" altLang="en-US" sz="2200" dirty="0">
                <a:solidFill>
                  <a:schemeClr val="hlink"/>
                </a:solidFill>
              </a:rPr>
              <a:t>定义</a:t>
            </a:r>
            <a:r>
              <a:rPr lang="en-US" altLang="zh-CN" sz="2200" dirty="0">
                <a:solidFill>
                  <a:schemeClr val="hlink"/>
                </a:solidFill>
              </a:rPr>
              <a:t>11.24</a:t>
            </a:r>
            <a:r>
              <a:rPr lang="en-US" altLang="zh-CN" sz="2200" dirty="0"/>
              <a:t> </a:t>
            </a:r>
            <a:r>
              <a:rPr lang="zh-CN" altLang="en-US" sz="2200" dirty="0"/>
              <a:t>设无向图</a:t>
            </a:r>
            <a:r>
              <a:rPr lang="en-US" altLang="zh-CN" sz="2200" i="1" dirty="0"/>
              <a:t>G</a:t>
            </a:r>
            <a:r>
              <a:rPr lang="en-US" altLang="zh-CN" sz="2200" dirty="0"/>
              <a:t>=&lt;</a:t>
            </a:r>
            <a:r>
              <a:rPr lang="en-US" altLang="zh-CN" sz="2200" i="1" dirty="0"/>
              <a:t>V</a:t>
            </a:r>
            <a:r>
              <a:rPr lang="en-US" altLang="zh-CN" sz="2200" dirty="0"/>
              <a:t>,</a:t>
            </a:r>
            <a:r>
              <a:rPr lang="en-US" altLang="zh-CN" sz="2200" i="1" dirty="0"/>
              <a:t>E</a:t>
            </a:r>
            <a:r>
              <a:rPr lang="en-US" altLang="zh-CN" sz="2200" dirty="0"/>
              <a:t>&gt;, </a:t>
            </a:r>
            <a:r>
              <a:rPr lang="en-US" altLang="zh-CN" sz="2200" i="1" dirty="0"/>
              <a:t>V</a:t>
            </a:r>
            <a:r>
              <a:rPr lang="en-US" altLang="zh-CN" sz="2200" dirty="0"/>
              <a:t>={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, </a:t>
            </a:r>
            <a:r>
              <a:rPr lang="en-US" altLang="zh-CN" sz="2200" i="1" dirty="0"/>
              <a:t>v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, …, </a:t>
            </a:r>
            <a:r>
              <a:rPr lang="en-US" altLang="zh-CN" sz="2200" i="1" dirty="0"/>
              <a:t>v</a:t>
            </a:r>
            <a:r>
              <a:rPr lang="en-US" altLang="zh-CN" sz="2200" i="1" baseline="-30000" dirty="0"/>
              <a:t>n</a:t>
            </a:r>
            <a:r>
              <a:rPr lang="en-US" altLang="zh-CN" sz="2200" dirty="0"/>
              <a:t>}, </a:t>
            </a:r>
            <a:r>
              <a:rPr lang="en-US" altLang="zh-CN" sz="2200" i="1" dirty="0"/>
              <a:t>E</a:t>
            </a:r>
            <a:r>
              <a:rPr lang="en-US" altLang="zh-CN" sz="2200" dirty="0"/>
              <a:t>={</a:t>
            </a:r>
            <a:r>
              <a:rPr lang="en-US" altLang="zh-CN" sz="2200" i="1" dirty="0"/>
              <a:t>e</a:t>
            </a:r>
            <a:r>
              <a:rPr lang="en-US" altLang="zh-CN" sz="2200" baseline="-30000" dirty="0"/>
              <a:t>1</a:t>
            </a:r>
            <a:r>
              <a:rPr lang="en-US" altLang="zh-CN" sz="2200" dirty="0"/>
              <a:t>, </a:t>
            </a:r>
            <a:r>
              <a:rPr lang="en-US" altLang="zh-CN" sz="2200" i="1" dirty="0"/>
              <a:t>e</a:t>
            </a:r>
            <a:r>
              <a:rPr lang="en-US" altLang="zh-CN" sz="2200" baseline="-30000" dirty="0"/>
              <a:t>2</a:t>
            </a:r>
            <a:r>
              <a:rPr lang="en-US" altLang="zh-CN" sz="2200" dirty="0"/>
              <a:t>, …, </a:t>
            </a:r>
            <a:r>
              <a:rPr lang="en-US" altLang="zh-CN" sz="2200" i="1" dirty="0"/>
              <a:t>e</a:t>
            </a:r>
            <a:r>
              <a:rPr lang="en-US" altLang="zh-CN" sz="2200" i="1" baseline="-30000" dirty="0"/>
              <a:t>m</a:t>
            </a:r>
            <a:r>
              <a:rPr lang="en-US" altLang="zh-CN" sz="2200" dirty="0"/>
              <a:t>}.</a:t>
            </a:r>
            <a:r>
              <a:rPr lang="en-US" altLang="zh-CN" sz="2200" i="1" dirty="0"/>
              <a:t> </a:t>
            </a:r>
            <a:endParaRPr lang="en-US" altLang="zh-CN" sz="2200" i="1" dirty="0"/>
          </a:p>
          <a:p>
            <a:pPr marL="0" algn="just" eaLnBrk="1" hangingPunct="1">
              <a:lnSpc>
                <a:spcPct val="120000"/>
              </a:lnSpc>
              <a:buClr>
                <a:schemeClr val="bg2"/>
              </a:buClr>
              <a:buSzPct val="75000"/>
            </a:pPr>
            <a:r>
              <a:rPr lang="zh-CN" altLang="en-US" sz="2200" dirty="0"/>
              <a:t>令</a:t>
            </a:r>
            <a:r>
              <a:rPr lang="en-US" altLang="zh-CN" sz="2200" i="1" dirty="0"/>
              <a:t>m</a:t>
            </a:r>
            <a:r>
              <a:rPr lang="en-US" altLang="zh-CN" sz="2200" i="1" baseline="-30000" dirty="0"/>
              <a:t>ij</a:t>
            </a:r>
            <a:r>
              <a:rPr lang="zh-CN" altLang="en-US" sz="2200" dirty="0"/>
              <a:t>为</a:t>
            </a:r>
            <a:r>
              <a:rPr lang="en-US" altLang="zh-CN" sz="2200" i="1" dirty="0"/>
              <a:t>v</a:t>
            </a:r>
            <a:r>
              <a:rPr lang="en-US" altLang="zh-CN" sz="2200" i="1" baseline="-30000" dirty="0"/>
              <a:t>i</a:t>
            </a:r>
            <a:r>
              <a:rPr lang="zh-CN" altLang="en-US" sz="2200" dirty="0"/>
              <a:t>与</a:t>
            </a:r>
            <a:r>
              <a:rPr lang="en-US" altLang="zh-CN" sz="2200" i="1" dirty="0"/>
              <a:t>e</a:t>
            </a:r>
            <a:r>
              <a:rPr lang="en-US" altLang="zh-CN" sz="2200" i="1" baseline="-30000" dirty="0"/>
              <a:t>j</a:t>
            </a:r>
            <a:r>
              <a:rPr lang="zh-CN" altLang="en-US" sz="2200" dirty="0"/>
              <a:t>的</a:t>
            </a:r>
            <a:r>
              <a:rPr lang="zh-CN" altLang="en-US" sz="2200" dirty="0">
                <a:solidFill>
                  <a:schemeClr val="hlink"/>
                </a:solidFill>
              </a:rPr>
              <a:t>关联次数</a:t>
            </a:r>
            <a:r>
              <a:rPr lang="en-US" altLang="zh-CN" sz="2200" dirty="0"/>
              <a:t>, </a:t>
            </a:r>
            <a:r>
              <a:rPr lang="zh-CN" altLang="en-US" sz="2200" dirty="0"/>
              <a:t>称</a:t>
            </a:r>
            <a:r>
              <a:rPr lang="en-US" altLang="zh-CN" sz="2200" dirty="0"/>
              <a:t>(</a:t>
            </a:r>
            <a:r>
              <a:rPr lang="en-US" altLang="zh-CN" sz="2200" i="1" dirty="0"/>
              <a:t>m</a:t>
            </a:r>
            <a:r>
              <a:rPr lang="en-US" altLang="zh-CN" sz="2200" i="1" baseline="-30000" dirty="0"/>
              <a:t>ij</a:t>
            </a:r>
            <a:r>
              <a:rPr lang="en-US" altLang="zh-CN" sz="2200" dirty="0"/>
              <a:t>)</a:t>
            </a:r>
            <a:r>
              <a:rPr lang="en-US" altLang="zh-CN" sz="2200" i="1" baseline="-30000" dirty="0"/>
              <a:t>n</a:t>
            </a:r>
            <a:r>
              <a:rPr lang="en-US" altLang="zh-CN" sz="2200" baseline="-30000" dirty="0">
                <a:sym typeface="Symbol" panose="05050102010706020507" pitchFamily="18" charset="2"/>
              </a:rPr>
              <a:t></a:t>
            </a:r>
            <a:r>
              <a:rPr lang="en-US" altLang="zh-CN" sz="2200" i="1" baseline="-30000" dirty="0"/>
              <a:t>m</a:t>
            </a:r>
            <a:r>
              <a:rPr lang="zh-CN" altLang="en-US" sz="2200" dirty="0"/>
              <a:t>为</a:t>
            </a:r>
            <a:r>
              <a:rPr lang="en-US" altLang="zh-CN" sz="2200" i="1" dirty="0">
                <a:solidFill>
                  <a:srgbClr val="FF3300"/>
                </a:solidFill>
              </a:rPr>
              <a:t>G</a:t>
            </a:r>
            <a:r>
              <a:rPr lang="zh-CN" altLang="en-US" sz="2200" dirty="0">
                <a:solidFill>
                  <a:srgbClr val="FF3300"/>
                </a:solidFill>
              </a:rPr>
              <a:t>的关联矩阵</a:t>
            </a:r>
            <a:r>
              <a:rPr lang="en-US" altLang="zh-CN" sz="2200" dirty="0"/>
              <a:t>, </a:t>
            </a:r>
            <a:r>
              <a:rPr lang="zh-CN" altLang="en-US" sz="2200" dirty="0"/>
              <a:t>记为</a:t>
            </a:r>
            <a:r>
              <a:rPr lang="en-US" altLang="zh-CN" sz="2200" i="1" dirty="0"/>
              <a:t>M</a:t>
            </a:r>
            <a:r>
              <a:rPr lang="en-US" altLang="zh-CN" sz="2200" dirty="0"/>
              <a:t>(</a:t>
            </a:r>
            <a:r>
              <a:rPr lang="en-US" altLang="zh-CN" sz="2200" i="1" dirty="0"/>
              <a:t>G</a:t>
            </a:r>
            <a:r>
              <a:rPr lang="en-US" altLang="zh-CN" sz="2200" dirty="0"/>
              <a:t>).</a:t>
            </a:r>
            <a:endParaRPr lang="en-US" altLang="zh-CN" sz="2200" dirty="0"/>
          </a:p>
          <a:p>
            <a:pPr marL="0" algn="just" eaLnBrk="1" hangingPunct="1">
              <a:lnSpc>
                <a:spcPct val="120000"/>
              </a:lnSpc>
              <a:buClr>
                <a:schemeClr val="bg2"/>
              </a:buClr>
              <a:buSzPct val="75000"/>
            </a:pPr>
            <a:r>
              <a:rPr lang="en-US" altLang="zh-CN" sz="2200" dirty="0"/>
              <a:t> </a:t>
            </a:r>
            <a:r>
              <a:rPr lang="en-US" altLang="zh-CN" sz="2200" i="1" dirty="0"/>
              <a:t>m</a:t>
            </a:r>
            <a:r>
              <a:rPr lang="en-US" altLang="zh-CN" sz="2200" i="1" baseline="-30000" dirty="0"/>
              <a:t>ij</a:t>
            </a:r>
            <a:r>
              <a:rPr lang="zh-CN" altLang="en-US" sz="2200" dirty="0"/>
              <a:t>的可能取值为</a:t>
            </a:r>
            <a:r>
              <a:rPr lang="en-US" altLang="zh-CN" sz="2200" dirty="0"/>
              <a:t>:</a:t>
            </a:r>
            <a:r>
              <a:rPr lang="en-US" altLang="zh-CN" sz="2200" dirty="0">
                <a:solidFill>
                  <a:schemeClr val="hlink"/>
                </a:solidFill>
              </a:rPr>
              <a:t>0,1,2.</a:t>
            </a:r>
            <a:endParaRPr lang="en-US" altLang="zh-CN" sz="2200" dirty="0">
              <a:solidFill>
                <a:schemeClr val="hlink"/>
              </a:solidFill>
            </a:endParaRPr>
          </a:p>
          <a:p>
            <a:pPr marL="0" eaLnBrk="1" hangingPunct="1">
              <a:lnSpc>
                <a:spcPct val="120000"/>
              </a:lnSpc>
            </a:pPr>
            <a:endParaRPr lang="en-US" altLang="zh-CN" sz="2200" dirty="0"/>
          </a:p>
        </p:txBody>
      </p:sp>
      <p:sp>
        <p:nvSpPr>
          <p:cNvPr id="534532" name="Text Box 4"/>
          <p:cNvSpPr txBox="1"/>
          <p:nvPr/>
        </p:nvSpPr>
        <p:spPr>
          <a:xfrm>
            <a:off x="542925" y="3443288"/>
            <a:ext cx="7772400" cy="2286000"/>
          </a:xfrm>
          <a:prstGeom prst="rect">
            <a:avLst/>
          </a:prstGeom>
          <a:solidFill>
            <a:srgbClr val="CCFFFF"/>
          </a:solidFill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r>
              <a:rPr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</a:t>
            </a:r>
            <a:endParaRPr lang="zh-CN" altLang="en-US" sz="2400" dirty="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zh-CN" altLang="en-US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25000"/>
              </a:spcBef>
              <a:buClrTx/>
              <a:buSzTx/>
              <a:buFontTx/>
            </a:pPr>
            <a:endParaRPr lang="en-US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597025" y="3563938"/>
            <a:ext cx="2133600" cy="2209800"/>
            <a:chOff x="3648" y="2640"/>
            <a:chExt cx="1344" cy="1392"/>
          </a:xfrm>
        </p:grpSpPr>
        <p:pic>
          <p:nvPicPr>
            <p:cNvPr id="53255" name="Picture 6" descr="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40" y="2640"/>
              <a:ext cx="1002" cy="124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56" name="Text Box 7"/>
            <p:cNvSpPr txBox="1"/>
            <p:nvPr/>
          </p:nvSpPr>
          <p:spPr>
            <a:xfrm>
              <a:off x="3648" y="2640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1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57" name="Text Box 8"/>
            <p:cNvSpPr txBox="1"/>
            <p:nvPr/>
          </p:nvSpPr>
          <p:spPr>
            <a:xfrm>
              <a:off x="4272" y="283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2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58" name="Text Box 9"/>
            <p:cNvSpPr txBox="1"/>
            <p:nvPr/>
          </p:nvSpPr>
          <p:spPr>
            <a:xfrm>
              <a:off x="3888" y="307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3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59" name="Text Box 10"/>
            <p:cNvSpPr txBox="1"/>
            <p:nvPr/>
          </p:nvSpPr>
          <p:spPr>
            <a:xfrm>
              <a:off x="4224" y="3216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4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0" name="Text Box 11"/>
            <p:cNvSpPr txBox="1"/>
            <p:nvPr/>
          </p:nvSpPr>
          <p:spPr>
            <a:xfrm>
              <a:off x="4512" y="3168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5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1" name="Text Box 12"/>
            <p:cNvSpPr txBox="1"/>
            <p:nvPr/>
          </p:nvSpPr>
          <p:spPr>
            <a:xfrm>
              <a:off x="4752" y="307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6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2" name="Text Box 13"/>
            <p:cNvSpPr txBox="1"/>
            <p:nvPr/>
          </p:nvSpPr>
          <p:spPr>
            <a:xfrm>
              <a:off x="3888" y="3446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5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3" name="Text Box 14"/>
            <p:cNvSpPr txBox="1"/>
            <p:nvPr/>
          </p:nvSpPr>
          <p:spPr>
            <a:xfrm>
              <a:off x="4032" y="2784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1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4" name="Text Box 15"/>
            <p:cNvSpPr txBox="1"/>
            <p:nvPr/>
          </p:nvSpPr>
          <p:spPr>
            <a:xfrm>
              <a:off x="4560" y="283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2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5" name="Text Box 16"/>
            <p:cNvSpPr txBox="1"/>
            <p:nvPr/>
          </p:nvSpPr>
          <p:spPr>
            <a:xfrm>
              <a:off x="4656" y="3494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3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6" name="Text Box 17"/>
            <p:cNvSpPr txBox="1"/>
            <p:nvPr/>
          </p:nvSpPr>
          <p:spPr>
            <a:xfrm>
              <a:off x="4320" y="378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4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534548" name="Text Box 20"/>
          <p:cNvSpPr txBox="1"/>
          <p:nvPr/>
        </p:nvSpPr>
        <p:spPr>
          <a:xfrm>
            <a:off x="5972175" y="3624263"/>
            <a:ext cx="1828800" cy="19939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2 1 1 0 0 0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0 1 0 1 1 1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0 0 0 0 1 1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0 0 0 0 0 0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0 0 1 1 0 0 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30"/>
          <p:cNvGrpSpPr/>
          <p:nvPr/>
        </p:nvGrpSpPr>
        <p:grpSpPr>
          <a:xfrm>
            <a:off x="4752975" y="3852863"/>
            <a:ext cx="2897188" cy="1601787"/>
            <a:chOff x="2994" y="2427"/>
            <a:chExt cx="1825" cy="1009"/>
          </a:xfrm>
        </p:grpSpPr>
        <p:sp>
          <p:nvSpPr>
            <p:cNvPr id="53269" name="Line 23"/>
            <p:cNvSpPr/>
            <p:nvPr/>
          </p:nvSpPr>
          <p:spPr>
            <a:xfrm>
              <a:off x="3666" y="2427"/>
              <a:ext cx="96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0" name="Line 24"/>
            <p:cNvSpPr/>
            <p:nvPr/>
          </p:nvSpPr>
          <p:spPr>
            <a:xfrm>
              <a:off x="3666" y="3435"/>
              <a:ext cx="96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3271" name="Group 29"/>
            <p:cNvGrpSpPr/>
            <p:nvPr/>
          </p:nvGrpSpPr>
          <p:grpSpPr>
            <a:xfrm>
              <a:off x="2994" y="2427"/>
              <a:ext cx="1825" cy="1009"/>
              <a:chOff x="2994" y="2427"/>
              <a:chExt cx="1825" cy="1009"/>
            </a:xfrm>
          </p:grpSpPr>
          <p:grpSp>
            <p:nvGrpSpPr>
              <p:cNvPr id="53272" name="Group 28"/>
              <p:cNvGrpSpPr/>
              <p:nvPr/>
            </p:nvGrpSpPr>
            <p:grpSpPr>
              <a:xfrm>
                <a:off x="2994" y="2427"/>
                <a:ext cx="1825" cy="1008"/>
                <a:chOff x="2994" y="2427"/>
                <a:chExt cx="1825" cy="1008"/>
              </a:xfrm>
            </p:grpSpPr>
            <p:sp>
              <p:nvSpPr>
                <p:cNvPr id="53273" name="Text Box 19"/>
                <p:cNvSpPr txBox="1"/>
                <p:nvPr/>
              </p:nvSpPr>
              <p:spPr>
                <a:xfrm>
                  <a:off x="2994" y="2763"/>
                  <a:ext cx="672" cy="28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lnSpc>
                      <a:spcPct val="100000"/>
                    </a:lnSpc>
                    <a:spcBef>
                      <a:spcPct val="50000"/>
                    </a:spcBef>
                    <a:buClrTx/>
                    <a:buSzTx/>
                    <a:buFontTx/>
                  </a:pPr>
                  <a:r>
                    <a:rPr lang="en-US" altLang="zh-CN" sz="2400" i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M</a:t>
                  </a: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</a:t>
                  </a:r>
                  <a:r>
                    <a:rPr lang="en-US" altLang="zh-CN" sz="2400" i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G</a:t>
                  </a: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)=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274" name="Line 21"/>
                <p:cNvSpPr/>
                <p:nvPr/>
              </p:nvSpPr>
              <p:spPr>
                <a:xfrm>
                  <a:off x="3666" y="2427"/>
                  <a:ext cx="1" cy="1008"/>
                </a:xfrm>
                <a:prstGeom prst="line">
                  <a:avLst/>
                </a:prstGeom>
                <a:ln w="2857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3275" name="Line 22"/>
                <p:cNvSpPr/>
                <p:nvPr/>
              </p:nvSpPr>
              <p:spPr>
                <a:xfrm>
                  <a:off x="4818" y="2427"/>
                  <a:ext cx="1" cy="1008"/>
                </a:xfrm>
                <a:prstGeom prst="line">
                  <a:avLst/>
                </a:prstGeom>
                <a:ln w="2857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3276" name="Line 25"/>
              <p:cNvSpPr/>
              <p:nvPr/>
            </p:nvSpPr>
            <p:spPr>
              <a:xfrm>
                <a:off x="4722" y="2427"/>
                <a:ext cx="96" cy="1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77" name="Line 26"/>
              <p:cNvSpPr/>
              <p:nvPr/>
            </p:nvSpPr>
            <p:spPr>
              <a:xfrm>
                <a:off x="4722" y="3435"/>
                <a:ext cx="96" cy="1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34531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34531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34531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charRg st="60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534531">
                                            <p:txEl>
                                              <p:charRg st="60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534531">
                                            <p:txEl>
                                              <p:charRg st="60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534531">
                                            <p:txEl>
                                              <p:charRg st="60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>
                                            <p:txEl>
                                              <p:charRg st="103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534531">
                                            <p:txEl>
                                              <p:charRg st="103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534531">
                                            <p:txEl>
                                              <p:charRg st="103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534531">
                                            <p:txEl>
                                              <p:charRg st="103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3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53454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53454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53454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8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534548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534548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534548">
                                            <p:txEl>
                                              <p:charRg st="12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8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534548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534548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534548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8">
                                            <p:txEl>
                                              <p:charRg st="36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534548">
                                            <p:txEl>
                                              <p:charRg st="36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534548">
                                            <p:txEl>
                                              <p:charRg st="36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534548">
                                            <p:txEl>
                                              <p:charRg st="36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8">
                                            <p:txEl>
                                              <p:charRg st="48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534548">
                                            <p:txEl>
                                              <p:charRg st="48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534548">
                                            <p:txEl>
                                              <p:charRg st="48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534548">
                                            <p:txEl>
                                              <p:charRg st="48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355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关联矩阵的性质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35555" name="Object 3"/>
          <p:cNvGraphicFramePr>
            <a:graphicFrameLocks noGrp="1"/>
          </p:cNvGraphicFramePr>
          <p:nvPr>
            <p:ph type="body" idx="4294967295"/>
          </p:nvPr>
        </p:nvGraphicFramePr>
        <p:xfrm>
          <a:off x="484188" y="1144588"/>
          <a:ext cx="3606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1904365" imgH="292100" progId="Equation.DSMT4">
                  <p:embed/>
                </p:oleObj>
              </mc:Choice>
              <mc:Fallback>
                <p:oleObj name="" r:id="rId1" imgW="1904365" imgH="2921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4188" y="1144588"/>
                        <a:ext cx="3606800" cy="6604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5556" name="Text Box 4"/>
          <p:cNvSpPr txBox="1"/>
          <p:nvPr/>
        </p:nvSpPr>
        <p:spPr>
          <a:xfrm>
            <a:off x="423863" y="4210050"/>
            <a:ext cx="62484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(6) 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是环 </a:t>
            </a:r>
            <a:r>
              <a:rPr lang="zh-CN" altLang="en-US" sz="2400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 第</a:t>
            </a:r>
            <a:r>
              <a:rPr lang="en-US" altLang="zh-CN" sz="2400" i="1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列的一个元素为</a:t>
            </a:r>
            <a:r>
              <a:rPr lang="en-US" altLang="zh-CN" sz="2400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2, </a:t>
            </a:r>
            <a:r>
              <a:rPr lang="zh-CN" altLang="en-US" sz="2400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其余为</a:t>
            </a:r>
            <a:r>
              <a:rPr lang="en-US" altLang="zh-CN" sz="2400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endParaRPr lang="en-US" altLang="zh-CN" sz="2400" dirty="0">
              <a:solidFill>
                <a:srgbClr val="3333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35557" name="Text Box 5"/>
          <p:cNvSpPr txBox="1"/>
          <p:nvPr/>
        </p:nvSpPr>
        <p:spPr>
          <a:xfrm>
            <a:off x="433705" y="3129280"/>
            <a:ext cx="5867400" cy="460375"/>
          </a:xfrm>
          <a:prstGeom prst="rect">
            <a:avLst/>
          </a:prstGeom>
          <a:noFill/>
          <a:ln w="6350">
            <a:noFill/>
          </a:ln>
        </p:spPr>
        <p:txBody>
          <a:bodyPr wrap="square" anchor="t" anchorCtr="0">
            <a:spAutoFit/>
          </a:bodyPr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(4) 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是平行边 </a:t>
            </a:r>
            <a:r>
              <a:rPr lang="zh-CN" altLang="en-US" sz="2400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列与第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列相同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35558" name="Object 6"/>
          <p:cNvGraphicFramePr/>
          <p:nvPr/>
        </p:nvGraphicFramePr>
        <p:xfrm>
          <a:off x="458788" y="1804988"/>
          <a:ext cx="4294187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2106295" imgH="304800" progId="Equation.DSMT4">
                  <p:embed/>
                </p:oleObj>
              </mc:Choice>
              <mc:Fallback>
                <p:oleObj name="" r:id="rId3" imgW="2106295" imgH="3048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788" y="1804988"/>
                        <a:ext cx="4294187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5559" name="Object 7"/>
          <p:cNvGraphicFramePr/>
          <p:nvPr/>
        </p:nvGraphicFramePr>
        <p:xfrm>
          <a:off x="482600" y="2406650"/>
          <a:ext cx="20177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5" imgW="989965" imgH="355600" progId="Equation.DSMT4">
                  <p:embed/>
                </p:oleObj>
              </mc:Choice>
              <mc:Fallback>
                <p:oleObj name="" r:id="rId5" imgW="989965" imgH="3556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2600" y="2406650"/>
                        <a:ext cx="2017713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5561" name="Text Box 9"/>
          <p:cNvSpPr txBox="1"/>
          <p:nvPr/>
        </p:nvSpPr>
        <p:spPr>
          <a:xfrm>
            <a:off x="423863" y="3670300"/>
            <a:ext cx="48006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(5) 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是孤立点 </a:t>
            </a:r>
            <a:r>
              <a:rPr lang="zh-CN" altLang="en-US" sz="2400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行全为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6255385" y="1083628"/>
            <a:ext cx="2133600" cy="2209800"/>
            <a:chOff x="3648" y="2640"/>
            <a:chExt cx="1344" cy="1392"/>
          </a:xfrm>
        </p:grpSpPr>
        <p:pic>
          <p:nvPicPr>
            <p:cNvPr id="53255" name="Picture 6" descr="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40" y="2640"/>
              <a:ext cx="1002" cy="124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56" name="Text Box 7"/>
            <p:cNvSpPr txBox="1"/>
            <p:nvPr/>
          </p:nvSpPr>
          <p:spPr>
            <a:xfrm>
              <a:off x="3648" y="2640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1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57" name="Text Box 8"/>
            <p:cNvSpPr txBox="1"/>
            <p:nvPr/>
          </p:nvSpPr>
          <p:spPr>
            <a:xfrm>
              <a:off x="4272" y="283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2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58" name="Text Box 9"/>
            <p:cNvSpPr txBox="1"/>
            <p:nvPr/>
          </p:nvSpPr>
          <p:spPr>
            <a:xfrm>
              <a:off x="3888" y="307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3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59" name="Text Box 10"/>
            <p:cNvSpPr txBox="1"/>
            <p:nvPr/>
          </p:nvSpPr>
          <p:spPr>
            <a:xfrm>
              <a:off x="4224" y="3216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4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0" name="Text Box 11"/>
            <p:cNvSpPr txBox="1"/>
            <p:nvPr/>
          </p:nvSpPr>
          <p:spPr>
            <a:xfrm>
              <a:off x="4512" y="3168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5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1" name="Text Box 12"/>
            <p:cNvSpPr txBox="1"/>
            <p:nvPr/>
          </p:nvSpPr>
          <p:spPr>
            <a:xfrm>
              <a:off x="4752" y="307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6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2" name="Text Box 13"/>
            <p:cNvSpPr txBox="1"/>
            <p:nvPr/>
          </p:nvSpPr>
          <p:spPr>
            <a:xfrm>
              <a:off x="3888" y="3446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5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3" name="Text Box 14"/>
            <p:cNvSpPr txBox="1"/>
            <p:nvPr/>
          </p:nvSpPr>
          <p:spPr>
            <a:xfrm>
              <a:off x="4032" y="2784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1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4" name="Text Box 15"/>
            <p:cNvSpPr txBox="1"/>
            <p:nvPr/>
          </p:nvSpPr>
          <p:spPr>
            <a:xfrm>
              <a:off x="4560" y="283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2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5" name="Text Box 16"/>
            <p:cNvSpPr txBox="1"/>
            <p:nvPr/>
          </p:nvSpPr>
          <p:spPr>
            <a:xfrm>
              <a:off x="4656" y="3494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3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sp>
          <p:nvSpPr>
            <p:cNvPr id="53266" name="Text Box 17"/>
            <p:cNvSpPr txBox="1"/>
            <p:nvPr/>
          </p:nvSpPr>
          <p:spPr>
            <a:xfrm>
              <a:off x="4320" y="3782"/>
              <a:ext cx="240" cy="250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000" i="1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华文行楷" panose="02010800040101010101" pitchFamily="2" charset="-122"/>
                </a:rPr>
                <a:t>4</a:t>
              </a:r>
              <a:endParaRPr lang="en-US" altLang="zh-CN" sz="2000" baseline="-25000" dirty="0"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3" name="Group 30"/>
          <p:cNvGrpSpPr/>
          <p:nvPr/>
        </p:nvGrpSpPr>
        <p:grpSpPr>
          <a:xfrm>
            <a:off x="5413375" y="4717733"/>
            <a:ext cx="2897188" cy="1601787"/>
            <a:chOff x="2994" y="2427"/>
            <a:chExt cx="1825" cy="1009"/>
          </a:xfrm>
        </p:grpSpPr>
        <p:sp>
          <p:nvSpPr>
            <p:cNvPr id="53269" name="Line 23"/>
            <p:cNvSpPr/>
            <p:nvPr/>
          </p:nvSpPr>
          <p:spPr>
            <a:xfrm>
              <a:off x="3666" y="2427"/>
              <a:ext cx="96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70" name="Line 24"/>
            <p:cNvSpPr/>
            <p:nvPr/>
          </p:nvSpPr>
          <p:spPr>
            <a:xfrm>
              <a:off x="3666" y="3435"/>
              <a:ext cx="96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3271" name="Group 29"/>
            <p:cNvGrpSpPr/>
            <p:nvPr/>
          </p:nvGrpSpPr>
          <p:grpSpPr>
            <a:xfrm>
              <a:off x="2994" y="2427"/>
              <a:ext cx="1825" cy="1009"/>
              <a:chOff x="2994" y="2427"/>
              <a:chExt cx="1825" cy="1009"/>
            </a:xfrm>
          </p:grpSpPr>
          <p:grpSp>
            <p:nvGrpSpPr>
              <p:cNvPr id="53272" name="Group 28"/>
              <p:cNvGrpSpPr/>
              <p:nvPr/>
            </p:nvGrpSpPr>
            <p:grpSpPr>
              <a:xfrm>
                <a:off x="2994" y="2427"/>
                <a:ext cx="1825" cy="1008"/>
                <a:chOff x="2994" y="2427"/>
                <a:chExt cx="1825" cy="1008"/>
              </a:xfrm>
            </p:grpSpPr>
            <p:sp>
              <p:nvSpPr>
                <p:cNvPr id="53273" name="Text Box 19"/>
                <p:cNvSpPr txBox="1"/>
                <p:nvPr/>
              </p:nvSpPr>
              <p:spPr>
                <a:xfrm>
                  <a:off x="2994" y="2763"/>
                  <a:ext cx="672" cy="28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lnSpc>
                      <a:spcPct val="100000"/>
                    </a:lnSpc>
                    <a:spcBef>
                      <a:spcPct val="50000"/>
                    </a:spcBef>
                    <a:buClrTx/>
                    <a:buSzTx/>
                    <a:buFontTx/>
                  </a:pPr>
                  <a:r>
                    <a:rPr lang="en-US" altLang="zh-CN" sz="2400" i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M</a:t>
                  </a: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(</a:t>
                  </a:r>
                  <a:r>
                    <a:rPr lang="en-US" altLang="zh-CN" sz="2400" i="1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G</a:t>
                  </a:r>
                  <a:r>
                    <a:rPr lang="en-US" altLang="zh-CN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)=</a:t>
                  </a:r>
                  <a:endPara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274" name="Line 21"/>
                <p:cNvSpPr/>
                <p:nvPr/>
              </p:nvSpPr>
              <p:spPr>
                <a:xfrm>
                  <a:off x="3666" y="2427"/>
                  <a:ext cx="1" cy="1008"/>
                </a:xfrm>
                <a:prstGeom prst="line">
                  <a:avLst/>
                </a:prstGeom>
                <a:ln w="2857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3275" name="Line 22"/>
                <p:cNvSpPr/>
                <p:nvPr/>
              </p:nvSpPr>
              <p:spPr>
                <a:xfrm>
                  <a:off x="4818" y="2427"/>
                  <a:ext cx="1" cy="1008"/>
                </a:xfrm>
                <a:prstGeom prst="line">
                  <a:avLst/>
                </a:prstGeom>
                <a:ln w="28575" cap="flat" cmpd="sng">
                  <a:solidFill>
                    <a:srgbClr val="00006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3276" name="Line 25"/>
              <p:cNvSpPr/>
              <p:nvPr/>
            </p:nvSpPr>
            <p:spPr>
              <a:xfrm>
                <a:off x="4722" y="2427"/>
                <a:ext cx="96" cy="1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77" name="Line 26"/>
              <p:cNvSpPr/>
              <p:nvPr/>
            </p:nvSpPr>
            <p:spPr>
              <a:xfrm>
                <a:off x="4722" y="3435"/>
                <a:ext cx="96" cy="1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534548" name="Text Box 20"/>
          <p:cNvSpPr txBox="1"/>
          <p:nvPr/>
        </p:nvSpPr>
        <p:spPr>
          <a:xfrm>
            <a:off x="6675120" y="4571683"/>
            <a:ext cx="1828800" cy="19939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2 1 1 0 0 0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0 1 0 1 1 1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0 0 0 0 1 1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0 0 0 0 0 0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0 0 1 1 0 0 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5355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5355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5355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5355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5355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5355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80"/>
                                        <p:tgtEl>
                                          <p:spTgt spid="5355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80"/>
                                        <p:tgtEl>
                                          <p:spTgt spid="5355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80"/>
                                        <p:tgtEl>
                                          <p:spTgt spid="5355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6" grpId="0"/>
      <p:bldP spid="535557" grpId="0"/>
      <p:bldP spid="53556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529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365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无环有向图的关联矩阵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6579" name="Text Box 3"/>
          <p:cNvSpPr txBox="1"/>
          <p:nvPr/>
        </p:nvSpPr>
        <p:spPr>
          <a:xfrm>
            <a:off x="483553" y="3007995"/>
            <a:ext cx="62484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00000"/>
              </a:lnSpc>
              <a:buClr>
                <a:schemeClr val="bg2"/>
              </a:buClr>
              <a:buSzPct val="75000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则称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400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400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400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的关联矩阵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记为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).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36580" name="Object 4"/>
          <p:cNvGraphicFramePr/>
          <p:nvPr/>
        </p:nvGraphicFramePr>
        <p:xfrm>
          <a:off x="2648109" y="1504633"/>
          <a:ext cx="3430270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727200" imgH="736600" progId="Equation.3">
                  <p:embed/>
                </p:oleObj>
              </mc:Choice>
              <mc:Fallback>
                <p:oleObj name="" r:id="rId1" imgW="1727200" imgH="7366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48109" y="1504633"/>
                        <a:ext cx="3430270" cy="1466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6581" name="Text Box 5"/>
          <p:cNvSpPr txBox="1"/>
          <p:nvPr/>
        </p:nvSpPr>
        <p:spPr>
          <a:xfrm>
            <a:off x="272733" y="842963"/>
            <a:ext cx="8597900" cy="962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20000"/>
              </a:lnSpc>
              <a:buClr>
                <a:schemeClr val="bg2"/>
              </a:buClr>
              <a:buSzPct val="75000"/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11.25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设无环有向图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&gt;,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}.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buClr>
                <a:schemeClr val="bg2"/>
              </a:buClr>
              <a:buSzPct val="7500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令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xfrm>
            <a:off x="603250" y="4029710"/>
            <a:ext cx="7492365" cy="2450465"/>
          </a:xfrm>
          <a:solidFill>
            <a:srgbClr val="CCFFFF"/>
          </a:solidFill>
        </p:spPr>
        <p:txBody>
          <a:bodyPr vert="horz" wrap="square" lIns="91440" tIns="45720" rIns="91440" bIns="45720" anchor="t" anchorCtr="0"/>
          <a:p>
            <a:pPr marL="0" eaLnBrk="1" hangingPunct="1"/>
            <a:endParaRPr lang="en-US" altLang="zh-CN" sz="1800" b="0" dirty="0"/>
          </a:p>
          <a:p>
            <a:pPr marL="0" eaLnBrk="1" hangingPunct="1"/>
            <a:endParaRPr lang="en-US" altLang="zh-CN" sz="1800" b="0" dirty="0"/>
          </a:p>
          <a:p>
            <a:pPr marL="0" eaLnBrk="1" hangingPunct="1"/>
            <a:endParaRPr lang="en-US" altLang="zh-CN" sz="1800" b="0" dirty="0"/>
          </a:p>
          <a:p>
            <a:pPr marL="0" eaLnBrk="1" hangingPunct="1"/>
            <a:endParaRPr lang="en-US" altLang="zh-CN" sz="1800" b="0" dirty="0"/>
          </a:p>
          <a:p>
            <a:pPr marL="0" eaLnBrk="1" hangingPunct="1"/>
            <a:endParaRPr lang="en-US" altLang="zh-CN" sz="1800" b="0" dirty="0"/>
          </a:p>
          <a:p>
            <a:pPr marL="0" eaLnBrk="1" hangingPunct="1"/>
            <a:endParaRPr lang="en-US" altLang="zh-CN" sz="1800" b="0" dirty="0"/>
          </a:p>
        </p:txBody>
      </p:sp>
      <p:grpSp>
        <p:nvGrpSpPr>
          <p:cNvPr id="2" name="Group 4"/>
          <p:cNvGrpSpPr/>
          <p:nvPr/>
        </p:nvGrpSpPr>
        <p:grpSpPr>
          <a:xfrm>
            <a:off x="603250" y="4212908"/>
            <a:ext cx="3048000" cy="2133600"/>
            <a:chOff x="3168" y="1536"/>
            <a:chExt cx="1920" cy="1344"/>
          </a:xfrm>
        </p:grpSpPr>
        <p:pic>
          <p:nvPicPr>
            <p:cNvPr id="56326" name="Picture 5" descr="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0" y="1824"/>
              <a:ext cx="1404" cy="89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27" name="Text Box 6"/>
            <p:cNvSpPr txBox="1"/>
            <p:nvPr/>
          </p:nvSpPr>
          <p:spPr>
            <a:xfrm>
              <a:off x="3168" y="1632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28" name="Text Box 7"/>
            <p:cNvSpPr txBox="1"/>
            <p:nvPr/>
          </p:nvSpPr>
          <p:spPr>
            <a:xfrm>
              <a:off x="3168" y="2544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29" name="Text Box 8"/>
            <p:cNvSpPr txBox="1"/>
            <p:nvPr/>
          </p:nvSpPr>
          <p:spPr>
            <a:xfrm>
              <a:off x="4656" y="2496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0" name="Text Box 9"/>
            <p:cNvSpPr txBox="1"/>
            <p:nvPr/>
          </p:nvSpPr>
          <p:spPr>
            <a:xfrm>
              <a:off x="4608" y="1632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1" name="Text Box 10"/>
            <p:cNvSpPr txBox="1"/>
            <p:nvPr/>
          </p:nvSpPr>
          <p:spPr>
            <a:xfrm>
              <a:off x="3168" y="2112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2" name="Text Box 11"/>
            <p:cNvSpPr txBox="1"/>
            <p:nvPr/>
          </p:nvSpPr>
          <p:spPr>
            <a:xfrm>
              <a:off x="3984" y="1536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3" name="Text Box 12"/>
            <p:cNvSpPr txBox="1"/>
            <p:nvPr/>
          </p:nvSpPr>
          <p:spPr>
            <a:xfrm>
              <a:off x="3888" y="2592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4" name="Text Box 13"/>
            <p:cNvSpPr txBox="1"/>
            <p:nvPr/>
          </p:nvSpPr>
          <p:spPr>
            <a:xfrm>
              <a:off x="4704" y="2112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5" name="Text Box 14"/>
            <p:cNvSpPr txBox="1"/>
            <p:nvPr/>
          </p:nvSpPr>
          <p:spPr>
            <a:xfrm>
              <a:off x="4320" y="2112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6" name="Text Box 15"/>
            <p:cNvSpPr txBox="1"/>
            <p:nvPr/>
          </p:nvSpPr>
          <p:spPr>
            <a:xfrm>
              <a:off x="3936" y="1872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37" name="Text Box 16"/>
            <p:cNvSpPr txBox="1"/>
            <p:nvPr/>
          </p:nvSpPr>
          <p:spPr>
            <a:xfrm>
              <a:off x="3696" y="2208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37619" name="Text Box 19"/>
          <p:cNvSpPr txBox="1"/>
          <p:nvPr/>
        </p:nvSpPr>
        <p:spPr>
          <a:xfrm>
            <a:off x="4992688" y="4333558"/>
            <a:ext cx="3048000" cy="2100262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1800" dirty="0">
                <a:latin typeface="Arial" panose="020B0604020202020204" pitchFamily="34" charset="0"/>
                <a:ea typeface="华文行楷" panose="02010800040101010101" pitchFamily="2" charset="-122"/>
              </a:rPr>
              <a:t>–</a:t>
            </a:r>
            <a:r>
              <a:rPr lang="en-US" altLang="zh-CN" sz="1800" b="0" dirty="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   1   0   0   0  –1   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0  </a:t>
            </a:r>
            <a:r>
              <a:rPr lang="en-US" altLang="zh-CN" sz="1800" dirty="0">
                <a:latin typeface="Arial" panose="020B0604020202020204" pitchFamily="34" charset="0"/>
                <a:ea typeface="华文行楷" panose="02010800040101010101" pitchFamily="2" charset="-122"/>
              </a:rPr>
              <a:t>–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1   1   0   0    0   0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0   0 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1800" dirty="0">
                <a:latin typeface="Arial" panose="020B0604020202020204" pitchFamily="34" charset="0"/>
                <a:ea typeface="华文行楷" panose="02010800040101010101" pitchFamily="2" charset="-122"/>
              </a:rPr>
              <a:t>–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ea typeface="华文行楷" panose="02010800040101010101" pitchFamily="2" charset="-122"/>
              </a:rPr>
              <a:t>–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ea typeface="华文行楷" panose="02010800040101010101" pitchFamily="2" charset="-122"/>
              </a:rPr>
              <a:t>–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1   1  </a:t>
            </a:r>
            <a:r>
              <a:rPr lang="en-US" altLang="zh-CN" sz="1800" dirty="0">
                <a:latin typeface="Arial" panose="020B0604020202020204" pitchFamily="34" charset="0"/>
                <a:ea typeface="华文行楷" panose="02010800040101010101" pitchFamily="2" charset="-122"/>
              </a:rPr>
              <a:t>–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1   0   0    1   1   0  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27"/>
          <p:cNvGrpSpPr/>
          <p:nvPr/>
        </p:nvGrpSpPr>
        <p:grpSpPr>
          <a:xfrm>
            <a:off x="3849688" y="4562158"/>
            <a:ext cx="4038600" cy="1676400"/>
            <a:chOff x="2577" y="1433"/>
            <a:chExt cx="2544" cy="1056"/>
          </a:xfrm>
        </p:grpSpPr>
        <p:sp>
          <p:nvSpPr>
            <p:cNvPr id="56341" name="Text Box 18"/>
            <p:cNvSpPr txBox="1"/>
            <p:nvPr/>
          </p:nvSpPr>
          <p:spPr>
            <a:xfrm>
              <a:off x="2577" y="1817"/>
              <a:ext cx="816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6342" name="Group 26"/>
            <p:cNvGrpSpPr/>
            <p:nvPr/>
          </p:nvGrpSpPr>
          <p:grpSpPr>
            <a:xfrm>
              <a:off x="3249" y="1433"/>
              <a:ext cx="1872" cy="1056"/>
              <a:chOff x="3249" y="1433"/>
              <a:chExt cx="1872" cy="1056"/>
            </a:xfrm>
          </p:grpSpPr>
          <p:sp>
            <p:nvSpPr>
              <p:cNvPr id="56343" name="Line 20"/>
              <p:cNvSpPr/>
              <p:nvPr/>
            </p:nvSpPr>
            <p:spPr>
              <a:xfrm>
                <a:off x="3249" y="1433"/>
                <a:ext cx="0" cy="1056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44" name="Line 21"/>
              <p:cNvSpPr/>
              <p:nvPr/>
            </p:nvSpPr>
            <p:spPr>
              <a:xfrm>
                <a:off x="5121" y="1433"/>
                <a:ext cx="0" cy="1056"/>
              </a:xfrm>
              <a:prstGeom prst="line">
                <a:avLst/>
              </a:prstGeom>
              <a:ln w="28575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6345" name="Line 23"/>
            <p:cNvSpPr/>
            <p:nvPr/>
          </p:nvSpPr>
          <p:spPr>
            <a:xfrm>
              <a:off x="3249" y="2489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3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5365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5365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5365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80"/>
                                        <p:tgtEl>
                                          <p:spTgt spid="53761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80"/>
                                        <p:tgtEl>
                                          <p:spTgt spid="53761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80"/>
                                        <p:tgtEl>
                                          <p:spTgt spid="53761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9">
                                            <p:txEl>
                                              <p:charRg st="28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3" dur="80"/>
                                        <p:tgtEl>
                                          <p:spTgt spid="537619">
                                            <p:txEl>
                                              <p:charRg st="28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4" dur="80"/>
                                        <p:tgtEl>
                                          <p:spTgt spid="537619">
                                            <p:txEl>
                                              <p:charRg st="28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80"/>
                                        <p:tgtEl>
                                          <p:spTgt spid="537619">
                                            <p:txEl>
                                              <p:charRg st="28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9">
                                            <p:txEl>
                                              <p:charRg st="57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0" dur="80"/>
                                        <p:tgtEl>
                                          <p:spTgt spid="537619">
                                            <p:txEl>
                                              <p:charRg st="57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1" dur="80"/>
                                        <p:tgtEl>
                                          <p:spTgt spid="537619">
                                            <p:txEl>
                                              <p:charRg st="57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80"/>
                                        <p:tgtEl>
                                          <p:spTgt spid="537619">
                                            <p:txEl>
                                              <p:charRg st="57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9">
                                            <p:txEl>
                                              <p:charRg st="8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7" dur="80"/>
                                        <p:tgtEl>
                                          <p:spTgt spid="537619">
                                            <p:txEl>
                                              <p:charRg st="8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8" dur="80"/>
                                        <p:tgtEl>
                                          <p:spTgt spid="537619">
                                            <p:txEl>
                                              <p:charRg st="8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80"/>
                                        <p:tgtEl>
                                          <p:spTgt spid="537619">
                                            <p:txEl>
                                              <p:charRg st="8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79" grpId="0"/>
      <p:bldP spid="53658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63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1897063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36583" name="Object 7"/>
          <p:cNvGraphicFramePr/>
          <p:nvPr/>
        </p:nvGraphicFramePr>
        <p:xfrm>
          <a:off x="1397000" y="2206625"/>
          <a:ext cx="40497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2106295" imgH="304800" progId="Equation.3">
                  <p:embed/>
                </p:oleObj>
              </mc:Choice>
              <mc:Fallback>
                <p:oleObj name="" r:id="rId1" imgW="2106295" imgH="3048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97000" y="2206625"/>
                        <a:ext cx="4049713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6584" name="Text Box 8"/>
          <p:cNvSpPr txBox="1"/>
          <p:nvPr/>
        </p:nvSpPr>
        <p:spPr>
          <a:xfrm>
            <a:off x="1323975" y="3349625"/>
            <a:ext cx="5592763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(3) 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是平行边 </a:t>
            </a:r>
            <a:r>
              <a:rPr lang="zh-CN" altLang="en-US" sz="2400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 第</a:t>
            </a:r>
            <a:r>
              <a:rPr lang="en-US" altLang="zh-CN" sz="2400" i="1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列与第</a:t>
            </a:r>
            <a:r>
              <a:rPr lang="en-US" altLang="zh-CN" sz="2400" i="1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列相同</a:t>
            </a:r>
            <a:endParaRPr lang="zh-CN" altLang="en-US" sz="2400" dirty="0">
              <a:solidFill>
                <a:srgbClr val="3333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36585" name="Text Box 9"/>
          <p:cNvSpPr txBox="1"/>
          <p:nvPr/>
        </p:nvSpPr>
        <p:spPr>
          <a:xfrm>
            <a:off x="1323975" y="2816225"/>
            <a:ext cx="70358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的个数等于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行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的个数等于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400" baseline="30000" dirty="0"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6586" name="Text Box 10"/>
          <p:cNvSpPr txBox="1"/>
          <p:nvPr/>
        </p:nvSpPr>
        <p:spPr>
          <a:xfrm>
            <a:off x="482600" y="2282825"/>
            <a:ext cx="10668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性质</a:t>
            </a:r>
            <a:r>
              <a:rPr lang="en-US" altLang="zh-CN" sz="2400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endParaRPr lang="en-US" altLang="zh-CN" sz="2400" dirty="0">
              <a:solidFill>
                <a:srgbClr val="3333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365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365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365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3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5365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5365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5365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84" grpId="0"/>
      <p:bldP spid="536585" grpId="0"/>
      <p:bldP spid="53658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73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4243388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有向图的邻接矩阵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38627" name="Object 3"/>
          <p:cNvGraphicFramePr/>
          <p:nvPr/>
        </p:nvGraphicFramePr>
        <p:xfrm>
          <a:off x="904875" y="3670300"/>
          <a:ext cx="495458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2600960" imgH="304800" progId="Equation.DSMT4">
                  <p:embed/>
                </p:oleObj>
              </mc:Choice>
              <mc:Fallback>
                <p:oleObj name="" r:id="rId1" imgW="2600960" imgH="3048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4875" y="3670300"/>
                        <a:ext cx="4954588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363538" y="1455738"/>
            <a:ext cx="8153400" cy="1552575"/>
            <a:chOff x="329" y="890"/>
            <a:chExt cx="5136" cy="978"/>
          </a:xfrm>
        </p:grpSpPr>
        <p:sp>
          <p:nvSpPr>
            <p:cNvPr id="57350" name="Text Box 5"/>
            <p:cNvSpPr txBox="1"/>
            <p:nvPr/>
          </p:nvSpPr>
          <p:spPr>
            <a:xfrm>
              <a:off x="329" y="890"/>
              <a:ext cx="5136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20000"/>
                </a:lnSpc>
                <a:buClr>
                  <a:schemeClr val="bg2"/>
                </a:buClr>
                <a:buSzPct val="75000"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设有向图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=&lt;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&gt;,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={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…,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},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={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…,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},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令      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buClr>
                  <a:schemeClr val="bg2"/>
                </a:buClr>
                <a:buSzPct val="75000"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为顶点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邻接到顶点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边的条数，称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       )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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n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为</a:t>
              </a:r>
              <a:r>
                <a:rPr lang="en-US" altLang="zh-CN" sz="2400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zh-CN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的邻接矩阵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buClr>
                  <a:schemeClr val="bg2"/>
                </a:buClr>
                <a:buSzPct val="75000"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记作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),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简记作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A.</a:t>
              </a:r>
              <a:endPara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57351" name="Object 6"/>
            <p:cNvGraphicFramePr/>
            <p:nvPr/>
          </p:nvGraphicFramePr>
          <p:xfrm>
            <a:off x="5056" y="912"/>
            <a:ext cx="32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3" imgW="241300" imgH="254000" progId="Equation.3">
                    <p:embed/>
                  </p:oleObj>
                </mc:Choice>
                <mc:Fallback>
                  <p:oleObj name="" r:id="rId3" imgW="241300" imgH="2540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056" y="912"/>
                          <a:ext cx="32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52" name="Object 7"/>
            <p:cNvGraphicFramePr/>
            <p:nvPr/>
          </p:nvGraphicFramePr>
          <p:xfrm>
            <a:off x="3394" y="1216"/>
            <a:ext cx="35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5" imgW="241300" imgH="254000" progId="Equation.3">
                    <p:embed/>
                  </p:oleObj>
                </mc:Choice>
                <mc:Fallback>
                  <p:oleObj name="" r:id="rId5" imgW="241300" imgH="2540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94" y="1216"/>
                          <a:ext cx="350" cy="3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8633" name="Text Box 9"/>
          <p:cNvSpPr txBox="1"/>
          <p:nvPr/>
        </p:nvSpPr>
        <p:spPr>
          <a:xfrm>
            <a:off x="303213" y="1084263"/>
            <a:ext cx="1563687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定义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11.26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538634" name="Object 10"/>
          <p:cNvGraphicFramePr/>
          <p:nvPr/>
        </p:nvGraphicFramePr>
        <p:xfrm>
          <a:off x="1676400" y="4270375"/>
          <a:ext cx="427831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6" imgW="2246630" imgH="292100" progId="Equation.DSMT4">
                  <p:embed/>
                </p:oleObj>
              </mc:Choice>
              <mc:Fallback>
                <p:oleObj name="" r:id="rId6" imgW="2246630" imgH="2921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76400" y="4270375"/>
                        <a:ext cx="4278313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35" name="Object 11"/>
          <p:cNvGraphicFramePr/>
          <p:nvPr/>
        </p:nvGraphicFramePr>
        <p:xfrm>
          <a:off x="1690688" y="5473700"/>
          <a:ext cx="384333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8" imgW="2018665" imgH="292100" progId="Equation.DSMT4">
                  <p:embed/>
                </p:oleObj>
              </mc:Choice>
              <mc:Fallback>
                <p:oleObj name="" r:id="rId8" imgW="2018665" imgH="2921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90688" y="5473700"/>
                        <a:ext cx="3843337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8636" name="Object 12"/>
          <p:cNvGraphicFramePr/>
          <p:nvPr/>
        </p:nvGraphicFramePr>
        <p:xfrm>
          <a:off x="1700213" y="4872038"/>
          <a:ext cx="1789112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0" imgW="939165" imgH="355600" progId="Equation.DSMT4">
                  <p:embed/>
                </p:oleObj>
              </mc:Choice>
              <mc:Fallback>
                <p:oleObj name="" r:id="rId10" imgW="939165" imgH="3556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00213" y="4872038"/>
                        <a:ext cx="1789112" cy="679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386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386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386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3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3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3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3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3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83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71613" y="152400"/>
            <a:ext cx="2259013" cy="6302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8372" name="Rectangle 3"/>
          <p:cNvSpPr>
            <a:spLocks noGrp="1"/>
          </p:cNvSpPr>
          <p:nvPr>
            <p:ph idx="1"/>
          </p:nvPr>
        </p:nvSpPr>
        <p:spPr>
          <a:xfrm>
            <a:off x="450850" y="1163638"/>
            <a:ext cx="8269288" cy="3575050"/>
          </a:xfrm>
          <a:solidFill>
            <a:srgbClr val="CCFFFF"/>
          </a:solidFill>
        </p:spPr>
        <p:txBody>
          <a:bodyPr vert="horz" wrap="square" lIns="91440" tIns="45720" rIns="91440" bIns="45720" anchor="t" anchorCtr="0"/>
          <a:p>
            <a:pPr marL="0" eaLnBrk="1" hangingPunct="1"/>
            <a:endParaRPr lang="en-US" altLang="zh-CN" sz="1800" b="0" dirty="0"/>
          </a:p>
          <a:p>
            <a:pPr marL="0" eaLnBrk="1" hangingPunct="1"/>
            <a:endParaRPr lang="en-US" altLang="zh-CN" sz="1800" b="0" dirty="0"/>
          </a:p>
          <a:p>
            <a:pPr marL="0" eaLnBrk="1" hangingPunct="1"/>
            <a:endParaRPr lang="en-US" altLang="zh-CN" sz="1800" b="0" dirty="0"/>
          </a:p>
          <a:p>
            <a:pPr marL="0" eaLnBrk="1" hangingPunct="1"/>
            <a:endParaRPr lang="en-US" altLang="zh-CN" sz="1800" b="0" dirty="0"/>
          </a:p>
          <a:p>
            <a:pPr marL="0" eaLnBrk="1" hangingPunct="1"/>
            <a:endParaRPr lang="en-US" altLang="zh-CN" sz="1800" b="0" dirty="0"/>
          </a:p>
          <a:p>
            <a:pPr marL="0" eaLnBrk="1" hangingPunct="1"/>
            <a:endParaRPr lang="en-US" altLang="zh-CN" sz="1800" b="0" dirty="0"/>
          </a:p>
        </p:txBody>
      </p:sp>
      <p:sp>
        <p:nvSpPr>
          <p:cNvPr id="539654" name="Text Box 6"/>
          <p:cNvSpPr txBox="1"/>
          <p:nvPr/>
        </p:nvSpPr>
        <p:spPr>
          <a:xfrm>
            <a:off x="5618163" y="1925638"/>
            <a:ext cx="1371600" cy="177165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 marL="457200" indent="-457200">
              <a:lnSpc>
                <a:spcPct val="100000"/>
              </a:lnSpc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1  1  0  0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00000"/>
              </a:lnSpc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0  0  1  0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00000"/>
              </a:lnSpc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1  0  0  0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00000"/>
              </a:lnSpc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1  0  2  0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4932363" y="2154238"/>
            <a:ext cx="2057400" cy="1371600"/>
            <a:chOff x="3107" y="1357"/>
            <a:chExt cx="1296" cy="864"/>
          </a:xfrm>
        </p:grpSpPr>
        <p:sp>
          <p:nvSpPr>
            <p:cNvPr id="58375" name="Text Box 5"/>
            <p:cNvSpPr txBox="1"/>
            <p:nvPr/>
          </p:nvSpPr>
          <p:spPr>
            <a:xfrm>
              <a:off x="3107" y="1645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76" name="Line 7"/>
            <p:cNvSpPr/>
            <p:nvPr/>
          </p:nvSpPr>
          <p:spPr>
            <a:xfrm>
              <a:off x="3491" y="1357"/>
              <a:ext cx="0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77" name="Line 8"/>
            <p:cNvSpPr/>
            <p:nvPr/>
          </p:nvSpPr>
          <p:spPr>
            <a:xfrm>
              <a:off x="4403" y="1357"/>
              <a:ext cx="0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78" name="Line 9"/>
            <p:cNvSpPr/>
            <p:nvPr/>
          </p:nvSpPr>
          <p:spPr>
            <a:xfrm>
              <a:off x="3491" y="1357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79" name="Line 10"/>
            <p:cNvSpPr/>
            <p:nvPr/>
          </p:nvSpPr>
          <p:spPr>
            <a:xfrm>
              <a:off x="4355" y="1357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80" name="Line 11"/>
            <p:cNvSpPr/>
            <p:nvPr/>
          </p:nvSpPr>
          <p:spPr>
            <a:xfrm>
              <a:off x="3491" y="2221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81" name="Line 12"/>
            <p:cNvSpPr/>
            <p:nvPr/>
          </p:nvSpPr>
          <p:spPr>
            <a:xfrm>
              <a:off x="4355" y="2221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" name="Group 13"/>
          <p:cNvGrpSpPr/>
          <p:nvPr/>
        </p:nvGrpSpPr>
        <p:grpSpPr>
          <a:xfrm>
            <a:off x="904875" y="1625600"/>
            <a:ext cx="3035300" cy="2133600"/>
            <a:chOff x="584" y="1488"/>
            <a:chExt cx="1912" cy="1344"/>
          </a:xfrm>
        </p:grpSpPr>
        <p:sp>
          <p:nvSpPr>
            <p:cNvPr id="58383" name="Text Box 14"/>
            <p:cNvSpPr txBox="1"/>
            <p:nvPr/>
          </p:nvSpPr>
          <p:spPr>
            <a:xfrm>
              <a:off x="672" y="1536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84" name="Text Box 15"/>
            <p:cNvSpPr txBox="1"/>
            <p:nvPr/>
          </p:nvSpPr>
          <p:spPr>
            <a:xfrm>
              <a:off x="672" y="2544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85" name="Text Box 16"/>
            <p:cNvSpPr txBox="1"/>
            <p:nvPr/>
          </p:nvSpPr>
          <p:spPr>
            <a:xfrm>
              <a:off x="2112" y="2496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86" name="Text Box 17"/>
            <p:cNvSpPr txBox="1"/>
            <p:nvPr/>
          </p:nvSpPr>
          <p:spPr>
            <a:xfrm>
              <a:off x="2112" y="1632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58387" name="Picture 18" descr="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84" y="1488"/>
              <a:ext cx="1672" cy="119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53965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53965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53965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4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539654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539654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539654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4">
                                            <p:txEl>
                                              <p:charRg st="22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539654">
                                            <p:txEl>
                                              <p:charRg st="22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539654">
                                            <p:txEl>
                                              <p:charRg st="22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539654">
                                            <p:txEl>
                                              <p:charRg st="22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4">
                                            <p:txEl>
                                              <p:charRg st="33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" dur="80"/>
                                        <p:tgtEl>
                                          <p:spTgt spid="539654">
                                            <p:txEl>
                                              <p:charRg st="33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9" dur="80"/>
                                        <p:tgtEl>
                                          <p:spTgt spid="539654">
                                            <p:txEl>
                                              <p:charRg st="33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80"/>
                                        <p:tgtEl>
                                          <p:spTgt spid="539654">
                                            <p:txEl>
                                              <p:charRg st="33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6107113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有向图中的通路数与回路数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242888" y="1084263"/>
            <a:ext cx="8418512" cy="2568575"/>
            <a:chOff x="153" y="683"/>
            <a:chExt cx="5303" cy="1618"/>
          </a:xfrm>
        </p:grpSpPr>
        <p:sp>
          <p:nvSpPr>
            <p:cNvPr id="59397" name="Text Box 4"/>
            <p:cNvSpPr txBox="1"/>
            <p:nvPr/>
          </p:nvSpPr>
          <p:spPr>
            <a:xfrm>
              <a:off x="153" y="689"/>
              <a:ext cx="5303" cy="14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just">
                <a:lnSpc>
                  <a:spcPct val="100000"/>
                </a:lnSpc>
                <a:spcBef>
                  <a:spcPct val="45000"/>
                </a:spcBef>
                <a:buClr>
                  <a:schemeClr val="bg2"/>
                </a:buClr>
                <a:buSzPct val="75000"/>
              </a:pPr>
              <a:r>
                <a:rPr lang="zh-CN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定理</a:t>
              </a:r>
              <a:r>
                <a:rPr lang="en-US" altLang="zh-CN" sz="24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11.11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设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为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阶有向图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的邻接矩阵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则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i="1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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1)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中元素         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lnSpc>
                  <a:spcPct val="100000"/>
                </a:lnSpc>
                <a:spcBef>
                  <a:spcPct val="45000"/>
                </a:spcBef>
                <a:buClr>
                  <a:schemeClr val="bg2"/>
                </a:buClr>
                <a:buSzPct val="75000"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等于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</a:t>
              </a:r>
              <a:r>
                <a:rPr lang="en-US" altLang="zh-CN" sz="24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300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到</a:t>
              </a:r>
              <a:r>
                <a:rPr lang="en-US" altLang="zh-CN" sz="24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300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长度为 </a:t>
              </a:r>
              <a:r>
                <a:rPr lang="en-US" altLang="zh-CN" sz="24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 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的通路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含回路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数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    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等于</a:t>
              </a:r>
              <a:r>
                <a:rPr lang="en-US" altLang="zh-CN" sz="24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300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到自身长</a:t>
              </a:r>
              <a:endPara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lnSpc>
                  <a:spcPct val="100000"/>
                </a:lnSpc>
                <a:spcBef>
                  <a:spcPct val="80000"/>
                </a:spcBef>
                <a:buClr>
                  <a:schemeClr val="bg2"/>
                </a:buClr>
                <a:buSzPct val="75000"/>
              </a:pP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度为</a:t>
              </a:r>
              <a:r>
                <a:rPr lang="en-US" altLang="zh-CN" sz="24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 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的回路数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               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等于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长度为 </a:t>
              </a:r>
              <a:r>
                <a:rPr lang="en-US" altLang="zh-CN" sz="24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 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的通路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含回路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lnSpc>
                  <a:spcPct val="100000"/>
                </a:lnSpc>
                <a:spcBef>
                  <a:spcPct val="80000"/>
                </a:spcBef>
                <a:buClr>
                  <a:schemeClr val="bg2"/>
                </a:buClr>
                <a:buSzPct val="75000"/>
              </a:pP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总数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           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等于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长度为 </a:t>
              </a:r>
              <a:r>
                <a:rPr lang="en-US" altLang="zh-CN" sz="24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回路总数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.  </a:t>
              </a:r>
              <a:endParaRPr lang="en-US" altLang="zh-CN" sz="2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9398" name="Object 5"/>
            <p:cNvGraphicFramePr/>
            <p:nvPr/>
          </p:nvGraphicFramePr>
          <p:xfrm>
            <a:off x="3600" y="1019"/>
            <a:ext cx="336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1" imgW="241300" imgH="241300" progId="Equation.3">
                    <p:embed/>
                  </p:oleObj>
                </mc:Choice>
                <mc:Fallback>
                  <p:oleObj name="" r:id="rId1" imgW="241300" imgH="2413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600" y="1019"/>
                          <a:ext cx="336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399" name="Object 6"/>
            <p:cNvGraphicFramePr/>
            <p:nvPr/>
          </p:nvGraphicFramePr>
          <p:xfrm>
            <a:off x="4940" y="683"/>
            <a:ext cx="32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3" imgW="241300" imgH="254000" progId="Equation.3">
                    <p:embed/>
                  </p:oleObj>
                </mc:Choice>
                <mc:Fallback>
                  <p:oleObj name="" r:id="rId3" imgW="241300" imgH="2540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40" y="683"/>
                          <a:ext cx="324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0" name="Object 7"/>
            <p:cNvGraphicFramePr/>
            <p:nvPr/>
          </p:nvGraphicFramePr>
          <p:xfrm>
            <a:off x="1516" y="1307"/>
            <a:ext cx="810" cy="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5" imgW="609600" imgH="457200" progId="Equation.3">
                    <p:embed/>
                  </p:oleObj>
                </mc:Choice>
                <mc:Fallback>
                  <p:oleObj name="" r:id="rId5" imgW="609600" imgH="4572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16" y="1307"/>
                          <a:ext cx="810" cy="5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1" name="Object 8"/>
            <p:cNvGraphicFramePr/>
            <p:nvPr/>
          </p:nvGraphicFramePr>
          <p:xfrm>
            <a:off x="683" y="1739"/>
            <a:ext cx="552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7" imgW="431800" imgH="431800" progId="Equation.3">
                    <p:embed/>
                  </p:oleObj>
                </mc:Choice>
                <mc:Fallback>
                  <p:oleObj name="" r:id="rId7" imgW="431800" imgH="4318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83" y="1739"/>
                          <a:ext cx="552" cy="5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/>
          <p:nvPr/>
        </p:nvGrpSpPr>
        <p:grpSpPr>
          <a:xfrm>
            <a:off x="61913" y="3779838"/>
            <a:ext cx="8418512" cy="2354262"/>
            <a:chOff x="115" y="2230"/>
            <a:chExt cx="5303" cy="1483"/>
          </a:xfrm>
        </p:grpSpPr>
        <p:sp>
          <p:nvSpPr>
            <p:cNvPr id="59403" name="Text Box 11"/>
            <p:cNvSpPr txBox="1"/>
            <p:nvPr/>
          </p:nvSpPr>
          <p:spPr>
            <a:xfrm>
              <a:off x="115" y="2230"/>
              <a:ext cx="5303" cy="148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indent="187325" algn="just">
                <a:lnSpc>
                  <a:spcPct val="100000"/>
                </a:lnSpc>
                <a:spcBef>
                  <a:spcPct val="45000"/>
                </a:spcBef>
                <a:buClr>
                  <a:schemeClr val="bg2"/>
                </a:buClr>
                <a:buSzPct val="75000"/>
              </a:pPr>
              <a:r>
                <a:rPr lang="zh-CN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推论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设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+…+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i="1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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1),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则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中元素       等于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indent="187325" algn="just">
                <a:lnSpc>
                  <a:spcPct val="100000"/>
                </a:lnSpc>
                <a:spcBef>
                  <a:spcPct val="45000"/>
                </a:spcBef>
                <a:buClr>
                  <a:schemeClr val="bg2"/>
                </a:buClr>
                <a:buSzPct val="75000"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长度小于等于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的通路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含回路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数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   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等于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的长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indent="187325" algn="just">
                <a:lnSpc>
                  <a:spcPct val="100000"/>
                </a:lnSpc>
                <a:spcBef>
                  <a:spcPct val="45000"/>
                </a:spcBef>
                <a:buClr>
                  <a:schemeClr val="bg2"/>
                </a:buClr>
                <a:buSzPct val="75000"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度小于等于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的回路数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               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等于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长度小于等于</a:t>
              </a:r>
              <a:r>
                <a:rPr lang="en-US" altLang="zh-CN" sz="24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 </a:t>
              </a:r>
              <a:endParaRPr lang="en-US" altLang="zh-CN" sz="2400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indent="187325" algn="just">
                <a:lnSpc>
                  <a:spcPct val="100000"/>
                </a:lnSpc>
                <a:spcBef>
                  <a:spcPct val="45000"/>
                </a:spcBef>
                <a:buClr>
                  <a:schemeClr val="bg2"/>
                </a:buClr>
                <a:buSzPct val="75000"/>
              </a:pP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的通路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含回路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数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         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为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长度小于等于</a:t>
              </a:r>
              <a:r>
                <a:rPr lang="en-US" altLang="zh-CN" sz="24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 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的回路数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9404" name="Object 12"/>
            <p:cNvGraphicFramePr/>
            <p:nvPr/>
          </p:nvGraphicFramePr>
          <p:xfrm>
            <a:off x="2312" y="2755"/>
            <a:ext cx="720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9" imgW="609600" imgH="457200" progId="Equation.3">
                    <p:embed/>
                  </p:oleObj>
                </mc:Choice>
                <mc:Fallback>
                  <p:oleObj name="" r:id="rId9" imgW="609600" imgH="4572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312" y="2755"/>
                          <a:ext cx="720" cy="5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5" name="Object 13"/>
            <p:cNvGraphicFramePr/>
            <p:nvPr/>
          </p:nvGraphicFramePr>
          <p:xfrm>
            <a:off x="1881" y="3109"/>
            <a:ext cx="51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11" imgW="431800" imgH="431800" progId="Equation.3">
                    <p:embed/>
                  </p:oleObj>
                </mc:Choice>
                <mc:Fallback>
                  <p:oleObj name="" r:id="rId11" imgW="431800" imgH="4318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881" y="3109"/>
                          <a:ext cx="518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6" name="Object 14"/>
            <p:cNvGraphicFramePr/>
            <p:nvPr/>
          </p:nvGraphicFramePr>
          <p:xfrm>
            <a:off x="3771" y="2236"/>
            <a:ext cx="279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3" imgW="241300" imgH="254000" progId="Equation.3">
                    <p:embed/>
                  </p:oleObj>
                </mc:Choice>
                <mc:Fallback>
                  <p:oleObj name="" r:id="rId13" imgW="241300" imgH="2540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71" y="2236"/>
                          <a:ext cx="279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7" name="Object 15"/>
            <p:cNvGraphicFramePr/>
            <p:nvPr/>
          </p:nvGraphicFramePr>
          <p:xfrm>
            <a:off x="3259" y="2601"/>
            <a:ext cx="279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5" imgW="241300" imgH="241300" progId="Equation.3">
                    <p:embed/>
                  </p:oleObj>
                </mc:Choice>
                <mc:Fallback>
                  <p:oleObj name="" r:id="rId15" imgW="241300" imgH="2413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259" y="2601"/>
                          <a:ext cx="279" cy="2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2259013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</a:t>
            </a: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续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1" lang="en-US" altLang="zh-CN" sz="3600" b="1" i="0" u="none" strike="noStrike" kern="0" cap="none" spc="0" normalizeH="0" baseline="0" noProof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420" name="Rectangle 3"/>
          <p:cNvSpPr>
            <a:spLocks noGrp="1"/>
          </p:cNvSpPr>
          <p:nvPr>
            <p:ph idx="1"/>
          </p:nvPr>
        </p:nvSpPr>
        <p:spPr>
          <a:xfrm>
            <a:off x="588963" y="1770063"/>
            <a:ext cx="7772400" cy="4038600"/>
          </a:xfrm>
          <a:solidFill>
            <a:srgbClr val="CCFFFF"/>
          </a:solidFill>
        </p:spPr>
        <p:txBody>
          <a:bodyPr vert="horz" wrap="square" lIns="91440" tIns="45720" rIns="91440" bIns="45720" anchor="t" anchorCtr="0"/>
          <a:p>
            <a:pPr marL="0" eaLnBrk="1" hangingPunct="1"/>
            <a:r>
              <a:rPr lang="en-US" altLang="zh-CN" sz="1800" b="0" dirty="0"/>
              <a:t>  </a:t>
            </a:r>
            <a:endParaRPr lang="en-US" altLang="zh-CN" sz="1800" b="0" dirty="0"/>
          </a:p>
        </p:txBody>
      </p:sp>
      <p:sp>
        <p:nvSpPr>
          <p:cNvPr id="542724" name="Text Box 4"/>
          <p:cNvSpPr txBox="1"/>
          <p:nvPr/>
        </p:nvSpPr>
        <p:spPr>
          <a:xfrm>
            <a:off x="533400" y="5834063"/>
            <a:ext cx="77724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说明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在这里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通路和回路数是定义意义下的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762000" y="1828800"/>
            <a:ext cx="2057400" cy="1771650"/>
            <a:chOff x="2976" y="1584"/>
            <a:chExt cx="1296" cy="1116"/>
          </a:xfrm>
        </p:grpSpPr>
        <p:sp>
          <p:nvSpPr>
            <p:cNvPr id="60423" name="Text Box 6"/>
            <p:cNvSpPr txBox="1"/>
            <p:nvPr/>
          </p:nvSpPr>
          <p:spPr>
            <a:xfrm>
              <a:off x="2976" y="2016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24" name="Text Box 7"/>
            <p:cNvSpPr txBox="1"/>
            <p:nvPr/>
          </p:nvSpPr>
          <p:spPr>
            <a:xfrm>
              <a:off x="3408" y="1584"/>
              <a:ext cx="864" cy="1116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1  1  0  0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1  0  0  0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1  0  2  0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25" name="Line 8"/>
            <p:cNvSpPr/>
            <p:nvPr/>
          </p:nvSpPr>
          <p:spPr>
            <a:xfrm>
              <a:off x="3360" y="1728"/>
              <a:ext cx="0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26" name="Line 9"/>
            <p:cNvSpPr/>
            <p:nvPr/>
          </p:nvSpPr>
          <p:spPr>
            <a:xfrm>
              <a:off x="4272" y="1728"/>
              <a:ext cx="0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27" name="Line 10"/>
            <p:cNvSpPr/>
            <p:nvPr/>
          </p:nvSpPr>
          <p:spPr>
            <a:xfrm>
              <a:off x="3360" y="1728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28" name="Line 11"/>
            <p:cNvSpPr/>
            <p:nvPr/>
          </p:nvSpPr>
          <p:spPr>
            <a:xfrm>
              <a:off x="4224" y="1728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29" name="Line 12"/>
            <p:cNvSpPr/>
            <p:nvPr/>
          </p:nvSpPr>
          <p:spPr>
            <a:xfrm>
              <a:off x="3360" y="2592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30" name="Line 13"/>
            <p:cNvSpPr/>
            <p:nvPr/>
          </p:nvSpPr>
          <p:spPr>
            <a:xfrm>
              <a:off x="4224" y="2592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" name="Group 14"/>
          <p:cNvGrpSpPr/>
          <p:nvPr/>
        </p:nvGrpSpPr>
        <p:grpSpPr>
          <a:xfrm>
            <a:off x="3429000" y="1828800"/>
            <a:ext cx="2135188" cy="1771650"/>
            <a:chOff x="2160" y="1152"/>
            <a:chExt cx="1345" cy="1116"/>
          </a:xfrm>
        </p:grpSpPr>
        <p:sp>
          <p:nvSpPr>
            <p:cNvPr id="60432" name="Text Box 15"/>
            <p:cNvSpPr txBox="1"/>
            <p:nvPr/>
          </p:nvSpPr>
          <p:spPr>
            <a:xfrm>
              <a:off x="2160" y="1584"/>
              <a:ext cx="48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33" name="Text Box 16"/>
            <p:cNvSpPr txBox="1"/>
            <p:nvPr/>
          </p:nvSpPr>
          <p:spPr>
            <a:xfrm>
              <a:off x="2640" y="1152"/>
              <a:ext cx="864" cy="1116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1  1  1  0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1  0  0  0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1  1  0  0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3  1  0  0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34" name="Line 17"/>
            <p:cNvSpPr/>
            <p:nvPr/>
          </p:nvSpPr>
          <p:spPr>
            <a:xfrm>
              <a:off x="2592" y="1296"/>
              <a:ext cx="1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35" name="Line 18"/>
            <p:cNvSpPr/>
            <p:nvPr/>
          </p:nvSpPr>
          <p:spPr>
            <a:xfrm>
              <a:off x="3504" y="1296"/>
              <a:ext cx="1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36" name="Line 19"/>
            <p:cNvSpPr/>
            <p:nvPr/>
          </p:nvSpPr>
          <p:spPr>
            <a:xfrm>
              <a:off x="2592" y="1296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37" name="Line 20"/>
            <p:cNvSpPr/>
            <p:nvPr/>
          </p:nvSpPr>
          <p:spPr>
            <a:xfrm>
              <a:off x="3456" y="1296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38" name="Line 21"/>
            <p:cNvSpPr/>
            <p:nvPr/>
          </p:nvSpPr>
          <p:spPr>
            <a:xfrm>
              <a:off x="2592" y="2160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39" name="Line 22"/>
            <p:cNvSpPr/>
            <p:nvPr/>
          </p:nvSpPr>
          <p:spPr>
            <a:xfrm>
              <a:off x="3456" y="2160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" name="Group 23"/>
          <p:cNvGrpSpPr/>
          <p:nvPr/>
        </p:nvGrpSpPr>
        <p:grpSpPr>
          <a:xfrm>
            <a:off x="6096000" y="1828800"/>
            <a:ext cx="2133600" cy="1771650"/>
            <a:chOff x="3648" y="1152"/>
            <a:chExt cx="1344" cy="1116"/>
          </a:xfrm>
        </p:grpSpPr>
        <p:sp>
          <p:nvSpPr>
            <p:cNvPr id="60441" name="Text Box 24"/>
            <p:cNvSpPr txBox="1"/>
            <p:nvPr/>
          </p:nvSpPr>
          <p:spPr>
            <a:xfrm>
              <a:off x="3648" y="1584"/>
              <a:ext cx="432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2" name="Text Box 25"/>
            <p:cNvSpPr txBox="1"/>
            <p:nvPr/>
          </p:nvSpPr>
          <p:spPr>
            <a:xfrm>
              <a:off x="4128" y="1152"/>
              <a:ext cx="864" cy="1116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2  1  1  0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1  1  0  0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1  1  0  0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3  3  1  0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3" name="Line 26"/>
            <p:cNvSpPr/>
            <p:nvPr/>
          </p:nvSpPr>
          <p:spPr>
            <a:xfrm>
              <a:off x="4080" y="1296"/>
              <a:ext cx="0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44" name="Line 27"/>
            <p:cNvSpPr/>
            <p:nvPr/>
          </p:nvSpPr>
          <p:spPr>
            <a:xfrm>
              <a:off x="4992" y="1296"/>
              <a:ext cx="0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45" name="Line 28"/>
            <p:cNvSpPr/>
            <p:nvPr/>
          </p:nvSpPr>
          <p:spPr>
            <a:xfrm>
              <a:off x="4080" y="1296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46" name="Line 29"/>
            <p:cNvSpPr/>
            <p:nvPr/>
          </p:nvSpPr>
          <p:spPr>
            <a:xfrm>
              <a:off x="4944" y="1296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47" name="Line 30"/>
            <p:cNvSpPr/>
            <p:nvPr/>
          </p:nvSpPr>
          <p:spPr>
            <a:xfrm>
              <a:off x="4080" y="2160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48" name="Line 31"/>
            <p:cNvSpPr/>
            <p:nvPr/>
          </p:nvSpPr>
          <p:spPr>
            <a:xfrm>
              <a:off x="4944" y="2160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5" name="Group 32"/>
          <p:cNvGrpSpPr/>
          <p:nvPr/>
        </p:nvGrpSpPr>
        <p:grpSpPr>
          <a:xfrm>
            <a:off x="685800" y="3886200"/>
            <a:ext cx="2135188" cy="1771650"/>
            <a:chOff x="528" y="2448"/>
            <a:chExt cx="1345" cy="1116"/>
          </a:xfrm>
        </p:grpSpPr>
        <p:sp>
          <p:nvSpPr>
            <p:cNvPr id="60450" name="Text Box 33"/>
            <p:cNvSpPr txBox="1"/>
            <p:nvPr/>
          </p:nvSpPr>
          <p:spPr>
            <a:xfrm>
              <a:off x="528" y="2880"/>
              <a:ext cx="528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51" name="Text Box 34"/>
            <p:cNvSpPr txBox="1"/>
            <p:nvPr/>
          </p:nvSpPr>
          <p:spPr>
            <a:xfrm>
              <a:off x="1008" y="2448"/>
              <a:ext cx="864" cy="1116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3  2  1  0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1  1  0  0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2  1  1  0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4  3  1  0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52" name="Line 35"/>
            <p:cNvSpPr/>
            <p:nvPr/>
          </p:nvSpPr>
          <p:spPr>
            <a:xfrm>
              <a:off x="960" y="2592"/>
              <a:ext cx="1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53" name="Line 36"/>
            <p:cNvSpPr/>
            <p:nvPr/>
          </p:nvSpPr>
          <p:spPr>
            <a:xfrm>
              <a:off x="1872" y="2592"/>
              <a:ext cx="1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54" name="Line 37"/>
            <p:cNvSpPr/>
            <p:nvPr/>
          </p:nvSpPr>
          <p:spPr>
            <a:xfrm>
              <a:off x="960" y="2592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55" name="Line 38"/>
            <p:cNvSpPr/>
            <p:nvPr/>
          </p:nvSpPr>
          <p:spPr>
            <a:xfrm>
              <a:off x="1824" y="2592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56" name="Line 39"/>
            <p:cNvSpPr/>
            <p:nvPr/>
          </p:nvSpPr>
          <p:spPr>
            <a:xfrm>
              <a:off x="960" y="3456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457" name="Line 40"/>
            <p:cNvSpPr/>
            <p:nvPr/>
          </p:nvSpPr>
          <p:spPr>
            <a:xfrm>
              <a:off x="1824" y="3456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42761" name="Text Box 41"/>
          <p:cNvSpPr txBox="1"/>
          <p:nvPr/>
        </p:nvSpPr>
        <p:spPr>
          <a:xfrm>
            <a:off x="3124200" y="3867150"/>
            <a:ext cx="5410200" cy="177165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长为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的通路有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条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长为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的通路有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条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到自身长为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的回路有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条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中长为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的通路共有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条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其中回路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条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0459" name="Group 42"/>
          <p:cNvGrpSpPr/>
          <p:nvPr/>
        </p:nvGrpSpPr>
        <p:grpSpPr>
          <a:xfrm>
            <a:off x="3128963" y="301625"/>
            <a:ext cx="2209800" cy="1431925"/>
            <a:chOff x="3168" y="2832"/>
            <a:chExt cx="1392" cy="902"/>
          </a:xfrm>
        </p:grpSpPr>
        <p:sp>
          <p:nvSpPr>
            <p:cNvPr id="60460" name="Text Box 43"/>
            <p:cNvSpPr txBox="1"/>
            <p:nvPr/>
          </p:nvSpPr>
          <p:spPr>
            <a:xfrm>
              <a:off x="3314" y="2832"/>
              <a:ext cx="33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61" name="Text Box 44"/>
            <p:cNvSpPr txBox="1"/>
            <p:nvPr/>
          </p:nvSpPr>
          <p:spPr>
            <a:xfrm>
              <a:off x="3168" y="3446"/>
              <a:ext cx="43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62" name="Text Box 45"/>
            <p:cNvSpPr txBox="1"/>
            <p:nvPr/>
          </p:nvSpPr>
          <p:spPr>
            <a:xfrm>
              <a:off x="4044" y="3417"/>
              <a:ext cx="516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63" name="Text Box 46"/>
            <p:cNvSpPr txBox="1"/>
            <p:nvPr/>
          </p:nvSpPr>
          <p:spPr>
            <a:xfrm>
              <a:off x="4044" y="2892"/>
              <a:ext cx="372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60464" name="Picture 47" descr="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168" y="2878"/>
              <a:ext cx="958" cy="72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1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542761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542761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542761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1">
                                            <p:txEl>
                                              <p:charRg st="15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4" dur="80"/>
                                        <p:tgtEl>
                                          <p:spTgt spid="542761">
                                            <p:txEl>
                                              <p:charRg st="15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5" dur="80"/>
                                        <p:tgtEl>
                                          <p:spTgt spid="542761">
                                            <p:txEl>
                                              <p:charRg st="15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80"/>
                                        <p:tgtEl>
                                          <p:spTgt spid="542761">
                                            <p:txEl>
                                              <p:charRg st="15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1">
                                            <p:txEl>
                                              <p:charRg st="3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80"/>
                                        <p:tgtEl>
                                          <p:spTgt spid="542761">
                                            <p:txEl>
                                              <p:charRg st="3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80"/>
                                        <p:tgtEl>
                                          <p:spTgt spid="542761">
                                            <p:txEl>
                                              <p:charRg st="3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80"/>
                                        <p:tgtEl>
                                          <p:spTgt spid="542761">
                                            <p:txEl>
                                              <p:charRg st="3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1">
                                            <p:txEl>
                                              <p:charRg st="4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8" dur="80"/>
                                        <p:tgtEl>
                                          <p:spTgt spid="542761">
                                            <p:txEl>
                                              <p:charRg st="4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9" dur="80"/>
                                        <p:tgtEl>
                                          <p:spTgt spid="542761">
                                            <p:txEl>
                                              <p:charRg st="4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80"/>
                                        <p:tgtEl>
                                          <p:spTgt spid="542761">
                                            <p:txEl>
                                              <p:charRg st="45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5" dur="80"/>
                                        <p:tgtEl>
                                          <p:spTgt spid="5427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6" dur="80"/>
                                        <p:tgtEl>
                                          <p:spTgt spid="5427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80"/>
                                        <p:tgtEl>
                                          <p:spTgt spid="5427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2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4243388" cy="5413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有向图的可达矩阵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3747" name="Rectangle 3"/>
          <p:cNvSpPr>
            <a:spLocks noGrp="1"/>
          </p:cNvSpPr>
          <p:nvPr>
            <p:ph idx="1"/>
          </p:nvPr>
        </p:nvSpPr>
        <p:spPr>
          <a:xfrm>
            <a:off x="482600" y="3549650"/>
            <a:ext cx="7162800" cy="1447800"/>
          </a:xfrm>
        </p:spPr>
        <p:txBody>
          <a:bodyPr vert="horz" wrap="square" lIns="91440" tIns="45720" rIns="91440" bIns="45720" anchor="t" anchorCtr="0"/>
          <a:p>
            <a:pPr marL="0" algn="just" eaLnBrk="1" hangingPunct="1">
              <a:buClr>
                <a:schemeClr val="bg2"/>
              </a:buClr>
              <a:buSzPct val="75000"/>
            </a:pPr>
            <a:r>
              <a:rPr lang="zh-CN" altLang="en-US" dirty="0"/>
              <a:t>性质</a:t>
            </a:r>
            <a:r>
              <a:rPr lang="en-US" altLang="zh-CN" dirty="0"/>
              <a:t>:</a:t>
            </a:r>
            <a:endParaRPr lang="en-US" altLang="zh-CN" dirty="0"/>
          </a:p>
          <a:p>
            <a:pPr marL="0" algn="just" eaLnBrk="1" hangingPunct="1">
              <a:buClr>
                <a:schemeClr val="bg2"/>
              </a:buClr>
              <a:buSzPct val="75000"/>
            </a:pP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D</a:t>
            </a:r>
            <a:r>
              <a:rPr lang="en-US" altLang="zh-CN" dirty="0"/>
              <a:t>)</a:t>
            </a:r>
            <a:r>
              <a:rPr lang="zh-CN" altLang="en-US" dirty="0"/>
              <a:t>主对角线上的元素全为</a:t>
            </a:r>
            <a:r>
              <a:rPr lang="en-US" altLang="zh-CN" dirty="0"/>
              <a:t>1. </a:t>
            </a:r>
            <a:endParaRPr lang="en-US" altLang="zh-CN" dirty="0"/>
          </a:p>
          <a:p>
            <a:pPr marL="0" algn="just" eaLnBrk="1" hangingPunct="1">
              <a:buClr>
                <a:schemeClr val="bg2"/>
              </a:buClr>
              <a:buSzPct val="75000"/>
            </a:pPr>
            <a:r>
              <a:rPr lang="en-US" altLang="zh-CN" i="1" dirty="0"/>
              <a:t>D</a:t>
            </a:r>
            <a:r>
              <a:rPr lang="zh-CN" altLang="en-US" dirty="0"/>
              <a:t>强连通当且仅当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D</a:t>
            </a:r>
            <a:r>
              <a:rPr lang="en-US" altLang="zh-CN" dirty="0"/>
              <a:t>)</a:t>
            </a:r>
            <a:r>
              <a:rPr lang="zh-CN" altLang="en-US" dirty="0"/>
              <a:t>的元素全为</a:t>
            </a:r>
            <a:r>
              <a:rPr lang="en-US" altLang="zh-CN" dirty="0"/>
              <a:t>1.</a:t>
            </a:r>
            <a:endParaRPr lang="en-US" altLang="zh-CN" dirty="0"/>
          </a:p>
        </p:txBody>
      </p:sp>
      <p:grpSp>
        <p:nvGrpSpPr>
          <p:cNvPr id="2" name="Group 4"/>
          <p:cNvGrpSpPr/>
          <p:nvPr/>
        </p:nvGrpSpPr>
        <p:grpSpPr>
          <a:xfrm>
            <a:off x="539750" y="1565275"/>
            <a:ext cx="8077200" cy="1771650"/>
            <a:chOff x="340" y="1104"/>
            <a:chExt cx="5088" cy="1116"/>
          </a:xfrm>
        </p:grpSpPr>
        <p:sp>
          <p:nvSpPr>
            <p:cNvPr id="61446" name="Text Box 5"/>
            <p:cNvSpPr txBox="1"/>
            <p:nvPr/>
          </p:nvSpPr>
          <p:spPr>
            <a:xfrm>
              <a:off x="340" y="1104"/>
              <a:ext cx="5088" cy="111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just">
                <a:lnSpc>
                  <a:spcPct val="100000"/>
                </a:lnSpc>
                <a:buClr>
                  <a:schemeClr val="bg2"/>
                </a:buClr>
                <a:buSzPct val="75000"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设有向图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=&lt;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&gt;,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={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…,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},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令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lnSpc>
                  <a:spcPct val="100000"/>
                </a:lnSpc>
                <a:buClr>
                  <a:schemeClr val="bg2"/>
                </a:buClr>
                <a:buSzPct val="75000"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lnSpc>
                  <a:spcPct val="100000"/>
                </a:lnSpc>
                <a:buClr>
                  <a:schemeClr val="bg2"/>
                </a:buClr>
                <a:buSzPct val="75000"/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>
                <a:lnSpc>
                  <a:spcPct val="100000"/>
                </a:lnSpc>
                <a:buClr>
                  <a:schemeClr val="bg2"/>
                </a:buClr>
                <a:buSzPct val="75000"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称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ij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400" baseline="-300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</a:t>
              </a:r>
              <a:r>
                <a:rPr lang="en-US" altLang="zh-CN" sz="2400" i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为</a:t>
              </a:r>
              <a:r>
                <a:rPr lang="en-US" altLang="zh-CN" sz="2400" i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zh-CN" altLang="en-US" sz="240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的可达矩阵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记作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),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简记为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. 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1447" name="Object 6"/>
            <p:cNvGraphicFramePr/>
            <p:nvPr/>
          </p:nvGraphicFramePr>
          <p:xfrm>
            <a:off x="1495" y="1372"/>
            <a:ext cx="1662" cy="5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" imgW="1333500" imgH="482600" progId="Equation.3">
                    <p:embed/>
                  </p:oleObj>
                </mc:Choice>
                <mc:Fallback>
                  <p:oleObj name="" r:id="rId1" imgW="1333500" imgH="4826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95" y="1372"/>
                          <a:ext cx="1662" cy="5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3751" name="Text Box 7"/>
          <p:cNvSpPr txBox="1"/>
          <p:nvPr/>
        </p:nvSpPr>
        <p:spPr>
          <a:xfrm>
            <a:off x="303213" y="1084263"/>
            <a:ext cx="1563687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定义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11.27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54374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54374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54374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charRg st="4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543747">
                                            <p:txEl>
                                              <p:charRg st="4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543747">
                                            <p:txEl>
                                              <p:charRg st="4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543747">
                                            <p:txEl>
                                              <p:charRg st="4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charRg st="2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543747">
                                            <p:txEl>
                                              <p:charRg st="2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543747">
                                            <p:txEl>
                                              <p:charRg st="2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543747">
                                            <p:txEl>
                                              <p:charRg st="2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5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6246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469" name="Rectangle 3"/>
          <p:cNvSpPr>
            <a:spLocks noGrp="1"/>
          </p:cNvSpPr>
          <p:nvPr>
            <p:ph idx="1"/>
          </p:nvPr>
        </p:nvSpPr>
        <p:spPr>
          <a:xfrm>
            <a:off x="363538" y="1084263"/>
            <a:ext cx="7772400" cy="2667000"/>
          </a:xfrm>
        </p:spPr>
        <p:txBody>
          <a:bodyPr vert="horz" wrap="square" lIns="91440" tIns="45720" rIns="91440" bIns="45720" anchor="t" anchorCtr="0"/>
          <a:p>
            <a:pPr marL="0" eaLnBrk="1" hangingPunct="1"/>
            <a:r>
              <a:rPr lang="zh-CN" altLang="en-US" dirty="0">
                <a:solidFill>
                  <a:srgbClr val="800000"/>
                </a:solidFill>
              </a:rPr>
              <a:t>例</a:t>
            </a:r>
            <a:r>
              <a:rPr lang="en-US" altLang="zh-CN" dirty="0">
                <a:solidFill>
                  <a:srgbClr val="800000"/>
                </a:solidFill>
              </a:rPr>
              <a:t>1</a:t>
            </a:r>
            <a:r>
              <a:rPr lang="en-US" altLang="zh-CN" dirty="0"/>
              <a:t> (1) </a:t>
            </a:r>
            <a:r>
              <a:rPr lang="en-US" altLang="zh-CN" i="1" dirty="0"/>
              <a:t>v</a:t>
            </a:r>
            <a:r>
              <a:rPr lang="en-US" altLang="zh-CN" baseline="-30000" dirty="0"/>
              <a:t>1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baseline="-30000" dirty="0"/>
              <a:t>4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baseline="-30000" dirty="0"/>
              <a:t>4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baseline="-30000" dirty="0"/>
              <a:t>1</a:t>
            </a:r>
            <a:r>
              <a:rPr lang="zh-CN" altLang="en-US" dirty="0"/>
              <a:t>长为</a:t>
            </a:r>
            <a:r>
              <a:rPr lang="en-US" altLang="zh-CN" dirty="0"/>
              <a:t>3</a:t>
            </a:r>
            <a:r>
              <a:rPr lang="zh-CN" altLang="en-US" dirty="0"/>
              <a:t>的通路各有多少条</a:t>
            </a:r>
            <a:r>
              <a:rPr lang="en-US" altLang="zh-CN" dirty="0"/>
              <a:t>?</a:t>
            </a:r>
            <a:endParaRPr lang="en-US" altLang="zh-CN" dirty="0"/>
          </a:p>
          <a:p>
            <a:pPr marL="0" eaLnBrk="1" hangingPunct="1"/>
            <a:r>
              <a:rPr lang="en-US" altLang="zh-CN" dirty="0"/>
              <a:t>(2) </a:t>
            </a:r>
            <a:r>
              <a:rPr lang="en-US" altLang="zh-CN" i="1" dirty="0"/>
              <a:t>v</a:t>
            </a:r>
            <a:r>
              <a:rPr lang="en-US" altLang="zh-CN" baseline="-30000" dirty="0"/>
              <a:t>1</a:t>
            </a:r>
            <a:r>
              <a:rPr lang="zh-CN" altLang="en-US" dirty="0"/>
              <a:t>到自身长为</a:t>
            </a:r>
            <a:r>
              <a:rPr lang="en-US" altLang="zh-CN" dirty="0"/>
              <a:t>1,2,3,4</a:t>
            </a:r>
            <a:r>
              <a:rPr lang="zh-CN" altLang="en-US" dirty="0"/>
              <a:t>的回路各有多少条</a:t>
            </a:r>
            <a:r>
              <a:rPr lang="en-US" altLang="zh-CN" dirty="0"/>
              <a:t>?</a:t>
            </a:r>
            <a:endParaRPr lang="en-US" altLang="zh-CN" dirty="0"/>
          </a:p>
          <a:p>
            <a:pPr marL="0" eaLnBrk="1" hangingPunct="1"/>
            <a:r>
              <a:rPr lang="en-US" altLang="zh-CN" dirty="0"/>
              <a:t>(3) </a:t>
            </a:r>
            <a:r>
              <a:rPr lang="zh-CN" altLang="en-US" dirty="0"/>
              <a:t>长为</a:t>
            </a:r>
            <a:r>
              <a:rPr lang="en-US" altLang="zh-CN" dirty="0"/>
              <a:t>4</a:t>
            </a:r>
            <a:r>
              <a:rPr lang="zh-CN" altLang="en-US" dirty="0"/>
              <a:t>的通路共有多少条</a:t>
            </a:r>
            <a:r>
              <a:rPr lang="en-US" altLang="zh-CN" dirty="0"/>
              <a:t>?</a:t>
            </a:r>
            <a:r>
              <a:rPr lang="zh-CN" altLang="en-US" dirty="0"/>
              <a:t>其中有多少条回路</a:t>
            </a:r>
            <a:r>
              <a:rPr lang="en-US" altLang="zh-CN" dirty="0"/>
              <a:t>?</a:t>
            </a:r>
            <a:endParaRPr lang="en-US" altLang="zh-CN" dirty="0"/>
          </a:p>
          <a:p>
            <a:pPr marL="0" eaLnBrk="1" hangingPunct="1"/>
            <a:r>
              <a:rPr lang="en-US" altLang="zh-CN" dirty="0"/>
              <a:t>(4) </a:t>
            </a:r>
            <a:r>
              <a:rPr lang="zh-CN" altLang="en-US" dirty="0"/>
              <a:t>长度小于等于</a:t>
            </a:r>
            <a:r>
              <a:rPr lang="en-US" altLang="zh-CN" dirty="0"/>
              <a:t>4</a:t>
            </a:r>
            <a:r>
              <a:rPr lang="zh-CN" altLang="en-US" dirty="0"/>
              <a:t>的回路共有多少条</a:t>
            </a:r>
            <a:r>
              <a:rPr lang="en-US" altLang="zh-CN" dirty="0"/>
              <a:t>?</a:t>
            </a:r>
            <a:endParaRPr lang="en-US" altLang="zh-CN" dirty="0"/>
          </a:p>
          <a:p>
            <a:pPr marL="0" eaLnBrk="1" hangingPunct="1"/>
            <a:r>
              <a:rPr lang="en-US" altLang="zh-CN" dirty="0"/>
              <a:t>(5) </a:t>
            </a:r>
            <a:r>
              <a:rPr lang="zh-CN" altLang="en-US" dirty="0"/>
              <a:t>写出</a:t>
            </a:r>
            <a:r>
              <a:rPr lang="en-US" altLang="zh-CN" i="1" dirty="0"/>
              <a:t>D</a:t>
            </a:r>
            <a:r>
              <a:rPr lang="zh-CN" altLang="en-US" dirty="0"/>
              <a:t>的可达矩阵</a:t>
            </a:r>
            <a:r>
              <a:rPr lang="en-US" altLang="zh-CN" dirty="0"/>
              <a:t>, </a:t>
            </a:r>
            <a:r>
              <a:rPr lang="zh-CN" altLang="en-US" dirty="0"/>
              <a:t>并问</a:t>
            </a:r>
            <a:r>
              <a:rPr lang="en-US" altLang="zh-CN" i="1" dirty="0"/>
              <a:t>D</a:t>
            </a:r>
            <a:r>
              <a:rPr lang="zh-CN" altLang="en-US" dirty="0"/>
              <a:t>是强连通的吗</a:t>
            </a:r>
            <a:r>
              <a:rPr lang="en-US" altLang="zh-CN" dirty="0"/>
              <a:t>?</a:t>
            </a:r>
            <a:endParaRPr lang="en-US" altLang="zh-CN" dirty="0"/>
          </a:p>
        </p:txBody>
      </p:sp>
      <p:grpSp>
        <p:nvGrpSpPr>
          <p:cNvPr id="2" name="Group 4"/>
          <p:cNvGrpSpPr/>
          <p:nvPr/>
        </p:nvGrpSpPr>
        <p:grpSpPr>
          <a:xfrm>
            <a:off x="1265238" y="3789363"/>
            <a:ext cx="3048000" cy="2117725"/>
            <a:chOff x="1200" y="2746"/>
            <a:chExt cx="1920" cy="1334"/>
          </a:xfrm>
        </p:grpSpPr>
        <p:pic>
          <p:nvPicPr>
            <p:cNvPr id="62471" name="Picture 5" descr="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00" y="2746"/>
              <a:ext cx="1672" cy="11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2472" name="Text Box 6"/>
            <p:cNvSpPr txBox="1"/>
            <p:nvPr/>
          </p:nvSpPr>
          <p:spPr>
            <a:xfrm>
              <a:off x="1296" y="2784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73" name="Text Box 7"/>
            <p:cNvSpPr txBox="1"/>
            <p:nvPr/>
          </p:nvSpPr>
          <p:spPr>
            <a:xfrm>
              <a:off x="1296" y="3792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74" name="Text Box 8"/>
            <p:cNvSpPr txBox="1"/>
            <p:nvPr/>
          </p:nvSpPr>
          <p:spPr>
            <a:xfrm>
              <a:off x="2736" y="3744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75" name="Text Box 9"/>
            <p:cNvSpPr txBox="1"/>
            <p:nvPr/>
          </p:nvSpPr>
          <p:spPr>
            <a:xfrm>
              <a:off x="2736" y="2880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4872038" y="3970338"/>
            <a:ext cx="2057400" cy="1771650"/>
            <a:chOff x="2976" y="1584"/>
            <a:chExt cx="1296" cy="1116"/>
          </a:xfrm>
        </p:grpSpPr>
        <p:sp>
          <p:nvSpPr>
            <p:cNvPr id="62477" name="Text Box 11"/>
            <p:cNvSpPr txBox="1"/>
            <p:nvPr/>
          </p:nvSpPr>
          <p:spPr>
            <a:xfrm>
              <a:off x="2976" y="2016"/>
              <a:ext cx="384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78" name="Text Box 12"/>
            <p:cNvSpPr txBox="1"/>
            <p:nvPr/>
          </p:nvSpPr>
          <p:spPr>
            <a:xfrm>
              <a:off x="3408" y="1584"/>
              <a:ext cx="864" cy="1116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1  2  1  0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0  0  0  1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79" name="Line 13"/>
            <p:cNvSpPr/>
            <p:nvPr/>
          </p:nvSpPr>
          <p:spPr>
            <a:xfrm>
              <a:off x="3360" y="1728"/>
              <a:ext cx="0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80" name="Line 14"/>
            <p:cNvSpPr/>
            <p:nvPr/>
          </p:nvSpPr>
          <p:spPr>
            <a:xfrm>
              <a:off x="4272" y="1728"/>
              <a:ext cx="0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81" name="Line 15"/>
            <p:cNvSpPr/>
            <p:nvPr/>
          </p:nvSpPr>
          <p:spPr>
            <a:xfrm>
              <a:off x="3360" y="1728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82" name="Line 16"/>
            <p:cNvSpPr/>
            <p:nvPr/>
          </p:nvSpPr>
          <p:spPr>
            <a:xfrm>
              <a:off x="4224" y="1728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83" name="Line 17"/>
            <p:cNvSpPr/>
            <p:nvPr/>
          </p:nvSpPr>
          <p:spPr>
            <a:xfrm>
              <a:off x="3360" y="2592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84" name="Line 18"/>
            <p:cNvSpPr/>
            <p:nvPr/>
          </p:nvSpPr>
          <p:spPr>
            <a:xfrm>
              <a:off x="4224" y="2592"/>
              <a:ext cx="48" cy="0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SzTx/>
            </a:pPr>
            <a:fld id="{BB962C8B-B14F-4D97-AF65-F5344CB8AC3E}" type="datetime8">
              <a:rPr lang="en-US" altLang="zh-CN" sz="1400" b="0" dirty="0">
                <a:latin typeface="Tahoma" panose="020B0604030504040204" pitchFamily="34" charset="0"/>
              </a:rPr>
            </a:fld>
            <a:r>
              <a:rPr lang="en-US" altLang="zh-CN" sz="1400" b="0" dirty="0">
                <a:latin typeface="Tahoma" panose="020B0604030504040204" pitchFamily="34" charset="0"/>
              </a:rPr>
              <a:t> </a:t>
            </a:r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6349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2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lnSpc>
                <a:spcPct val="100000"/>
              </a:lnSpc>
              <a:spcBef>
                <a:spcPct val="0"/>
              </a:spcBef>
              <a:buClrTx/>
              <a:buSzTx/>
            </a:pPr>
            <a:fld id="{9A0DB2DC-4C9A-4742-B13C-FB6460FD3503}" type="slidenum">
              <a:rPr lang="en-US" altLang="zh-CN" sz="1400" b="0" dirty="0">
                <a:latin typeface="Tahoma" panose="020B0604030504040204" pitchFamily="34" charset="0"/>
              </a:rPr>
            </a:fld>
            <a:endParaRPr lang="en-US" altLang="zh-CN" sz="1400" b="0" dirty="0">
              <a:latin typeface="Tahoma" panose="020B0604030504040204" pitchFamily="34" charset="0"/>
            </a:endParaRPr>
          </a:p>
        </p:txBody>
      </p:sp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实例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</a:t>
            </a: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续</a:t>
            </a: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1" lang="en-US" altLang="zh-CN" sz="3600" b="1" i="0" u="none" strike="noStrike" kern="0" cap="none" spc="0" normalizeH="0" baseline="0" noProof="0" smtClean="0">
              <a:ln>
                <a:noFill/>
              </a:ln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5795" name="Text Box 3"/>
          <p:cNvSpPr txBox="1"/>
          <p:nvPr/>
        </p:nvSpPr>
        <p:spPr>
          <a:xfrm>
            <a:off x="533400" y="3810000"/>
            <a:ext cx="38100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长为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的通路有     条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3493" name="Group 4"/>
          <p:cNvGrpSpPr/>
          <p:nvPr/>
        </p:nvGrpSpPr>
        <p:grpSpPr>
          <a:xfrm>
            <a:off x="760413" y="1676400"/>
            <a:ext cx="2135187" cy="1771650"/>
            <a:chOff x="2160" y="1152"/>
            <a:chExt cx="1345" cy="1116"/>
          </a:xfrm>
        </p:grpSpPr>
        <p:sp>
          <p:nvSpPr>
            <p:cNvPr id="63494" name="Text Box 5"/>
            <p:cNvSpPr txBox="1"/>
            <p:nvPr/>
          </p:nvSpPr>
          <p:spPr>
            <a:xfrm>
              <a:off x="2160" y="1584"/>
              <a:ext cx="48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495" name="Text Box 6"/>
            <p:cNvSpPr txBox="1"/>
            <p:nvPr/>
          </p:nvSpPr>
          <p:spPr>
            <a:xfrm>
              <a:off x="2640" y="1152"/>
              <a:ext cx="864" cy="1116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1  2  3  1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0  0  0  1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0  0  0  1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496" name="Line 7"/>
            <p:cNvSpPr/>
            <p:nvPr/>
          </p:nvSpPr>
          <p:spPr>
            <a:xfrm>
              <a:off x="2592" y="1296"/>
              <a:ext cx="1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497" name="Line 8"/>
            <p:cNvSpPr/>
            <p:nvPr/>
          </p:nvSpPr>
          <p:spPr>
            <a:xfrm>
              <a:off x="3504" y="1296"/>
              <a:ext cx="1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498" name="Line 9"/>
            <p:cNvSpPr/>
            <p:nvPr/>
          </p:nvSpPr>
          <p:spPr>
            <a:xfrm>
              <a:off x="2592" y="1296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499" name="Line 10"/>
            <p:cNvSpPr/>
            <p:nvPr/>
          </p:nvSpPr>
          <p:spPr>
            <a:xfrm>
              <a:off x="3456" y="1296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00" name="Line 11"/>
            <p:cNvSpPr/>
            <p:nvPr/>
          </p:nvSpPr>
          <p:spPr>
            <a:xfrm>
              <a:off x="2592" y="2160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01" name="Line 12"/>
            <p:cNvSpPr/>
            <p:nvPr/>
          </p:nvSpPr>
          <p:spPr>
            <a:xfrm>
              <a:off x="3456" y="2160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3502" name="Group 13"/>
          <p:cNvGrpSpPr/>
          <p:nvPr/>
        </p:nvGrpSpPr>
        <p:grpSpPr>
          <a:xfrm>
            <a:off x="3275013" y="1676400"/>
            <a:ext cx="2135187" cy="1771650"/>
            <a:chOff x="2160" y="1152"/>
            <a:chExt cx="1345" cy="1116"/>
          </a:xfrm>
        </p:grpSpPr>
        <p:sp>
          <p:nvSpPr>
            <p:cNvPr id="63503" name="Text Box 14"/>
            <p:cNvSpPr txBox="1"/>
            <p:nvPr/>
          </p:nvSpPr>
          <p:spPr>
            <a:xfrm>
              <a:off x="2160" y="1584"/>
              <a:ext cx="48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04" name="Text Box 15"/>
            <p:cNvSpPr txBox="1"/>
            <p:nvPr/>
          </p:nvSpPr>
          <p:spPr>
            <a:xfrm>
              <a:off x="2640" y="1152"/>
              <a:ext cx="864" cy="1116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1  2  4  3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0  0  0  1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05" name="Line 16"/>
            <p:cNvSpPr/>
            <p:nvPr/>
          </p:nvSpPr>
          <p:spPr>
            <a:xfrm>
              <a:off x="2592" y="1296"/>
              <a:ext cx="1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06" name="Line 17"/>
            <p:cNvSpPr/>
            <p:nvPr/>
          </p:nvSpPr>
          <p:spPr>
            <a:xfrm>
              <a:off x="3504" y="1296"/>
              <a:ext cx="1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07" name="Line 18"/>
            <p:cNvSpPr/>
            <p:nvPr/>
          </p:nvSpPr>
          <p:spPr>
            <a:xfrm>
              <a:off x="2592" y="1296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08" name="Line 19"/>
            <p:cNvSpPr/>
            <p:nvPr/>
          </p:nvSpPr>
          <p:spPr>
            <a:xfrm>
              <a:off x="3456" y="1296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09" name="Line 20"/>
            <p:cNvSpPr/>
            <p:nvPr/>
          </p:nvSpPr>
          <p:spPr>
            <a:xfrm>
              <a:off x="2592" y="2160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10" name="Line 21"/>
            <p:cNvSpPr/>
            <p:nvPr/>
          </p:nvSpPr>
          <p:spPr>
            <a:xfrm>
              <a:off x="3456" y="2160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3511" name="Group 22"/>
          <p:cNvGrpSpPr/>
          <p:nvPr/>
        </p:nvGrpSpPr>
        <p:grpSpPr>
          <a:xfrm>
            <a:off x="5865813" y="1676400"/>
            <a:ext cx="2135187" cy="1771650"/>
            <a:chOff x="2160" y="1152"/>
            <a:chExt cx="1345" cy="1116"/>
          </a:xfrm>
        </p:grpSpPr>
        <p:sp>
          <p:nvSpPr>
            <p:cNvPr id="63512" name="Text Box 23"/>
            <p:cNvSpPr txBox="1"/>
            <p:nvPr/>
          </p:nvSpPr>
          <p:spPr>
            <a:xfrm>
              <a:off x="2160" y="1584"/>
              <a:ext cx="48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13" name="Text Box 24"/>
            <p:cNvSpPr txBox="1"/>
            <p:nvPr/>
          </p:nvSpPr>
          <p:spPr>
            <a:xfrm>
              <a:off x="2640" y="1152"/>
              <a:ext cx="864" cy="1116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1  2  6  4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0  0  0  1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0  0  1  0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0  0  0  1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14" name="Line 25"/>
            <p:cNvSpPr/>
            <p:nvPr/>
          </p:nvSpPr>
          <p:spPr>
            <a:xfrm>
              <a:off x="2592" y="1296"/>
              <a:ext cx="1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15" name="Line 26"/>
            <p:cNvSpPr/>
            <p:nvPr/>
          </p:nvSpPr>
          <p:spPr>
            <a:xfrm>
              <a:off x="3504" y="1296"/>
              <a:ext cx="1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16" name="Line 27"/>
            <p:cNvSpPr/>
            <p:nvPr/>
          </p:nvSpPr>
          <p:spPr>
            <a:xfrm>
              <a:off x="2592" y="1296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17" name="Line 28"/>
            <p:cNvSpPr/>
            <p:nvPr/>
          </p:nvSpPr>
          <p:spPr>
            <a:xfrm>
              <a:off x="3456" y="1296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18" name="Line 29"/>
            <p:cNvSpPr/>
            <p:nvPr/>
          </p:nvSpPr>
          <p:spPr>
            <a:xfrm>
              <a:off x="2592" y="2160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19" name="Line 30"/>
            <p:cNvSpPr/>
            <p:nvPr/>
          </p:nvSpPr>
          <p:spPr>
            <a:xfrm>
              <a:off x="3456" y="2160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45823" name="Text Box 31"/>
          <p:cNvSpPr txBox="1"/>
          <p:nvPr/>
        </p:nvSpPr>
        <p:spPr>
          <a:xfrm>
            <a:off x="3429000" y="3810000"/>
            <a:ext cx="3810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824" name="Text Box 32"/>
          <p:cNvSpPr txBox="1"/>
          <p:nvPr/>
        </p:nvSpPr>
        <p:spPr>
          <a:xfrm>
            <a:off x="533400" y="4267200"/>
            <a:ext cx="37338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长为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的通路有     条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825" name="Text Box 33"/>
          <p:cNvSpPr txBox="1"/>
          <p:nvPr/>
        </p:nvSpPr>
        <p:spPr>
          <a:xfrm>
            <a:off x="3419475" y="4267200"/>
            <a:ext cx="3810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826" name="Text Box 34"/>
          <p:cNvSpPr txBox="1"/>
          <p:nvPr/>
        </p:nvSpPr>
        <p:spPr>
          <a:xfrm>
            <a:off x="533400" y="4800600"/>
            <a:ext cx="51054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4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到自身长为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1,2,3,4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的回路各有    条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827" name="Text Box 35"/>
          <p:cNvSpPr txBox="1"/>
          <p:nvPr/>
        </p:nvSpPr>
        <p:spPr>
          <a:xfrm>
            <a:off x="4724400" y="4800600"/>
            <a:ext cx="3810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828" name="Text Box 36"/>
          <p:cNvSpPr txBox="1"/>
          <p:nvPr/>
        </p:nvSpPr>
        <p:spPr>
          <a:xfrm>
            <a:off x="457200" y="5410200"/>
            <a:ext cx="57912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长为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的通路共有     条，其中有    条回路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829" name="Text Box 37"/>
          <p:cNvSpPr txBox="1"/>
          <p:nvPr/>
        </p:nvSpPr>
        <p:spPr>
          <a:xfrm>
            <a:off x="2814638" y="5410200"/>
            <a:ext cx="5334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830" name="Text Box 38"/>
          <p:cNvSpPr txBox="1"/>
          <p:nvPr/>
        </p:nvSpPr>
        <p:spPr>
          <a:xfrm>
            <a:off x="4695825" y="5410200"/>
            <a:ext cx="3810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831" name="Text Box 39"/>
          <p:cNvSpPr txBox="1"/>
          <p:nvPr/>
        </p:nvSpPr>
        <p:spPr>
          <a:xfrm>
            <a:off x="457200" y="5943600"/>
            <a:ext cx="44958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长度小于等于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的回路共有     条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832" name="Text Box 40"/>
          <p:cNvSpPr txBox="1"/>
          <p:nvPr/>
        </p:nvSpPr>
        <p:spPr>
          <a:xfrm>
            <a:off x="4114800" y="5943600"/>
            <a:ext cx="3810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833" name="Text Box 41"/>
          <p:cNvSpPr txBox="1"/>
          <p:nvPr/>
        </p:nvSpPr>
        <p:spPr>
          <a:xfrm>
            <a:off x="6553200" y="3657600"/>
            <a:ext cx="1447800" cy="457200"/>
          </a:xfrm>
          <a:prstGeom prst="rect">
            <a:avLst/>
          </a:prstGeom>
          <a:noFill/>
          <a:ln w="6350">
            <a:noFill/>
          </a:ln>
        </p:spPr>
        <p:txBody>
          <a:bodyPr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可达矩阵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5834" name="Text Box 42"/>
          <p:cNvSpPr txBox="1"/>
          <p:nvPr/>
        </p:nvSpPr>
        <p:spPr>
          <a:xfrm>
            <a:off x="6195695" y="6014085"/>
            <a:ext cx="2894330" cy="460375"/>
          </a:xfrm>
          <a:prstGeom prst="rect">
            <a:avLst/>
          </a:prstGeom>
          <a:noFill/>
          <a:ln w="6350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非强连通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单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向连通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" name="Group 43"/>
          <p:cNvGrpSpPr/>
          <p:nvPr/>
        </p:nvGrpSpPr>
        <p:grpSpPr>
          <a:xfrm>
            <a:off x="6170613" y="4095750"/>
            <a:ext cx="2135187" cy="1771650"/>
            <a:chOff x="2160" y="1152"/>
            <a:chExt cx="1345" cy="1116"/>
          </a:xfrm>
        </p:grpSpPr>
        <p:sp>
          <p:nvSpPr>
            <p:cNvPr id="63533" name="Text Box 44"/>
            <p:cNvSpPr txBox="1"/>
            <p:nvPr/>
          </p:nvSpPr>
          <p:spPr>
            <a:xfrm>
              <a:off x="2160" y="1584"/>
              <a:ext cx="480" cy="288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P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34" name="Text Box 45"/>
            <p:cNvSpPr txBox="1"/>
            <p:nvPr/>
          </p:nvSpPr>
          <p:spPr>
            <a:xfrm>
              <a:off x="2640" y="1152"/>
              <a:ext cx="864" cy="1116"/>
            </a:xfrm>
            <a:prstGeom prst="rect">
              <a:avLst/>
            </a:prstGeom>
            <a:noFill/>
            <a:ln w="6350">
              <a:noFill/>
            </a:ln>
          </p:spPr>
          <p:txBody>
            <a:bodyPr anchor="t" anchorCtr="0">
              <a:spAutoFit/>
            </a:bodyPr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1  1  1  1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0  1  1  1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0  0  1  1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457200" indent="-457200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0  0  1  1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535" name="Line 46"/>
            <p:cNvSpPr/>
            <p:nvPr/>
          </p:nvSpPr>
          <p:spPr>
            <a:xfrm>
              <a:off x="2592" y="1296"/>
              <a:ext cx="1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36" name="Line 47"/>
            <p:cNvSpPr/>
            <p:nvPr/>
          </p:nvSpPr>
          <p:spPr>
            <a:xfrm>
              <a:off x="3504" y="1296"/>
              <a:ext cx="1" cy="864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37" name="Line 48"/>
            <p:cNvSpPr/>
            <p:nvPr/>
          </p:nvSpPr>
          <p:spPr>
            <a:xfrm>
              <a:off x="2592" y="1296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38" name="Line 49"/>
            <p:cNvSpPr/>
            <p:nvPr/>
          </p:nvSpPr>
          <p:spPr>
            <a:xfrm>
              <a:off x="3456" y="1296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39" name="Line 50"/>
            <p:cNvSpPr/>
            <p:nvPr/>
          </p:nvSpPr>
          <p:spPr>
            <a:xfrm>
              <a:off x="2592" y="2160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40" name="Line 51"/>
            <p:cNvSpPr/>
            <p:nvPr/>
          </p:nvSpPr>
          <p:spPr>
            <a:xfrm>
              <a:off x="3456" y="2160"/>
              <a:ext cx="48" cy="1"/>
            </a:xfrm>
            <a:prstGeom prst="line">
              <a:avLst/>
            </a:prstGeom>
            <a:ln w="28575" cap="flat" cmpd="sng">
              <a:solidFill>
                <a:srgbClr val="00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45844" name="Rectangle 52"/>
          <p:cNvSpPr/>
          <p:nvPr/>
        </p:nvSpPr>
        <p:spPr>
          <a:xfrm>
            <a:off x="363538" y="1204913"/>
            <a:ext cx="4905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0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5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5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5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5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5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5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5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5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5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5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5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5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45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45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45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5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5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5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45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45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45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45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45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45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45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45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5" grpId="0"/>
      <p:bldP spid="545823" grpId="0"/>
      <p:bldP spid="545824" grpId="0"/>
      <p:bldP spid="545825" grpId="0"/>
      <p:bldP spid="545826" grpId="0"/>
      <p:bldP spid="545827" grpId="0"/>
      <p:bldP spid="545828" grpId="0"/>
      <p:bldP spid="545829" grpId="0"/>
      <p:bldP spid="545830" grpId="0"/>
      <p:bldP spid="545831" grpId="0"/>
      <p:bldP spid="545832" grpId="0"/>
      <p:bldP spid="545833" grpId="0"/>
      <p:bldP spid="545834" grpId="0"/>
      <p:bldP spid="545844" grpId="0"/>
    </p:bldLst>
  </p:timing>
</p:sld>
</file>

<file path=ppt/tags/tag1.xml><?xml version="1.0" encoding="utf-8"?>
<p:tagLst xmlns:p="http://schemas.openxmlformats.org/presentationml/2006/main">
  <p:tag name="KSO_WPP_MARK_KEY" val="c9ff77bd-ad79-4253-90f3-d52ed037d55f"/>
  <p:tag name="COMMONDATA" val="eyJoZGlkIjoiMWQ1ZTUzNTVjYzU3ZjdhYzdkZjI0NGNhYWY2MzE4ZDM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 Black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187325" algn="l" defTabSz="914400" rtl="0" eaLnBrk="1" fontAlgn="base" latinLnBrk="0" hangingPunct="1">
          <a:lnSpc>
            <a:spcPct val="115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zh-CN" alt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187325" algn="l" defTabSz="914400" rtl="0" eaLnBrk="1" fontAlgn="base" latinLnBrk="0" hangingPunct="1">
          <a:lnSpc>
            <a:spcPct val="115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zh-CN" alt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11703</Words>
  <Application>WPS 演示</Application>
  <PresentationFormat>在屏幕上显示</PresentationFormat>
  <Paragraphs>1601</Paragraphs>
  <Slides>58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32</vt:i4>
      </vt:variant>
      <vt:variant>
        <vt:lpstr>幻灯片标题</vt:lpstr>
      </vt:variant>
      <vt:variant>
        <vt:i4>58</vt:i4>
      </vt:variant>
    </vt:vector>
  </HeadingPairs>
  <TitlesOfParts>
    <vt:vector size="106" baseType="lpstr">
      <vt:lpstr>Arial</vt:lpstr>
      <vt:lpstr>宋体</vt:lpstr>
      <vt:lpstr>Wingdings</vt:lpstr>
      <vt:lpstr>Times New Roman</vt:lpstr>
      <vt:lpstr>Tahoma</vt:lpstr>
      <vt:lpstr>Haettenschweiler</vt:lpstr>
      <vt:lpstr>Script MT Bold</vt:lpstr>
      <vt:lpstr>Arial Black</vt:lpstr>
      <vt:lpstr>方正舒体</vt:lpstr>
      <vt:lpstr>Symbol</vt:lpstr>
      <vt:lpstr>Segoe Print</vt:lpstr>
      <vt:lpstr>微软雅黑</vt:lpstr>
      <vt:lpstr>Arial Unicode MS</vt:lpstr>
      <vt:lpstr>华文行楷</vt:lpstr>
      <vt:lpstr>黑体</vt:lpstr>
      <vt:lpstr>Blends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PowerPoint 演示文稿</vt:lpstr>
      <vt:lpstr>第十四章  图的基本概念</vt:lpstr>
      <vt:lpstr>11.1 图</vt:lpstr>
      <vt:lpstr>无序对与多重集合</vt:lpstr>
      <vt:lpstr>无向图</vt:lpstr>
      <vt:lpstr>有向图</vt:lpstr>
      <vt:lpstr>顶点和边的关联与相邻</vt:lpstr>
      <vt:lpstr>PowerPoint 演示文稿</vt:lpstr>
      <vt:lpstr>简单图</vt:lpstr>
      <vt:lpstr>顶点的度数</vt:lpstr>
      <vt:lpstr>顶点的度数(续)</vt:lpstr>
      <vt:lpstr>握手定理</vt:lpstr>
      <vt:lpstr>图的度数列</vt:lpstr>
      <vt:lpstr>PowerPoint 演示文稿</vt:lpstr>
      <vt:lpstr>实例</vt:lpstr>
      <vt:lpstr>同构</vt:lpstr>
      <vt:lpstr>实例</vt:lpstr>
      <vt:lpstr>实例</vt:lpstr>
      <vt:lpstr>实例</vt:lpstr>
      <vt:lpstr>完全图与正则图</vt:lpstr>
      <vt:lpstr>实例</vt:lpstr>
      <vt:lpstr>子图</vt:lpstr>
      <vt:lpstr>实例</vt:lpstr>
      <vt:lpstr>补图</vt:lpstr>
      <vt:lpstr>从图中删边、 点集合</vt:lpstr>
      <vt:lpstr>例子</vt:lpstr>
      <vt:lpstr>11.2通路与回路</vt:lpstr>
      <vt:lpstr>说明</vt:lpstr>
      <vt:lpstr>说明(续)</vt:lpstr>
      <vt:lpstr>通路与回路(续)</vt:lpstr>
      <vt:lpstr>11.3 图的连通性</vt:lpstr>
      <vt:lpstr>短程线与距离</vt:lpstr>
      <vt:lpstr>点割集与边割集</vt:lpstr>
      <vt:lpstr>实例</vt:lpstr>
      <vt:lpstr>点连通度与边连通度</vt:lpstr>
      <vt:lpstr>点连通度与边连通度(续)</vt:lpstr>
      <vt:lpstr>有向图的连通性及其分类</vt:lpstr>
      <vt:lpstr>实例</vt:lpstr>
      <vt:lpstr>有向图中的短程线与距离</vt:lpstr>
      <vt:lpstr>例题</vt:lpstr>
      <vt:lpstr>扩大路径法---最长轨(极大路径)法</vt:lpstr>
      <vt:lpstr>PowerPoint 演示文稿</vt:lpstr>
      <vt:lpstr>PowerPoint 演示文稿</vt:lpstr>
      <vt:lpstr>二部图 </vt:lpstr>
      <vt:lpstr>二部图的判别定理证明</vt:lpstr>
      <vt:lpstr>实例</vt:lpstr>
      <vt:lpstr>11.4 图的矩阵表示</vt:lpstr>
      <vt:lpstr>无向图的关联矩阵</vt:lpstr>
      <vt:lpstr>关联矩阵的性质</vt:lpstr>
      <vt:lpstr>无环有向图的关联矩阵</vt:lpstr>
      <vt:lpstr>实例</vt:lpstr>
      <vt:lpstr>有向图的邻接矩阵</vt:lpstr>
      <vt:lpstr>实例</vt:lpstr>
      <vt:lpstr>有向图中的通路数与回路数</vt:lpstr>
      <vt:lpstr>实例(续)</vt:lpstr>
      <vt:lpstr>有向图的可达矩阵</vt:lpstr>
      <vt:lpstr>实例</vt:lpstr>
      <vt:lpstr>实例(续)</vt:lpstr>
    </vt:vector>
  </TitlesOfParts>
  <Company>Gxun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ch8-math dis</dc:title>
  <dc:creator>hlj</dc:creator>
  <cp:lastModifiedBy>HC</cp:lastModifiedBy>
  <cp:revision>605</cp:revision>
  <dcterms:created xsi:type="dcterms:W3CDTF">2001-08-22T08:47:00Z</dcterms:created>
  <dcterms:modified xsi:type="dcterms:W3CDTF">2024-12-04T10:23:48Z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SaveFontToCloudKey">
    <vt:lpwstr>357742833_btnclosed</vt:lpwstr>
  </property>
  <property fmtid="{D5CDD505-2E9C-101B-9397-08002B2CF9AE}" pid="3" name="KSOProductBuildVer">
    <vt:lpwstr>2052-12.1.0.18912</vt:lpwstr>
  </property>
  <property fmtid="{D5CDD505-2E9C-101B-9397-08002B2CF9AE}" pid="4" name="ICV">
    <vt:lpwstr>B5704B08A39245549096129213F6ABB2</vt:lpwstr>
  </property>
</Properties>
</file>